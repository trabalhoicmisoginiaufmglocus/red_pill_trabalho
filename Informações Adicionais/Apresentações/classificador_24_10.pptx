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Lst>
  <p:sldSz cy="5143500" cx="9144000"/>
  <p:notesSz cx="6858000" cy="9144000"/>
  <p:embeddedFontLst>
    <p:embeddedFont>
      <p:font typeface="Roboto"/>
      <p:regular r:id="rId65"/>
      <p:bold r:id="rId66"/>
      <p:italic r:id="rId67"/>
      <p:boldItalic r:id="rId68"/>
    </p:embeddedFont>
    <p:embeddedFont>
      <p:font typeface="Roboto Mono"/>
      <p:regular r:id="rId69"/>
      <p:bold r:id="rId70"/>
      <p:italic r:id="rId71"/>
      <p:boldItalic r:id="rId72"/>
    </p:embeddedFont>
    <p:embeddedFont>
      <p:font typeface="Merriweather"/>
      <p:regular r:id="rId73"/>
      <p:bold r:id="rId74"/>
      <p:italic r:id="rId75"/>
      <p:boldItalic r:id="rId7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Merriweather-regular.fntdata"/><Relationship Id="rId72" Type="http://schemas.openxmlformats.org/officeDocument/2006/relationships/font" Target="fonts/RobotoMono-boldItalic.fntdata"/><Relationship Id="rId31" Type="http://schemas.openxmlformats.org/officeDocument/2006/relationships/slide" Target="slides/slide26.xml"/><Relationship Id="rId75" Type="http://schemas.openxmlformats.org/officeDocument/2006/relationships/font" Target="fonts/Merriweather-italic.fntdata"/><Relationship Id="rId30" Type="http://schemas.openxmlformats.org/officeDocument/2006/relationships/slide" Target="slides/slide25.xml"/><Relationship Id="rId74" Type="http://schemas.openxmlformats.org/officeDocument/2006/relationships/font" Target="fonts/Merriweather-bold.fntdata"/><Relationship Id="rId33" Type="http://schemas.openxmlformats.org/officeDocument/2006/relationships/slide" Target="slides/slide28.xml"/><Relationship Id="rId32" Type="http://schemas.openxmlformats.org/officeDocument/2006/relationships/slide" Target="slides/slide27.xml"/><Relationship Id="rId76" Type="http://schemas.openxmlformats.org/officeDocument/2006/relationships/font" Target="fonts/Merriweather-boldItalic.fntdata"/><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RobotoMono-italic.fntdata"/><Relationship Id="rId70" Type="http://schemas.openxmlformats.org/officeDocument/2006/relationships/font" Target="fonts/RobotoMono-bold.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font" Target="fonts/Roboto-bold.fntdata"/><Relationship Id="rId21" Type="http://schemas.openxmlformats.org/officeDocument/2006/relationships/slide" Target="slides/slide16.xml"/><Relationship Id="rId65" Type="http://schemas.openxmlformats.org/officeDocument/2006/relationships/font" Target="fonts/Roboto-regular.fntdata"/><Relationship Id="rId24" Type="http://schemas.openxmlformats.org/officeDocument/2006/relationships/slide" Target="slides/slide19.xml"/><Relationship Id="rId68" Type="http://schemas.openxmlformats.org/officeDocument/2006/relationships/font" Target="fonts/Roboto-boldItalic.fntdata"/><Relationship Id="rId23" Type="http://schemas.openxmlformats.org/officeDocument/2006/relationships/slide" Target="slides/slide18.xml"/><Relationship Id="rId67" Type="http://schemas.openxmlformats.org/officeDocument/2006/relationships/font" Target="fonts/Roboto-italic.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obotoMono-regular.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9c644c065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9c644c065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9cdb729625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9cdb729625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9cdb729625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9cdb729625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9cdb729625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9cdb729625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9c80efb438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9c80efb438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8dc35b2ad8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8dc35b2ad8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8dc35b2ad8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8dc35b2ad8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9c80efb438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9c80efb438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9c80efb438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9c80efb438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9c80efb438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9c80efb438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9cb1562a2a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9cb1562a2a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9c80efb438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9c80efb438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9c80efb438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9c80efb438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9c80efb438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9c80efb438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9c80efb438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9c80efb438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9c80efb438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9c80efb438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9c80efb438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9c80efb438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9c80efb438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9c80efb438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9c80efb438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9c80efb438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9c80efb438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9c80efb438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9c80efb438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9c80efb438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9c80efb438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9c80efb438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9c80efb438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9c80efb438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9c644c065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9c644c065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9c644c065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9c644c065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9c644c0654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9c644c065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9c644c0654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9c644c0654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9c644c0654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9c644c0654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9cb1562a2a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9cb1562a2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9cb1562a2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9cb1562a2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9c80efb43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9c80efb43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97dee5932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97dee5932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9c80efb438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9c80efb438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97dee5932e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97dee5932e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9c80efb438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9c80efb438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9c80efb438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9c80efb438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9c80efb438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9c80efb438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9c80efb438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9c80efb438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9c80efb438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9c80efb438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9c80efb438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9c80efb438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9c80efb438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9c80efb438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9c80efb438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9c80efb438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9cb1562a2a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9cb1562a2a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9ce6b86898_0_1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9ce6b86898_0_1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9ce6b86898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9ce6b86898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9ce6b86898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9ce6b86898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9ce6b86898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9ce6b86898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9ce6b86898_0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9ce6b86898_0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9ce6b86898_0_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9ce6b86898_0_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9ce6b86898_0_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9ce6b86898_0_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9ce6b86898_0_5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39ce6b86898_0_5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9ce6b86898_0_6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9ce6b86898_0_6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9ce6b86898_0_6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9ce6b86898_0_6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9ce6b86898_0_7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9ce6b86898_0_7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9ce6b86898_0_8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9ce6b86898_0_8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9ce6b86898_0_8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9ce6b86898_0_8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9ce6b86898_0_9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9ce6b86898_0_9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9ce6b86898_0_10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9ce6b86898_0_10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docs.google.com/document/d/1RahIuL2jXigpc-jMgmp5CEEMC-Ue_-hLYZVNXvyltek/edit?usp=sharing"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3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2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 Id="rId3" Type="http://schemas.openxmlformats.org/officeDocument/2006/relationships/image" Target="../media/image9.png"/><Relationship Id="rId4" Type="http://schemas.openxmlformats.org/officeDocument/2006/relationships/image" Target="../media/image29.png"/><Relationship Id="rId5" Type="http://schemas.openxmlformats.org/officeDocument/2006/relationships/image" Target="../media/image28.png"/><Relationship Id="rId6" Type="http://schemas.openxmlformats.org/officeDocument/2006/relationships/image" Target="../media/image22.png"/><Relationship Id="rId7" Type="http://schemas.openxmlformats.org/officeDocument/2006/relationships/image" Target="../media/image2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 Id="rId3" Type="http://schemas.openxmlformats.org/officeDocument/2006/relationships/image" Target="../media/image33.png"/><Relationship Id="rId4" Type="http://schemas.openxmlformats.org/officeDocument/2006/relationships/image" Target="../media/image30.png"/><Relationship Id="rId5" Type="http://schemas.openxmlformats.org/officeDocument/2006/relationships/image" Target="../media/image24.png"/><Relationship Id="rId6" Type="http://schemas.openxmlformats.org/officeDocument/2006/relationships/image" Target="../media/image23.png"/><Relationship Id="rId7" Type="http://schemas.openxmlformats.org/officeDocument/2006/relationships/image" Target="../media/image3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 Id="rId3" Type="http://schemas.openxmlformats.org/officeDocument/2006/relationships/image" Target="../media/image37.png"/><Relationship Id="rId4" Type="http://schemas.openxmlformats.org/officeDocument/2006/relationships/image" Target="../media/image3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 Id="rId3" Type="http://schemas.openxmlformats.org/officeDocument/2006/relationships/image" Target="../media/image40.png"/><Relationship Id="rId4" Type="http://schemas.openxmlformats.org/officeDocument/2006/relationships/image" Target="../media/image3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3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3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3"/>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Classificador </a:t>
            </a:r>
            <a:endParaRPr/>
          </a:p>
        </p:txBody>
      </p:sp>
      <p:sp>
        <p:nvSpPr>
          <p:cNvPr id="65" name="Google Shape;65;p13"/>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Atualizaç</a:t>
            </a:r>
            <a:r>
              <a:rPr lang="pt-BR"/>
              <a:t>ões - 24/10</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4"/>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Llama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Definição Toxicidade</a:t>
            </a:r>
            <a:endParaRPr/>
          </a:p>
        </p:txBody>
      </p:sp>
      <p:pic>
        <p:nvPicPr>
          <p:cNvPr id="76" name="Google Shape;76;p15"/>
          <p:cNvPicPr preferRelativeResize="0"/>
          <p:nvPr/>
        </p:nvPicPr>
        <p:blipFill>
          <a:blip r:embed="rId3">
            <a:alphaModFix/>
          </a:blip>
          <a:stretch>
            <a:fillRect/>
          </a:stretch>
        </p:blipFill>
        <p:spPr>
          <a:xfrm>
            <a:off x="4325551" y="169375"/>
            <a:ext cx="3754925" cy="48047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Definição Misoginia</a:t>
            </a:r>
            <a:endParaRPr/>
          </a:p>
        </p:txBody>
      </p:sp>
      <p:pic>
        <p:nvPicPr>
          <p:cNvPr id="82" name="Google Shape;82;p16"/>
          <p:cNvPicPr preferRelativeResize="0"/>
          <p:nvPr/>
        </p:nvPicPr>
        <p:blipFill>
          <a:blip r:embed="rId3">
            <a:alphaModFix/>
          </a:blip>
          <a:stretch>
            <a:fillRect/>
          </a:stretch>
        </p:blipFill>
        <p:spPr>
          <a:xfrm>
            <a:off x="4286251" y="329075"/>
            <a:ext cx="3406375" cy="44103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Definição Misoginia</a:t>
            </a:r>
            <a:endParaRPr/>
          </a:p>
        </p:txBody>
      </p:sp>
      <p:pic>
        <p:nvPicPr>
          <p:cNvPr id="88" name="Google Shape;88;p17"/>
          <p:cNvPicPr preferRelativeResize="0"/>
          <p:nvPr/>
        </p:nvPicPr>
        <p:blipFill>
          <a:blip r:embed="rId3">
            <a:alphaModFix/>
          </a:blip>
          <a:stretch>
            <a:fillRect/>
          </a:stretch>
        </p:blipFill>
        <p:spPr>
          <a:xfrm>
            <a:off x="4121075" y="165147"/>
            <a:ext cx="3729525" cy="4749425"/>
          </a:xfrm>
          <a:prstGeom prst="rect">
            <a:avLst/>
          </a:prstGeom>
          <a:noFill/>
          <a:ln>
            <a:noFill/>
          </a:ln>
        </p:spPr>
      </p:pic>
      <p:pic>
        <p:nvPicPr>
          <p:cNvPr id="89" name="Google Shape;89;p17"/>
          <p:cNvPicPr preferRelativeResize="0"/>
          <p:nvPr/>
        </p:nvPicPr>
        <p:blipFill>
          <a:blip r:embed="rId4">
            <a:alphaModFix/>
          </a:blip>
          <a:stretch>
            <a:fillRect/>
          </a:stretch>
        </p:blipFill>
        <p:spPr>
          <a:xfrm>
            <a:off x="152400" y="1277025"/>
            <a:ext cx="3816275" cy="354422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Conversa com o Filipe e resultados</a:t>
            </a:r>
            <a:endParaRPr/>
          </a:p>
        </p:txBody>
      </p:sp>
      <p:sp>
        <p:nvSpPr>
          <p:cNvPr id="95" name="Google Shape;95;p18"/>
          <p:cNvSpPr txBox="1"/>
          <p:nvPr>
            <p:ph idx="1" type="body"/>
          </p:nvPr>
        </p:nvSpPr>
        <p:spPr>
          <a:xfrm>
            <a:off x="4644675" y="500925"/>
            <a:ext cx="4166400" cy="4098600"/>
          </a:xfrm>
          <a:prstGeom prst="rect">
            <a:avLst/>
          </a:prstGeom>
        </p:spPr>
        <p:txBody>
          <a:bodyPr anchorCtr="0" anchor="t" bIns="91425" lIns="91425" spcFirstLastPara="1" rIns="91425" wrap="square" tIns="91425">
            <a:normAutofit fontScale="92500" lnSpcReduction="20000"/>
          </a:bodyPr>
          <a:lstStyle/>
          <a:p>
            <a:pPr indent="0" lvl="0" marL="0" rtl="0" algn="l">
              <a:spcBef>
                <a:spcPts val="1400"/>
              </a:spcBef>
              <a:spcAft>
                <a:spcPts val="0"/>
              </a:spcAft>
              <a:buNone/>
            </a:pPr>
            <a:r>
              <a:rPr b="1" lang="pt-BR">
                <a:latin typeface="Arial"/>
                <a:ea typeface="Arial"/>
                <a:cs typeface="Arial"/>
                <a:sym typeface="Arial"/>
              </a:rPr>
              <a:t>Análise e Otimização de Prompts para o Modelo Llama</a:t>
            </a:r>
            <a:endParaRPr b="1">
              <a:latin typeface="Arial"/>
              <a:ea typeface="Arial"/>
              <a:cs typeface="Arial"/>
              <a:sym typeface="Arial"/>
            </a:endParaRPr>
          </a:p>
          <a:p>
            <a:pPr indent="0" lvl="0" marL="0" rtl="0" algn="l">
              <a:spcBef>
                <a:spcPts val="1200"/>
              </a:spcBef>
              <a:spcAft>
                <a:spcPts val="0"/>
              </a:spcAft>
              <a:buNone/>
            </a:pPr>
            <a:r>
              <a:rPr b="1" lang="pt-BR" sz="1100">
                <a:latin typeface="Arial"/>
                <a:ea typeface="Arial"/>
                <a:cs typeface="Arial"/>
                <a:sym typeface="Arial"/>
              </a:rPr>
              <a:t>Problema Identificado</a:t>
            </a:r>
            <a:endParaRPr b="1" sz="1100">
              <a:latin typeface="Arial"/>
              <a:ea typeface="Arial"/>
              <a:cs typeface="Arial"/>
              <a:sym typeface="Arial"/>
            </a:endParaRPr>
          </a:p>
          <a:p>
            <a:pPr indent="0" lvl="0" marL="0" rtl="0" algn="l">
              <a:spcBef>
                <a:spcPts val="1200"/>
              </a:spcBef>
              <a:spcAft>
                <a:spcPts val="0"/>
              </a:spcAft>
              <a:buNone/>
            </a:pPr>
            <a:r>
              <a:rPr lang="pt-BR" sz="1100">
                <a:latin typeface="Arial"/>
                <a:ea typeface="Arial"/>
                <a:cs typeface="Arial"/>
                <a:sym typeface="Arial"/>
              </a:rPr>
              <a:t>O desempenho do modelo Llama com prompts em português estava sendo prejudicado. A causa raiz não era uma falha na criação de memória pelo modelo, mas sim a forma como os </a:t>
            </a:r>
            <a:r>
              <a:rPr i="1" lang="pt-BR" sz="1100">
                <a:latin typeface="Arial"/>
                <a:ea typeface="Arial"/>
                <a:cs typeface="Arial"/>
                <a:sym typeface="Arial"/>
              </a:rPr>
              <a:t>folds</a:t>
            </a:r>
            <a:r>
              <a:rPr lang="pt-BR" sz="1100">
                <a:latin typeface="Arial"/>
                <a:ea typeface="Arial"/>
                <a:cs typeface="Arial"/>
                <a:sym typeface="Arial"/>
              </a:rPr>
              <a:t> de dados estavam estruturados no código.</a:t>
            </a:r>
            <a:endParaRPr sz="1100">
              <a:latin typeface="Arial"/>
              <a:ea typeface="Arial"/>
              <a:cs typeface="Arial"/>
              <a:sym typeface="Arial"/>
            </a:endParaRPr>
          </a:p>
          <a:p>
            <a:pPr indent="0" lvl="0" marL="0" rtl="0" algn="l">
              <a:spcBef>
                <a:spcPts val="1200"/>
              </a:spcBef>
              <a:spcAft>
                <a:spcPts val="0"/>
              </a:spcAft>
              <a:buNone/>
            </a:pPr>
            <a:r>
              <a:rPr b="1" lang="pt-BR" sz="1100">
                <a:latin typeface="Arial"/>
                <a:ea typeface="Arial"/>
                <a:cs typeface="Arial"/>
                <a:sym typeface="Arial"/>
              </a:rPr>
              <a:t>Solução Aplicada</a:t>
            </a:r>
            <a:endParaRPr b="1" sz="1100">
              <a:latin typeface="Arial"/>
              <a:ea typeface="Arial"/>
              <a:cs typeface="Arial"/>
              <a:sym typeface="Arial"/>
            </a:endParaRPr>
          </a:p>
          <a:p>
            <a:pPr indent="0" lvl="0" marL="0" rtl="0" algn="l">
              <a:spcBef>
                <a:spcPts val="1200"/>
              </a:spcBef>
              <a:spcAft>
                <a:spcPts val="0"/>
              </a:spcAft>
              <a:buNone/>
            </a:pPr>
            <a:r>
              <a:rPr lang="pt-BR" sz="1100">
                <a:latin typeface="Arial"/>
                <a:ea typeface="Arial"/>
                <a:cs typeface="Arial"/>
                <a:sym typeface="Arial"/>
              </a:rPr>
              <a:t>Para otimizar o desempenho, os prompts foram reestruturados. A principal mudança foi na forma como a tarefa é apresentada ao LLM, tornando sua missão mais explícita e clara.</a:t>
            </a:r>
            <a:endParaRPr sz="1100">
              <a:latin typeface="Arial"/>
              <a:ea typeface="Arial"/>
              <a:cs typeface="Arial"/>
              <a:sym typeface="Arial"/>
            </a:endParaRPr>
          </a:p>
          <a:p>
            <a:pPr indent="-293211" lvl="0" marL="457200" rtl="0" algn="l">
              <a:spcBef>
                <a:spcPts val="1200"/>
              </a:spcBef>
              <a:spcAft>
                <a:spcPts val="0"/>
              </a:spcAft>
              <a:buClr>
                <a:schemeClr val="dk2"/>
              </a:buClr>
              <a:buSzPct val="100000"/>
              <a:buFont typeface="Arial"/>
              <a:buChar char="●"/>
            </a:pPr>
            <a:r>
              <a:rPr b="1" lang="pt-BR" sz="1100">
                <a:latin typeface="Arial"/>
                <a:ea typeface="Arial"/>
                <a:cs typeface="Arial"/>
                <a:sym typeface="Arial"/>
              </a:rPr>
              <a:t>Resultado da Otimização:</a:t>
            </a:r>
            <a:r>
              <a:rPr lang="pt-BR" sz="1100">
                <a:latin typeface="Arial"/>
                <a:ea typeface="Arial"/>
                <a:cs typeface="Arial"/>
                <a:sym typeface="Arial"/>
              </a:rPr>
              <a:t> A nova estrutura de prompts pode ser consultada no seguinte documento:</a:t>
            </a:r>
            <a:br>
              <a:rPr lang="pt-BR" sz="1100">
                <a:latin typeface="Arial"/>
                <a:ea typeface="Arial"/>
                <a:cs typeface="Arial"/>
                <a:sym typeface="Arial"/>
              </a:rPr>
            </a:br>
            <a:r>
              <a:rPr lang="pt-BR" sz="1100" u="sng">
                <a:latin typeface="Arial"/>
                <a:ea typeface="Arial"/>
                <a:cs typeface="Arial"/>
                <a:sym typeface="Arial"/>
                <a:hlinkClick r:id="rId3"/>
              </a:rPr>
              <a:t>Prompt Reestruturado</a:t>
            </a:r>
            <a:endParaRPr sz="1100" u="sng">
              <a:latin typeface="Arial"/>
              <a:ea typeface="Arial"/>
              <a:cs typeface="Arial"/>
              <a:sym typeface="Arial"/>
            </a:endParaRPr>
          </a:p>
          <a:p>
            <a:pPr indent="0" lvl="0" marL="0" rtl="0" algn="l">
              <a:spcBef>
                <a:spcPts val="1200"/>
              </a:spcBef>
              <a:spcAft>
                <a:spcPts val="0"/>
              </a:spcAft>
              <a:buNone/>
            </a:pPr>
            <a:r>
              <a:rPr b="1" lang="pt-BR" sz="1100">
                <a:latin typeface="Arial"/>
                <a:ea typeface="Arial"/>
                <a:cs typeface="Arial"/>
                <a:sym typeface="Arial"/>
              </a:rPr>
              <a:t>Abordagens de Aprendizagem Analisadas</a:t>
            </a:r>
            <a:endParaRPr b="1" sz="1100">
              <a:latin typeface="Arial"/>
              <a:ea typeface="Arial"/>
              <a:cs typeface="Arial"/>
              <a:sym typeface="Arial"/>
            </a:endParaRPr>
          </a:p>
          <a:p>
            <a:pPr indent="-293211" lvl="0" marL="457200" rtl="0" algn="l">
              <a:spcBef>
                <a:spcPts val="1200"/>
              </a:spcBef>
              <a:spcAft>
                <a:spcPts val="0"/>
              </a:spcAft>
              <a:buClr>
                <a:schemeClr val="dk2"/>
              </a:buClr>
              <a:buSzPct val="100000"/>
              <a:buFont typeface="Arial"/>
              <a:buChar char="●"/>
            </a:pPr>
            <a:r>
              <a:rPr lang="pt-BR" sz="1100">
                <a:latin typeface="Arial"/>
                <a:ea typeface="Arial"/>
                <a:cs typeface="Arial"/>
                <a:sym typeface="Arial"/>
              </a:rPr>
              <a:t>Zero-shot</a:t>
            </a:r>
            <a:endParaRPr sz="1100">
              <a:latin typeface="Arial"/>
              <a:ea typeface="Arial"/>
              <a:cs typeface="Arial"/>
              <a:sym typeface="Arial"/>
            </a:endParaRPr>
          </a:p>
          <a:p>
            <a:pPr indent="-293211" lvl="0" marL="457200" rtl="0" algn="l">
              <a:spcBef>
                <a:spcPts val="0"/>
              </a:spcBef>
              <a:spcAft>
                <a:spcPts val="0"/>
              </a:spcAft>
              <a:buClr>
                <a:schemeClr val="dk2"/>
              </a:buClr>
              <a:buSzPct val="100000"/>
              <a:buFont typeface="Arial"/>
              <a:buChar char="●"/>
            </a:pPr>
            <a:r>
              <a:rPr lang="pt-BR" sz="1100">
                <a:latin typeface="Arial"/>
                <a:ea typeface="Arial"/>
                <a:cs typeface="Arial"/>
                <a:sym typeface="Arial"/>
              </a:rPr>
              <a:t>ICL (In-Context Learning)</a:t>
            </a:r>
            <a:endParaRPr sz="1100">
              <a:latin typeface="Arial"/>
              <a:ea typeface="Arial"/>
              <a:cs typeface="Arial"/>
              <a:sym typeface="Arial"/>
            </a:endParaRPr>
          </a:p>
          <a:p>
            <a:pPr indent="-293211" lvl="0" marL="457200" rtl="0" algn="l">
              <a:spcBef>
                <a:spcPts val="0"/>
              </a:spcBef>
              <a:spcAft>
                <a:spcPts val="0"/>
              </a:spcAft>
              <a:buClr>
                <a:schemeClr val="dk2"/>
              </a:buClr>
              <a:buSzPct val="100000"/>
              <a:buFont typeface="Arial"/>
              <a:buChar char="●"/>
            </a:pPr>
            <a:r>
              <a:rPr lang="pt-BR" sz="1100">
                <a:latin typeface="Arial"/>
                <a:ea typeface="Arial"/>
                <a:cs typeface="Arial"/>
                <a:sym typeface="Arial"/>
              </a:rPr>
              <a:t>Few-shot</a:t>
            </a:r>
            <a:endParaRPr sz="1100">
              <a:latin typeface="Arial"/>
              <a:ea typeface="Arial"/>
              <a:cs typeface="Arial"/>
              <a:sym typeface="Arial"/>
            </a:endParaRPr>
          </a:p>
          <a:p>
            <a:pPr indent="-293211" lvl="0" marL="457200" rtl="0" algn="l">
              <a:spcBef>
                <a:spcPts val="0"/>
              </a:spcBef>
              <a:spcAft>
                <a:spcPts val="0"/>
              </a:spcAft>
              <a:buClr>
                <a:schemeClr val="dk2"/>
              </a:buClr>
              <a:buSzPct val="100000"/>
              <a:buFont typeface="Arial"/>
              <a:buChar char="●"/>
            </a:pPr>
            <a:r>
              <a:rPr lang="pt-BR" sz="1100">
                <a:latin typeface="Arial"/>
                <a:ea typeface="Arial"/>
                <a:cs typeface="Arial"/>
                <a:sym typeface="Arial"/>
              </a:rPr>
              <a:t>Few-shot com contexto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311725" y="500925"/>
            <a:ext cx="8520600" cy="623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Resultados: Zero-shot e Few-shot juntos (Misoginia)</a:t>
            </a:r>
            <a:endParaRPr/>
          </a:p>
        </p:txBody>
      </p:sp>
      <p:pic>
        <p:nvPicPr>
          <p:cNvPr id="101" name="Google Shape;101;p19"/>
          <p:cNvPicPr preferRelativeResize="0"/>
          <p:nvPr/>
        </p:nvPicPr>
        <p:blipFill>
          <a:blip r:embed="rId3">
            <a:alphaModFix/>
          </a:blip>
          <a:stretch>
            <a:fillRect/>
          </a:stretch>
        </p:blipFill>
        <p:spPr>
          <a:xfrm>
            <a:off x="25" y="2248821"/>
            <a:ext cx="9143998" cy="160805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Conclusões sobre resultados obtidos no Llama para Misoginia</a:t>
            </a:r>
            <a:endParaRPr/>
          </a:p>
        </p:txBody>
      </p:sp>
      <p:sp>
        <p:nvSpPr>
          <p:cNvPr id="107" name="Google Shape;107;p20"/>
          <p:cNvSpPr txBox="1"/>
          <p:nvPr>
            <p:ph idx="1" type="body"/>
          </p:nvPr>
        </p:nvSpPr>
        <p:spPr>
          <a:xfrm>
            <a:off x="4537900" y="0"/>
            <a:ext cx="4380600" cy="5143500"/>
          </a:xfrm>
          <a:prstGeom prst="rect">
            <a:avLst/>
          </a:prstGeom>
        </p:spPr>
        <p:txBody>
          <a:bodyPr anchorCtr="0" anchor="ctr" bIns="91425" lIns="91425" spcFirstLastPara="1" rIns="91425" wrap="square" tIns="91425">
            <a:noAutofit/>
          </a:bodyPr>
          <a:lstStyle/>
          <a:p>
            <a:pPr indent="0" lvl="0" marL="0" rtl="0" algn="l">
              <a:spcBef>
                <a:spcPts val="1400"/>
              </a:spcBef>
              <a:spcAft>
                <a:spcPts val="0"/>
              </a:spcAft>
              <a:buNone/>
            </a:pPr>
            <a:r>
              <a:rPr b="1" lang="pt-BR" sz="1400">
                <a:latin typeface="Arial"/>
                <a:ea typeface="Arial"/>
                <a:cs typeface="Arial"/>
                <a:sym typeface="Arial"/>
              </a:rPr>
              <a:t>Análise de Resultados: Detecção de Misoginia</a:t>
            </a:r>
            <a:endParaRPr b="1" sz="1800">
              <a:latin typeface="Arial"/>
              <a:ea typeface="Arial"/>
              <a:cs typeface="Arial"/>
              <a:sym typeface="Arial"/>
            </a:endParaRPr>
          </a:p>
          <a:p>
            <a:pPr indent="-298450" lvl="0" marL="457200" rtl="0" algn="l">
              <a:spcBef>
                <a:spcPts val="1200"/>
              </a:spcBef>
              <a:spcAft>
                <a:spcPts val="0"/>
              </a:spcAft>
              <a:buClr>
                <a:schemeClr val="dk2"/>
              </a:buClr>
              <a:buSzPts val="1100"/>
              <a:buFont typeface="Arial"/>
              <a:buChar char="●"/>
            </a:pPr>
            <a:r>
              <a:rPr b="1" lang="pt-BR" sz="1100">
                <a:latin typeface="Arial"/>
                <a:ea typeface="Arial"/>
                <a:cs typeface="Arial"/>
                <a:sym typeface="Arial"/>
              </a:rPr>
              <a:t>Melhor Modelo:</a:t>
            </a:r>
            <a:r>
              <a:rPr lang="pt-BR" sz="1100">
                <a:latin typeface="Arial"/>
                <a:ea typeface="Arial"/>
                <a:cs typeface="Arial"/>
                <a:sym typeface="Arial"/>
              </a:rPr>
              <a:t> O </a:t>
            </a:r>
            <a:r>
              <a:rPr b="1" lang="pt-BR" sz="1100">
                <a:latin typeface="Arial"/>
                <a:ea typeface="Arial"/>
                <a:cs typeface="Arial"/>
                <a:sym typeface="Arial"/>
              </a:rPr>
              <a:t>Llama Zero-Shot (Teste 4)</a:t>
            </a:r>
            <a:r>
              <a:rPr lang="pt-BR" sz="1100">
                <a:latin typeface="Arial"/>
                <a:ea typeface="Arial"/>
                <a:cs typeface="Arial"/>
                <a:sym typeface="Arial"/>
              </a:rPr>
              <a:t> foi o grande vencedor, alcançando o maior </a:t>
            </a:r>
            <a:r>
              <a:rPr lang="pt-BR" sz="1100">
                <a:solidFill>
                  <a:schemeClr val="accent5"/>
                </a:solidFill>
                <a:latin typeface="Roboto Mono"/>
                <a:ea typeface="Roboto Mono"/>
                <a:cs typeface="Roboto Mono"/>
                <a:sym typeface="Roboto Mono"/>
              </a:rPr>
              <a:t>macro_f1</a:t>
            </a:r>
            <a:r>
              <a:rPr lang="pt-BR" sz="1100">
                <a:solidFill>
                  <a:schemeClr val="accent5"/>
                </a:solidFill>
                <a:latin typeface="Arial"/>
                <a:ea typeface="Arial"/>
                <a:cs typeface="Arial"/>
                <a:sym typeface="Arial"/>
              </a:rPr>
              <a:t> </a:t>
            </a:r>
            <a:r>
              <a:rPr lang="pt-BR" sz="1100">
                <a:latin typeface="Arial"/>
                <a:ea typeface="Arial"/>
                <a:cs typeface="Arial"/>
                <a:sym typeface="Arial"/>
              </a:rPr>
              <a:t>de </a:t>
            </a:r>
            <a:r>
              <a:rPr b="1" lang="pt-BR" sz="1100">
                <a:latin typeface="Arial"/>
                <a:ea typeface="Arial"/>
                <a:cs typeface="Arial"/>
                <a:sym typeface="Arial"/>
              </a:rPr>
              <a:t>0.743</a:t>
            </a:r>
            <a:r>
              <a:rPr lang="pt-BR" sz="1100">
                <a:latin typeface="Arial"/>
                <a:ea typeface="Arial"/>
                <a:cs typeface="Arial"/>
                <a:sym typeface="Arial"/>
              </a:rPr>
              <a:t>.</a:t>
            </a:r>
            <a:br>
              <a:rPr lang="pt-BR" sz="1100">
                <a:latin typeface="Arial"/>
                <a:ea typeface="Arial"/>
                <a:cs typeface="Arial"/>
                <a:sym typeface="Arial"/>
              </a:rPr>
            </a:br>
            <a:endParaRPr sz="1100">
              <a:latin typeface="Arial"/>
              <a:ea typeface="Arial"/>
              <a:cs typeface="Arial"/>
              <a:sym typeface="Arial"/>
            </a:endParaRPr>
          </a:p>
          <a:p>
            <a:pPr indent="-298450" lvl="0" marL="457200" rtl="0" algn="l">
              <a:spcBef>
                <a:spcPts val="0"/>
              </a:spcBef>
              <a:spcAft>
                <a:spcPts val="0"/>
              </a:spcAft>
              <a:buClr>
                <a:schemeClr val="dk2"/>
              </a:buClr>
              <a:buSzPts val="1100"/>
              <a:buFont typeface="Arial"/>
              <a:buChar char="●"/>
            </a:pPr>
            <a:r>
              <a:rPr b="1" lang="pt-BR" sz="1100">
                <a:latin typeface="Arial"/>
                <a:ea typeface="Arial"/>
                <a:cs typeface="Arial"/>
                <a:sym typeface="Arial"/>
              </a:rPr>
              <a:t>Zero-Shot vs. Few-Shot:</a:t>
            </a:r>
            <a:endParaRPr b="1" sz="1100">
              <a:latin typeface="Arial"/>
              <a:ea typeface="Arial"/>
              <a:cs typeface="Arial"/>
              <a:sym typeface="Arial"/>
            </a:endParaRPr>
          </a:p>
          <a:p>
            <a:pPr indent="-298450" lvl="1" marL="914400" rtl="0" algn="l">
              <a:spcBef>
                <a:spcPts val="0"/>
              </a:spcBef>
              <a:spcAft>
                <a:spcPts val="0"/>
              </a:spcAft>
              <a:buClr>
                <a:schemeClr val="dk2"/>
              </a:buClr>
              <a:buSzPts val="1100"/>
              <a:buFont typeface="Arial"/>
              <a:buChar char="○"/>
            </a:pPr>
            <a:r>
              <a:rPr lang="pt-BR">
                <a:latin typeface="Arial"/>
                <a:ea typeface="Arial"/>
                <a:cs typeface="Arial"/>
                <a:sym typeface="Arial"/>
              </a:rPr>
              <a:t>Os modelos </a:t>
            </a:r>
            <a:r>
              <a:rPr b="1" lang="pt-BR">
                <a:latin typeface="Arial"/>
                <a:ea typeface="Arial"/>
                <a:cs typeface="Arial"/>
                <a:sym typeface="Arial"/>
              </a:rPr>
              <a:t>Zero-Shot</a:t>
            </a:r>
            <a:r>
              <a:rPr lang="pt-BR">
                <a:latin typeface="Arial"/>
                <a:ea typeface="Arial"/>
                <a:cs typeface="Arial"/>
                <a:sym typeface="Arial"/>
              </a:rPr>
              <a:t> se saíram muito bem quando receberam um prompt com uma definição clara de misoginia (Testes 3 e 4).</a:t>
            </a:r>
            <a:endParaRPr>
              <a:latin typeface="Arial"/>
              <a:ea typeface="Arial"/>
              <a:cs typeface="Arial"/>
              <a:sym typeface="Arial"/>
            </a:endParaRPr>
          </a:p>
          <a:p>
            <a:pPr indent="-298450" lvl="1" marL="914400" rtl="0" algn="l">
              <a:spcBef>
                <a:spcPts val="0"/>
              </a:spcBef>
              <a:spcAft>
                <a:spcPts val="0"/>
              </a:spcAft>
              <a:buClr>
                <a:schemeClr val="dk2"/>
              </a:buClr>
              <a:buSzPts val="1100"/>
              <a:buFont typeface="Arial"/>
              <a:buChar char="○"/>
            </a:pPr>
            <a:r>
              <a:rPr lang="pt-BR">
                <a:latin typeface="Arial"/>
                <a:ea typeface="Arial"/>
                <a:cs typeface="Arial"/>
                <a:sym typeface="Arial"/>
              </a:rPr>
              <a:t>Os modelos </a:t>
            </a:r>
            <a:r>
              <a:rPr b="1" lang="pt-BR">
                <a:latin typeface="Arial"/>
                <a:ea typeface="Arial"/>
                <a:cs typeface="Arial"/>
                <a:sym typeface="Arial"/>
              </a:rPr>
              <a:t>Few-Shot</a:t>
            </a:r>
            <a:r>
              <a:rPr lang="pt-BR">
                <a:latin typeface="Arial"/>
                <a:ea typeface="Arial"/>
                <a:cs typeface="Arial"/>
                <a:sym typeface="Arial"/>
              </a:rPr>
              <a:t> foram "hipersensíveis": eles encontraram quase todos os comentários misóginos, mas erraram muito, classificando mais da metade dos comentários de forma incorreta.</a:t>
            </a:r>
            <a:br>
              <a:rPr lang="pt-BR">
                <a:latin typeface="Arial"/>
                <a:ea typeface="Arial"/>
                <a:cs typeface="Arial"/>
                <a:sym typeface="Arial"/>
              </a:rPr>
            </a:br>
            <a:endParaRPr>
              <a:latin typeface="Arial"/>
              <a:ea typeface="Arial"/>
              <a:cs typeface="Arial"/>
              <a:sym typeface="Arial"/>
            </a:endParaRPr>
          </a:p>
          <a:p>
            <a:pPr indent="-298450" lvl="0" marL="457200" rtl="0" algn="l">
              <a:spcBef>
                <a:spcPts val="0"/>
              </a:spcBef>
              <a:spcAft>
                <a:spcPts val="0"/>
              </a:spcAft>
              <a:buClr>
                <a:schemeClr val="dk2"/>
              </a:buClr>
              <a:buSzPts val="1100"/>
              <a:buFont typeface="Arial"/>
              <a:buChar char="●"/>
            </a:pPr>
            <a:r>
              <a:rPr b="1" lang="pt-BR" sz="1100">
                <a:latin typeface="Arial"/>
                <a:ea typeface="Arial"/>
                <a:cs typeface="Arial"/>
                <a:sym typeface="Arial"/>
              </a:rPr>
              <a:t>Conclusão Estatística:</a:t>
            </a:r>
            <a:r>
              <a:rPr lang="pt-BR" sz="1100">
                <a:latin typeface="Arial"/>
                <a:ea typeface="Arial"/>
                <a:cs typeface="Arial"/>
                <a:sym typeface="Arial"/>
              </a:rPr>
              <a:t> A performance do modelo Zero-Shot (Teste 4) é </a:t>
            </a:r>
            <a:r>
              <a:rPr b="1" lang="pt-BR" sz="1100">
                <a:latin typeface="Arial"/>
                <a:ea typeface="Arial"/>
                <a:cs typeface="Arial"/>
                <a:sym typeface="Arial"/>
              </a:rPr>
              <a:t>estatisticamente superior</a:t>
            </a:r>
            <a:r>
              <a:rPr lang="pt-BR" sz="1100">
                <a:latin typeface="Arial"/>
                <a:ea typeface="Arial"/>
                <a:cs typeface="Arial"/>
                <a:sym typeface="Arial"/>
              </a:rPr>
              <a:t> à dos modelos Few-Shot, pois seus intervalos de confiança de desempenho não se sobrepõem.</a:t>
            </a:r>
            <a:endParaRPr b="1" sz="800">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type="title"/>
          </p:nvPr>
        </p:nvSpPr>
        <p:spPr>
          <a:xfrm>
            <a:off x="311725" y="500925"/>
            <a:ext cx="8520600" cy="623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Resultados: Zero-shot e Few-shot juntos (Toxicidade)</a:t>
            </a:r>
            <a:endParaRPr/>
          </a:p>
        </p:txBody>
      </p:sp>
      <p:pic>
        <p:nvPicPr>
          <p:cNvPr id="113" name="Google Shape;113;p21"/>
          <p:cNvPicPr preferRelativeResize="0"/>
          <p:nvPr/>
        </p:nvPicPr>
        <p:blipFill>
          <a:blip r:embed="rId3">
            <a:alphaModFix/>
          </a:blip>
          <a:stretch>
            <a:fillRect/>
          </a:stretch>
        </p:blipFill>
        <p:spPr>
          <a:xfrm>
            <a:off x="0" y="2222557"/>
            <a:ext cx="9143998" cy="159879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Conclusões sobre resultados obtidos no Llama para Toxicidade</a:t>
            </a:r>
            <a:endParaRPr/>
          </a:p>
        </p:txBody>
      </p:sp>
      <p:sp>
        <p:nvSpPr>
          <p:cNvPr id="119" name="Google Shape;119;p22"/>
          <p:cNvSpPr txBox="1"/>
          <p:nvPr>
            <p:ph idx="1" type="body"/>
          </p:nvPr>
        </p:nvSpPr>
        <p:spPr>
          <a:xfrm>
            <a:off x="4506450" y="0"/>
            <a:ext cx="4391100" cy="5143500"/>
          </a:xfrm>
          <a:prstGeom prst="rect">
            <a:avLst/>
          </a:prstGeom>
        </p:spPr>
        <p:txBody>
          <a:bodyPr anchorCtr="0" anchor="ctr" bIns="91425" lIns="91425" spcFirstLastPara="1" rIns="91425" wrap="square" tIns="91425">
            <a:noAutofit/>
          </a:bodyPr>
          <a:lstStyle/>
          <a:p>
            <a:pPr indent="0" lvl="0" marL="0" rtl="0" algn="l">
              <a:spcBef>
                <a:spcPts val="1400"/>
              </a:spcBef>
              <a:spcAft>
                <a:spcPts val="0"/>
              </a:spcAft>
              <a:buNone/>
            </a:pPr>
            <a:r>
              <a:rPr b="1" lang="pt-BR" sz="1400">
                <a:latin typeface="Arial"/>
                <a:ea typeface="Arial"/>
                <a:cs typeface="Arial"/>
                <a:sym typeface="Arial"/>
              </a:rPr>
              <a:t>Análise de Resultados: Detecção de Toxicidade</a:t>
            </a:r>
            <a:endParaRPr b="1" sz="1400">
              <a:latin typeface="Arial"/>
              <a:ea typeface="Arial"/>
              <a:cs typeface="Arial"/>
              <a:sym typeface="Arial"/>
            </a:endParaRPr>
          </a:p>
          <a:p>
            <a:pPr indent="0" lvl="0" marL="0" rtl="0" algn="l">
              <a:spcBef>
                <a:spcPts val="1400"/>
              </a:spcBef>
              <a:spcAft>
                <a:spcPts val="0"/>
              </a:spcAft>
              <a:buNone/>
            </a:pPr>
            <a:r>
              <a:rPr b="1" lang="pt-BR" sz="1100">
                <a:latin typeface="Arial"/>
                <a:ea typeface="Arial"/>
                <a:cs typeface="Arial"/>
                <a:sym typeface="Arial"/>
              </a:rPr>
              <a:t>Melhor Modelo:</a:t>
            </a:r>
            <a:r>
              <a:rPr lang="pt-BR" sz="1100">
                <a:latin typeface="Arial"/>
                <a:ea typeface="Arial"/>
                <a:cs typeface="Arial"/>
                <a:sym typeface="Arial"/>
              </a:rPr>
              <a:t> O </a:t>
            </a:r>
            <a:r>
              <a:rPr b="1" lang="pt-BR" sz="1100">
                <a:latin typeface="Arial"/>
                <a:ea typeface="Arial"/>
                <a:cs typeface="Arial"/>
                <a:sym typeface="Arial"/>
              </a:rPr>
              <a:t>Few-Shot (Teste 4)</a:t>
            </a:r>
            <a:r>
              <a:rPr lang="pt-BR" sz="1100">
                <a:latin typeface="Arial"/>
                <a:ea typeface="Arial"/>
                <a:cs typeface="Arial"/>
                <a:sym typeface="Arial"/>
              </a:rPr>
              <a:t> apresentou o melhor resultado, com F1-Score de </a:t>
            </a:r>
            <a:r>
              <a:rPr b="1" lang="pt-BR" sz="1100">
                <a:latin typeface="Arial"/>
                <a:ea typeface="Arial"/>
                <a:cs typeface="Arial"/>
                <a:sym typeface="Arial"/>
              </a:rPr>
              <a:t>0.723</a:t>
            </a:r>
            <a:r>
              <a:rPr lang="pt-BR" sz="1100">
                <a:latin typeface="Arial"/>
                <a:ea typeface="Arial"/>
                <a:cs typeface="Arial"/>
                <a:sym typeface="Arial"/>
              </a:rPr>
              <a:t>.</a:t>
            </a:r>
            <a:endParaRPr sz="1100">
              <a:latin typeface="Arial"/>
              <a:ea typeface="Arial"/>
              <a:cs typeface="Arial"/>
              <a:sym typeface="Arial"/>
            </a:endParaRPr>
          </a:p>
          <a:p>
            <a:pPr indent="0" lvl="0" marL="0" rtl="0" algn="l">
              <a:spcBef>
                <a:spcPts val="1400"/>
              </a:spcBef>
              <a:spcAft>
                <a:spcPts val="0"/>
              </a:spcAft>
              <a:buNone/>
            </a:pPr>
            <a:r>
              <a:rPr b="1" lang="pt-BR" sz="1100">
                <a:latin typeface="Arial"/>
                <a:ea typeface="Arial"/>
                <a:cs typeface="Arial"/>
                <a:sym typeface="Arial"/>
              </a:rPr>
              <a:t>Zero-Shot vs. Few-Shot:</a:t>
            </a:r>
            <a:endParaRPr b="1" sz="1100">
              <a:latin typeface="Arial"/>
              <a:ea typeface="Arial"/>
              <a:cs typeface="Arial"/>
              <a:sym typeface="Arial"/>
            </a:endParaRPr>
          </a:p>
          <a:p>
            <a:pPr indent="-298450" lvl="0" marL="457200" rtl="0" algn="l">
              <a:spcBef>
                <a:spcPts val="1200"/>
              </a:spcBef>
              <a:spcAft>
                <a:spcPts val="0"/>
              </a:spcAft>
              <a:buClr>
                <a:schemeClr val="dk2"/>
              </a:buClr>
              <a:buSzPts val="1100"/>
              <a:buFont typeface="Arial"/>
              <a:buChar char="●"/>
            </a:pPr>
            <a:r>
              <a:rPr lang="pt-BR" sz="1100">
                <a:latin typeface="Arial"/>
                <a:ea typeface="Arial"/>
                <a:cs typeface="Arial"/>
                <a:sym typeface="Arial"/>
              </a:rPr>
              <a:t>Os modelos </a:t>
            </a:r>
            <a:r>
              <a:rPr b="1" lang="pt-BR" sz="1100">
                <a:latin typeface="Arial"/>
                <a:ea typeface="Arial"/>
                <a:cs typeface="Arial"/>
                <a:sym typeface="Arial"/>
              </a:rPr>
              <a:t>Zero-Shot</a:t>
            </a:r>
            <a:r>
              <a:rPr lang="pt-BR" sz="1100">
                <a:latin typeface="Arial"/>
                <a:ea typeface="Arial"/>
                <a:cs typeface="Arial"/>
                <a:sym typeface="Arial"/>
              </a:rPr>
              <a:t> tiveram um desempenho fraco e inconsistente, melhorando apenas quando um conceito explícito de toxicidade foi adicionado.</a:t>
            </a:r>
            <a:endParaRPr sz="1100">
              <a:latin typeface="Arial"/>
              <a:ea typeface="Arial"/>
              <a:cs typeface="Arial"/>
              <a:sym typeface="Arial"/>
            </a:endParaRPr>
          </a:p>
          <a:p>
            <a:pPr indent="-298450" lvl="0" marL="457200" rtl="0" algn="l">
              <a:spcBef>
                <a:spcPts val="0"/>
              </a:spcBef>
              <a:spcAft>
                <a:spcPts val="0"/>
              </a:spcAft>
              <a:buClr>
                <a:schemeClr val="dk2"/>
              </a:buClr>
              <a:buSzPts val="1100"/>
              <a:buFont typeface="Arial"/>
              <a:buChar char="●"/>
            </a:pPr>
            <a:r>
              <a:rPr lang="pt-BR" sz="1100">
                <a:latin typeface="Arial"/>
                <a:ea typeface="Arial"/>
                <a:cs typeface="Arial"/>
                <a:sym typeface="Arial"/>
              </a:rPr>
              <a:t>Os modelos </a:t>
            </a:r>
            <a:r>
              <a:rPr b="1" lang="pt-BR" sz="1100">
                <a:latin typeface="Arial"/>
                <a:ea typeface="Arial"/>
                <a:cs typeface="Arial"/>
                <a:sym typeface="Arial"/>
              </a:rPr>
              <a:t>Few-Shot</a:t>
            </a:r>
            <a:r>
              <a:rPr lang="pt-BR" sz="1100">
                <a:latin typeface="Arial"/>
                <a:ea typeface="Arial"/>
                <a:cs typeface="Arial"/>
                <a:sym typeface="Arial"/>
              </a:rPr>
              <a:t> foram consistentemente superiores, mostrando-se muito eficazes em encontrar a maioria dos comentários tóxicos, embora ainda errassem ao classificar comentários não tóxicos.</a:t>
            </a:r>
            <a:endParaRPr sz="1100">
              <a:latin typeface="Arial"/>
              <a:ea typeface="Arial"/>
              <a:cs typeface="Arial"/>
              <a:sym typeface="Arial"/>
            </a:endParaRPr>
          </a:p>
          <a:p>
            <a:pPr indent="0" lvl="0" marL="0" rtl="0" algn="l">
              <a:spcBef>
                <a:spcPts val="1200"/>
              </a:spcBef>
              <a:spcAft>
                <a:spcPts val="0"/>
              </a:spcAft>
              <a:buNone/>
            </a:pPr>
            <a:r>
              <a:rPr b="1" lang="pt-BR" sz="1100">
                <a:latin typeface="Arial"/>
                <a:ea typeface="Arial"/>
                <a:cs typeface="Arial"/>
                <a:sym typeface="Arial"/>
              </a:rPr>
              <a:t>Conclusão Estatística:</a:t>
            </a:r>
            <a:r>
              <a:rPr lang="pt-BR" sz="1100">
                <a:latin typeface="Arial"/>
                <a:ea typeface="Arial"/>
                <a:cs typeface="Arial"/>
                <a:sym typeface="Arial"/>
              </a:rPr>
              <a:t> Apesar do Few-Shot parecer melhor, a diferença de desempenho entre as melhores abordagens </a:t>
            </a:r>
            <a:r>
              <a:rPr b="1" lang="pt-BR" sz="1100">
                <a:latin typeface="Arial"/>
                <a:ea typeface="Arial"/>
                <a:cs typeface="Arial"/>
                <a:sym typeface="Arial"/>
              </a:rPr>
              <a:t>não é estatisticamente significativa</a:t>
            </a:r>
            <a:r>
              <a:rPr lang="pt-BR" sz="1100">
                <a:latin typeface="Arial"/>
                <a:ea typeface="Arial"/>
                <a:cs typeface="Arial"/>
                <a:sym typeface="Arial"/>
              </a:rPr>
              <a:t>, pois seus intervalos de confiança se sobrepõem,</a:t>
            </a:r>
            <a:endParaRPr b="1" sz="1100">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3"/>
          <p:cNvSpPr txBox="1"/>
          <p:nvPr>
            <p:ph type="ctrTitle"/>
          </p:nvPr>
        </p:nvSpPr>
        <p:spPr>
          <a:xfrm>
            <a:off x="311700" y="539725"/>
            <a:ext cx="8520600" cy="1709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Matriz de Confusão</a:t>
            </a:r>
            <a:endParaRPr/>
          </a:p>
          <a:p>
            <a:pPr indent="0" lvl="0" marL="0" rtl="0" algn="l">
              <a:spcBef>
                <a:spcPts val="0"/>
              </a:spcBef>
              <a:spcAft>
                <a:spcPts val="0"/>
              </a:spcAft>
              <a:buNone/>
            </a:pPr>
            <a:r>
              <a:rPr lang="pt-BR"/>
              <a:t>Llama</a:t>
            </a:r>
            <a:endParaRPr/>
          </a:p>
          <a:p>
            <a:pPr indent="0" lvl="0" marL="0" rtl="0" algn="l">
              <a:spcBef>
                <a:spcPts val="0"/>
              </a:spcBef>
              <a:spcAft>
                <a:spcPts val="0"/>
              </a:spcAft>
              <a:buNone/>
            </a:pPr>
            <a:r>
              <a:rPr lang="pt-BR"/>
              <a:t>Zero-shot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Matriz de Confusão TESTE 1: Zero-shot</a:t>
            </a:r>
            <a:endParaRPr/>
          </a:p>
        </p:txBody>
      </p:sp>
      <p:pic>
        <p:nvPicPr>
          <p:cNvPr id="130" name="Google Shape;130;p24" title="download.png"/>
          <p:cNvPicPr preferRelativeResize="0"/>
          <p:nvPr/>
        </p:nvPicPr>
        <p:blipFill>
          <a:blip r:embed="rId3">
            <a:alphaModFix/>
          </a:blip>
          <a:stretch>
            <a:fillRect/>
          </a:stretch>
        </p:blipFill>
        <p:spPr>
          <a:xfrm>
            <a:off x="0" y="1632600"/>
            <a:ext cx="4572001" cy="3172725"/>
          </a:xfrm>
          <a:prstGeom prst="rect">
            <a:avLst/>
          </a:prstGeom>
          <a:noFill/>
          <a:ln>
            <a:noFill/>
          </a:ln>
        </p:spPr>
      </p:pic>
      <p:pic>
        <p:nvPicPr>
          <p:cNvPr id="131" name="Google Shape;131;p24" title="download.png"/>
          <p:cNvPicPr preferRelativeResize="0"/>
          <p:nvPr/>
        </p:nvPicPr>
        <p:blipFill>
          <a:blip r:embed="rId4">
            <a:alphaModFix/>
          </a:blip>
          <a:stretch>
            <a:fillRect/>
          </a:stretch>
        </p:blipFill>
        <p:spPr>
          <a:xfrm>
            <a:off x="4572012" y="1632600"/>
            <a:ext cx="4571988" cy="31727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Matriz de Confusão TESTE 2: Zero-shot</a:t>
            </a:r>
            <a:endParaRPr/>
          </a:p>
        </p:txBody>
      </p:sp>
      <p:pic>
        <p:nvPicPr>
          <p:cNvPr id="137" name="Google Shape;137;p25" title="download.png"/>
          <p:cNvPicPr preferRelativeResize="0"/>
          <p:nvPr/>
        </p:nvPicPr>
        <p:blipFill>
          <a:blip r:embed="rId3">
            <a:alphaModFix/>
          </a:blip>
          <a:stretch>
            <a:fillRect/>
          </a:stretch>
        </p:blipFill>
        <p:spPr>
          <a:xfrm>
            <a:off x="0" y="1640466"/>
            <a:ext cx="4572001" cy="3172734"/>
          </a:xfrm>
          <a:prstGeom prst="rect">
            <a:avLst/>
          </a:prstGeom>
          <a:noFill/>
          <a:ln>
            <a:noFill/>
          </a:ln>
        </p:spPr>
      </p:pic>
      <p:pic>
        <p:nvPicPr>
          <p:cNvPr id="138" name="Google Shape;138;p25" title="download.png"/>
          <p:cNvPicPr preferRelativeResize="0"/>
          <p:nvPr/>
        </p:nvPicPr>
        <p:blipFill>
          <a:blip r:embed="rId4">
            <a:alphaModFix/>
          </a:blip>
          <a:stretch>
            <a:fillRect/>
          </a:stretch>
        </p:blipFill>
        <p:spPr>
          <a:xfrm>
            <a:off x="4572012" y="1640475"/>
            <a:ext cx="4571988" cy="31727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Matriz de Confusão TESTE 3: Zero-shot</a:t>
            </a:r>
            <a:endParaRPr/>
          </a:p>
        </p:txBody>
      </p:sp>
      <p:pic>
        <p:nvPicPr>
          <p:cNvPr id="144" name="Google Shape;144;p26" title="download.png"/>
          <p:cNvPicPr preferRelativeResize="0"/>
          <p:nvPr/>
        </p:nvPicPr>
        <p:blipFill>
          <a:blip r:embed="rId3">
            <a:alphaModFix/>
          </a:blip>
          <a:stretch>
            <a:fillRect/>
          </a:stretch>
        </p:blipFill>
        <p:spPr>
          <a:xfrm>
            <a:off x="0" y="1601121"/>
            <a:ext cx="4572001" cy="3172730"/>
          </a:xfrm>
          <a:prstGeom prst="rect">
            <a:avLst/>
          </a:prstGeom>
          <a:noFill/>
          <a:ln>
            <a:noFill/>
          </a:ln>
        </p:spPr>
      </p:pic>
      <p:pic>
        <p:nvPicPr>
          <p:cNvPr id="145" name="Google Shape;145;p26" title="download.png"/>
          <p:cNvPicPr preferRelativeResize="0"/>
          <p:nvPr/>
        </p:nvPicPr>
        <p:blipFill>
          <a:blip r:embed="rId4">
            <a:alphaModFix/>
          </a:blip>
          <a:stretch>
            <a:fillRect/>
          </a:stretch>
        </p:blipFill>
        <p:spPr>
          <a:xfrm>
            <a:off x="4571997" y="1601125"/>
            <a:ext cx="4571978" cy="31727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7"/>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Matriz de Confusão TESTE 4: Zero-shot</a:t>
            </a:r>
            <a:endParaRPr/>
          </a:p>
        </p:txBody>
      </p:sp>
      <p:pic>
        <p:nvPicPr>
          <p:cNvPr id="151" name="Google Shape;151;p27" title="download.png"/>
          <p:cNvPicPr preferRelativeResize="0"/>
          <p:nvPr/>
        </p:nvPicPr>
        <p:blipFill>
          <a:blip r:embed="rId3">
            <a:alphaModFix/>
          </a:blip>
          <a:stretch>
            <a:fillRect/>
          </a:stretch>
        </p:blipFill>
        <p:spPr>
          <a:xfrm>
            <a:off x="0" y="1666845"/>
            <a:ext cx="4572026" cy="3122767"/>
          </a:xfrm>
          <a:prstGeom prst="rect">
            <a:avLst/>
          </a:prstGeom>
          <a:noFill/>
          <a:ln>
            <a:noFill/>
          </a:ln>
        </p:spPr>
      </p:pic>
      <p:pic>
        <p:nvPicPr>
          <p:cNvPr id="152" name="Google Shape;152;p27" title="download.png"/>
          <p:cNvPicPr preferRelativeResize="0"/>
          <p:nvPr/>
        </p:nvPicPr>
        <p:blipFill>
          <a:blip r:embed="rId4">
            <a:alphaModFix/>
          </a:blip>
          <a:stretch>
            <a:fillRect/>
          </a:stretch>
        </p:blipFill>
        <p:spPr>
          <a:xfrm>
            <a:off x="4571999" y="1666838"/>
            <a:ext cx="4572026" cy="31227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8"/>
          <p:cNvSpPr txBox="1"/>
          <p:nvPr>
            <p:ph type="ctrTitle"/>
          </p:nvPr>
        </p:nvSpPr>
        <p:spPr>
          <a:xfrm>
            <a:off x="311700" y="539725"/>
            <a:ext cx="8520600" cy="1709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Matriz de Confusão</a:t>
            </a:r>
            <a:endParaRPr/>
          </a:p>
          <a:p>
            <a:pPr indent="0" lvl="0" marL="0" rtl="0" algn="l">
              <a:spcBef>
                <a:spcPts val="0"/>
              </a:spcBef>
              <a:spcAft>
                <a:spcPts val="0"/>
              </a:spcAft>
              <a:buNone/>
            </a:pPr>
            <a:r>
              <a:rPr lang="pt-BR"/>
              <a:t>Llama</a:t>
            </a:r>
            <a:endParaRPr/>
          </a:p>
          <a:p>
            <a:pPr indent="0" lvl="0" marL="0" rtl="0" algn="l">
              <a:spcBef>
                <a:spcPts val="0"/>
              </a:spcBef>
              <a:spcAft>
                <a:spcPts val="0"/>
              </a:spcAft>
              <a:buNone/>
            </a:pPr>
            <a:r>
              <a:rPr lang="pt-BR"/>
              <a:t>Few-shot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9"/>
          <p:cNvSpPr txBox="1"/>
          <p:nvPr>
            <p:ph type="title"/>
          </p:nvPr>
        </p:nvSpPr>
        <p:spPr>
          <a:xfrm>
            <a:off x="311725" y="500925"/>
            <a:ext cx="8520600" cy="623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Matriz de Confusão TESTE 1 (Misoginia): Few-shot</a:t>
            </a:r>
            <a:endParaRPr/>
          </a:p>
        </p:txBody>
      </p:sp>
      <p:pic>
        <p:nvPicPr>
          <p:cNvPr id="163" name="Google Shape;163;p29" title="download.png"/>
          <p:cNvPicPr preferRelativeResize="0"/>
          <p:nvPr/>
        </p:nvPicPr>
        <p:blipFill>
          <a:blip r:embed="rId3">
            <a:alphaModFix/>
          </a:blip>
          <a:stretch>
            <a:fillRect/>
          </a:stretch>
        </p:blipFill>
        <p:spPr>
          <a:xfrm>
            <a:off x="0" y="2118225"/>
            <a:ext cx="9144003" cy="18350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0"/>
          <p:cNvSpPr txBox="1"/>
          <p:nvPr>
            <p:ph type="title"/>
          </p:nvPr>
        </p:nvSpPr>
        <p:spPr>
          <a:xfrm>
            <a:off x="311725" y="500925"/>
            <a:ext cx="8520600" cy="623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Matriz de Confusão TESTE 1 (Toxicidade): Few-shot</a:t>
            </a:r>
            <a:endParaRPr/>
          </a:p>
        </p:txBody>
      </p:sp>
      <p:pic>
        <p:nvPicPr>
          <p:cNvPr id="169" name="Google Shape;169;p30" title="download.png"/>
          <p:cNvPicPr preferRelativeResize="0"/>
          <p:nvPr/>
        </p:nvPicPr>
        <p:blipFill>
          <a:blip r:embed="rId3">
            <a:alphaModFix/>
          </a:blip>
          <a:stretch>
            <a:fillRect/>
          </a:stretch>
        </p:blipFill>
        <p:spPr>
          <a:xfrm>
            <a:off x="25" y="2134000"/>
            <a:ext cx="9144003" cy="183505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1"/>
          <p:cNvSpPr txBox="1"/>
          <p:nvPr>
            <p:ph type="title"/>
          </p:nvPr>
        </p:nvSpPr>
        <p:spPr>
          <a:xfrm>
            <a:off x="311725" y="500925"/>
            <a:ext cx="8520600" cy="623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Matriz de Confusão TESTE 2 (Misoginia): Few-shot</a:t>
            </a:r>
            <a:endParaRPr/>
          </a:p>
        </p:txBody>
      </p:sp>
      <p:pic>
        <p:nvPicPr>
          <p:cNvPr id="175" name="Google Shape;175;p31" title="download.png"/>
          <p:cNvPicPr preferRelativeResize="0"/>
          <p:nvPr/>
        </p:nvPicPr>
        <p:blipFill>
          <a:blip r:embed="rId3">
            <a:alphaModFix/>
          </a:blip>
          <a:stretch>
            <a:fillRect/>
          </a:stretch>
        </p:blipFill>
        <p:spPr>
          <a:xfrm>
            <a:off x="25" y="2143882"/>
            <a:ext cx="9144003" cy="183504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2"/>
          <p:cNvSpPr txBox="1"/>
          <p:nvPr>
            <p:ph type="title"/>
          </p:nvPr>
        </p:nvSpPr>
        <p:spPr>
          <a:xfrm>
            <a:off x="311725" y="500925"/>
            <a:ext cx="8520600" cy="623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Matriz de Confusão TESTE 2 (Toxicidade): Few-shot</a:t>
            </a:r>
            <a:endParaRPr/>
          </a:p>
        </p:txBody>
      </p:sp>
      <p:pic>
        <p:nvPicPr>
          <p:cNvPr id="181" name="Google Shape;181;p32" title="download.png"/>
          <p:cNvPicPr preferRelativeResize="0"/>
          <p:nvPr/>
        </p:nvPicPr>
        <p:blipFill>
          <a:blip r:embed="rId3">
            <a:alphaModFix/>
          </a:blip>
          <a:stretch>
            <a:fillRect/>
          </a:stretch>
        </p:blipFill>
        <p:spPr>
          <a:xfrm>
            <a:off x="0" y="2143900"/>
            <a:ext cx="9143997" cy="18350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3"/>
          <p:cNvSpPr txBox="1"/>
          <p:nvPr>
            <p:ph type="title"/>
          </p:nvPr>
        </p:nvSpPr>
        <p:spPr>
          <a:xfrm>
            <a:off x="311725" y="500925"/>
            <a:ext cx="8520600" cy="623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Matriz de Confusão TESTE 3 (Misoginia): Few-shot</a:t>
            </a:r>
            <a:endParaRPr/>
          </a:p>
        </p:txBody>
      </p:sp>
      <p:pic>
        <p:nvPicPr>
          <p:cNvPr id="187" name="Google Shape;187;p33" title="download.png"/>
          <p:cNvPicPr preferRelativeResize="0"/>
          <p:nvPr/>
        </p:nvPicPr>
        <p:blipFill>
          <a:blip r:embed="rId3">
            <a:alphaModFix/>
          </a:blip>
          <a:stretch>
            <a:fillRect/>
          </a:stretch>
        </p:blipFill>
        <p:spPr>
          <a:xfrm>
            <a:off x="25" y="2128169"/>
            <a:ext cx="9144003" cy="183503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4"/>
          <p:cNvSpPr txBox="1"/>
          <p:nvPr>
            <p:ph type="title"/>
          </p:nvPr>
        </p:nvSpPr>
        <p:spPr>
          <a:xfrm>
            <a:off x="311725" y="500925"/>
            <a:ext cx="8520600" cy="623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Matriz de Confusão TESTE 3 (Toxicidade): Few-shot</a:t>
            </a:r>
            <a:endParaRPr/>
          </a:p>
        </p:txBody>
      </p:sp>
      <p:pic>
        <p:nvPicPr>
          <p:cNvPr id="193" name="Google Shape;193;p34" title="download.png"/>
          <p:cNvPicPr preferRelativeResize="0"/>
          <p:nvPr/>
        </p:nvPicPr>
        <p:blipFill>
          <a:blip r:embed="rId3">
            <a:alphaModFix/>
          </a:blip>
          <a:stretch>
            <a:fillRect/>
          </a:stretch>
        </p:blipFill>
        <p:spPr>
          <a:xfrm>
            <a:off x="0" y="2143857"/>
            <a:ext cx="9144003" cy="183504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5"/>
          <p:cNvSpPr txBox="1"/>
          <p:nvPr>
            <p:ph type="title"/>
          </p:nvPr>
        </p:nvSpPr>
        <p:spPr>
          <a:xfrm>
            <a:off x="311725" y="500925"/>
            <a:ext cx="8520600" cy="623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Matriz de Confusão TESTE 4 (Misoginia): Few-shot</a:t>
            </a:r>
            <a:endParaRPr/>
          </a:p>
        </p:txBody>
      </p:sp>
      <p:pic>
        <p:nvPicPr>
          <p:cNvPr id="199" name="Google Shape;199;p35" title="download.png"/>
          <p:cNvPicPr preferRelativeResize="0"/>
          <p:nvPr/>
        </p:nvPicPr>
        <p:blipFill>
          <a:blip r:embed="rId3">
            <a:alphaModFix/>
          </a:blip>
          <a:stretch>
            <a:fillRect/>
          </a:stretch>
        </p:blipFill>
        <p:spPr>
          <a:xfrm>
            <a:off x="0" y="2136007"/>
            <a:ext cx="9144003" cy="183504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6"/>
          <p:cNvSpPr txBox="1"/>
          <p:nvPr>
            <p:ph type="title"/>
          </p:nvPr>
        </p:nvSpPr>
        <p:spPr>
          <a:xfrm>
            <a:off x="311725" y="500925"/>
            <a:ext cx="8520600" cy="623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Matriz de Confusão TESTE 4 (Toxicidade): Few-shot</a:t>
            </a:r>
            <a:endParaRPr/>
          </a:p>
        </p:txBody>
      </p:sp>
      <p:pic>
        <p:nvPicPr>
          <p:cNvPr id="205" name="Google Shape;205;p36" title="download.png"/>
          <p:cNvPicPr preferRelativeResize="0"/>
          <p:nvPr/>
        </p:nvPicPr>
        <p:blipFill>
          <a:blip r:embed="rId3">
            <a:alphaModFix/>
          </a:blip>
          <a:stretch>
            <a:fillRect/>
          </a:stretch>
        </p:blipFill>
        <p:spPr>
          <a:xfrm>
            <a:off x="0" y="2134100"/>
            <a:ext cx="9143997" cy="183503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7"/>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An</a:t>
            </a:r>
            <a:r>
              <a:rPr lang="pt-BR"/>
              <a:t>álise dos casos de erro</a:t>
            </a:r>
            <a:endParaRPr/>
          </a:p>
        </p:txBody>
      </p:sp>
      <p:sp>
        <p:nvSpPr>
          <p:cNvPr id="211" name="Google Shape;211;p37"/>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pt-BR" sz="1100">
                <a:latin typeface="Arial"/>
                <a:ea typeface="Arial"/>
                <a:cs typeface="Arial"/>
                <a:sym typeface="Arial"/>
              </a:rPr>
              <a:t>Análise Zero-Shot</a:t>
            </a:r>
            <a:endParaRPr b="1" sz="1100">
              <a:latin typeface="Arial"/>
              <a:ea typeface="Arial"/>
              <a:cs typeface="Arial"/>
              <a:sym typeface="Arial"/>
            </a:endParaRPr>
          </a:p>
          <a:p>
            <a:pPr indent="-298450" lvl="0" marL="457200" rtl="0" algn="l">
              <a:spcBef>
                <a:spcPts val="1200"/>
              </a:spcBef>
              <a:spcAft>
                <a:spcPts val="0"/>
              </a:spcAft>
              <a:buClr>
                <a:schemeClr val="dk2"/>
              </a:buClr>
              <a:buSzPts val="1100"/>
              <a:buFont typeface="Arial"/>
              <a:buChar char="●"/>
            </a:pPr>
            <a:r>
              <a:rPr lang="pt-BR" sz="1100">
                <a:latin typeface="Arial"/>
                <a:ea typeface="Arial"/>
                <a:cs typeface="Arial"/>
                <a:sym typeface="Arial"/>
              </a:rPr>
              <a:t>Para cada um dos 4 testes, foram selecionados 10 casos de erro para análise detalhada.</a:t>
            </a:r>
            <a:endParaRPr sz="1100">
              <a:latin typeface="Arial"/>
              <a:ea typeface="Arial"/>
              <a:cs typeface="Arial"/>
              <a:sym typeface="Arial"/>
            </a:endParaRPr>
          </a:p>
          <a:p>
            <a:pPr indent="-298450" lvl="0" marL="457200" rtl="0" algn="l">
              <a:spcBef>
                <a:spcPts val="0"/>
              </a:spcBef>
              <a:spcAft>
                <a:spcPts val="0"/>
              </a:spcAft>
              <a:buClr>
                <a:schemeClr val="dk2"/>
              </a:buClr>
              <a:buSzPts val="1100"/>
              <a:buFont typeface="Arial"/>
              <a:buChar char="●"/>
            </a:pPr>
            <a:r>
              <a:rPr lang="pt-BR" sz="1100">
                <a:latin typeface="Arial"/>
                <a:ea typeface="Arial"/>
                <a:cs typeface="Arial"/>
                <a:sym typeface="Arial"/>
              </a:rPr>
              <a:t>A seleção foi dividida igualmente:</a:t>
            </a:r>
            <a:endParaRPr sz="1100">
              <a:latin typeface="Arial"/>
              <a:ea typeface="Arial"/>
              <a:cs typeface="Arial"/>
              <a:sym typeface="Arial"/>
            </a:endParaRPr>
          </a:p>
          <a:p>
            <a:pPr indent="-298450" lvl="1" marL="914400" rtl="0" algn="l">
              <a:spcBef>
                <a:spcPts val="0"/>
              </a:spcBef>
              <a:spcAft>
                <a:spcPts val="0"/>
              </a:spcAft>
              <a:buClr>
                <a:schemeClr val="dk2"/>
              </a:buClr>
              <a:buSzPts val="1100"/>
              <a:buFont typeface="Arial"/>
              <a:buChar char="○"/>
            </a:pPr>
            <a:r>
              <a:rPr lang="pt-BR">
                <a:latin typeface="Arial"/>
                <a:ea typeface="Arial"/>
                <a:cs typeface="Arial"/>
                <a:sym typeface="Arial"/>
              </a:rPr>
              <a:t>5 erros do tipo </a:t>
            </a:r>
            <a:r>
              <a:rPr b="1" lang="pt-BR">
                <a:latin typeface="Arial"/>
                <a:ea typeface="Arial"/>
                <a:cs typeface="Arial"/>
                <a:sym typeface="Arial"/>
              </a:rPr>
              <a:t>Falso Positivo</a:t>
            </a:r>
            <a:r>
              <a:rPr lang="pt-BR">
                <a:latin typeface="Arial"/>
                <a:ea typeface="Arial"/>
                <a:cs typeface="Arial"/>
                <a:sym typeface="Arial"/>
              </a:rPr>
              <a:t> (Rótulo verdadeiro = 0; Classificação do modelo = 1).</a:t>
            </a:r>
            <a:endParaRPr>
              <a:latin typeface="Arial"/>
              <a:ea typeface="Arial"/>
              <a:cs typeface="Arial"/>
              <a:sym typeface="Arial"/>
            </a:endParaRPr>
          </a:p>
          <a:p>
            <a:pPr indent="-298450" lvl="1" marL="914400" rtl="0" algn="l">
              <a:spcBef>
                <a:spcPts val="0"/>
              </a:spcBef>
              <a:spcAft>
                <a:spcPts val="0"/>
              </a:spcAft>
              <a:buClr>
                <a:schemeClr val="dk2"/>
              </a:buClr>
              <a:buSzPts val="1100"/>
              <a:buFont typeface="Arial"/>
              <a:buChar char="○"/>
            </a:pPr>
            <a:r>
              <a:rPr lang="pt-BR">
                <a:latin typeface="Arial"/>
                <a:ea typeface="Arial"/>
                <a:cs typeface="Arial"/>
                <a:sym typeface="Arial"/>
              </a:rPr>
              <a:t>5 erros do tipo </a:t>
            </a:r>
            <a:r>
              <a:rPr b="1" lang="pt-BR">
                <a:latin typeface="Arial"/>
                <a:ea typeface="Arial"/>
                <a:cs typeface="Arial"/>
                <a:sym typeface="Arial"/>
              </a:rPr>
              <a:t>Falso Negativo</a:t>
            </a:r>
            <a:r>
              <a:rPr lang="pt-BR">
                <a:latin typeface="Arial"/>
                <a:ea typeface="Arial"/>
                <a:cs typeface="Arial"/>
                <a:sym typeface="Arial"/>
              </a:rPr>
              <a:t> (Rótulo verdadeiro = 1; Classificação do modelo = 0).</a:t>
            </a:r>
            <a:endParaRPr>
              <a:latin typeface="Arial"/>
              <a:ea typeface="Arial"/>
              <a:cs typeface="Arial"/>
              <a:sym typeface="Arial"/>
            </a:endParaRPr>
          </a:p>
          <a:p>
            <a:pPr indent="0" lvl="0" marL="0" rtl="0" algn="l">
              <a:spcBef>
                <a:spcPts val="1200"/>
              </a:spcBef>
              <a:spcAft>
                <a:spcPts val="0"/>
              </a:spcAft>
              <a:buNone/>
            </a:pPr>
            <a:r>
              <a:rPr b="1" lang="pt-BR" sz="1100">
                <a:latin typeface="Arial"/>
                <a:ea typeface="Arial"/>
                <a:cs typeface="Arial"/>
                <a:sym typeface="Arial"/>
              </a:rPr>
              <a:t>Análise Few-Shot</a:t>
            </a:r>
            <a:endParaRPr b="1" sz="1100">
              <a:latin typeface="Arial"/>
              <a:ea typeface="Arial"/>
              <a:cs typeface="Arial"/>
              <a:sym typeface="Arial"/>
            </a:endParaRPr>
          </a:p>
          <a:p>
            <a:pPr indent="-298450" lvl="0" marL="457200" rtl="0" algn="l">
              <a:spcBef>
                <a:spcPts val="1200"/>
              </a:spcBef>
              <a:spcAft>
                <a:spcPts val="0"/>
              </a:spcAft>
              <a:buClr>
                <a:schemeClr val="dk2"/>
              </a:buClr>
              <a:buSzPts val="1100"/>
              <a:buFont typeface="Arial"/>
              <a:buChar char="●"/>
            </a:pPr>
            <a:r>
              <a:rPr lang="pt-BR" sz="1100">
                <a:latin typeface="Arial"/>
                <a:ea typeface="Arial"/>
                <a:cs typeface="Arial"/>
                <a:sym typeface="Arial"/>
              </a:rPr>
              <a:t>Para gerenciar a alta quantidade de testes, os resultados dos diferentes </a:t>
            </a:r>
            <a:r>
              <a:rPr i="1" lang="pt-BR" sz="1100">
                <a:latin typeface="Arial"/>
                <a:ea typeface="Arial"/>
                <a:cs typeface="Arial"/>
                <a:sym typeface="Arial"/>
              </a:rPr>
              <a:t>folds</a:t>
            </a:r>
            <a:r>
              <a:rPr lang="pt-BR" sz="1100">
                <a:latin typeface="Arial"/>
                <a:ea typeface="Arial"/>
                <a:cs typeface="Arial"/>
                <a:sym typeface="Arial"/>
              </a:rPr>
              <a:t> foram agrupados por número de amostra.</a:t>
            </a:r>
            <a:endParaRPr sz="1100">
              <a:latin typeface="Arial"/>
              <a:ea typeface="Arial"/>
              <a:cs typeface="Arial"/>
              <a:sym typeface="Arial"/>
            </a:endParaRPr>
          </a:p>
          <a:p>
            <a:pPr indent="-298450" lvl="0" marL="457200" rtl="0" algn="l">
              <a:spcBef>
                <a:spcPts val="0"/>
              </a:spcBef>
              <a:spcAft>
                <a:spcPts val="0"/>
              </a:spcAft>
              <a:buClr>
                <a:schemeClr val="dk2"/>
              </a:buClr>
              <a:buSzPts val="1100"/>
              <a:buFont typeface="Arial"/>
              <a:buChar char="●"/>
            </a:pPr>
            <a:r>
              <a:rPr lang="pt-BR" sz="1100">
                <a:latin typeface="Arial"/>
                <a:ea typeface="Arial"/>
                <a:cs typeface="Arial"/>
                <a:sym typeface="Arial"/>
              </a:rPr>
              <a:t>Este processo resultou em 40 unidades de análise distintas.</a:t>
            </a:r>
            <a:endParaRPr sz="1100">
              <a:latin typeface="Arial"/>
              <a:ea typeface="Arial"/>
              <a:cs typeface="Arial"/>
              <a:sym typeface="Arial"/>
            </a:endParaRPr>
          </a:p>
          <a:p>
            <a:pPr indent="-298450" lvl="0" marL="457200" rtl="0" algn="l">
              <a:spcBef>
                <a:spcPts val="0"/>
              </a:spcBef>
              <a:spcAft>
                <a:spcPts val="0"/>
              </a:spcAft>
              <a:buClr>
                <a:schemeClr val="dk2"/>
              </a:buClr>
              <a:buSzPts val="1100"/>
              <a:buFont typeface="Arial"/>
              <a:buChar char="●"/>
            </a:pPr>
            <a:r>
              <a:rPr lang="pt-BR" sz="1100">
                <a:latin typeface="Arial"/>
                <a:ea typeface="Arial"/>
                <a:cs typeface="Arial"/>
                <a:sym typeface="Arial"/>
              </a:rPr>
              <a:t>A identificação do </a:t>
            </a:r>
            <a:r>
              <a:rPr i="1" lang="pt-BR" sz="1100">
                <a:latin typeface="Arial"/>
                <a:ea typeface="Arial"/>
                <a:cs typeface="Arial"/>
                <a:sym typeface="Arial"/>
              </a:rPr>
              <a:t>fold</a:t>
            </a:r>
            <a:r>
              <a:rPr lang="pt-BR" sz="1100">
                <a:latin typeface="Arial"/>
                <a:ea typeface="Arial"/>
                <a:cs typeface="Arial"/>
                <a:sym typeface="Arial"/>
              </a:rPr>
              <a:t> original de cada comentário foi mantida para permitir a consulta aos exemplos específicos que influenciaram a classificação do modelo em cada caso</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8"/>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An</a:t>
            </a:r>
            <a:r>
              <a:rPr lang="pt-BR"/>
              <a:t>álise dos casos de erro</a:t>
            </a:r>
            <a:endParaRPr/>
          </a:p>
        </p:txBody>
      </p:sp>
      <p:sp>
        <p:nvSpPr>
          <p:cNvPr id="217" name="Google Shape;217;p38"/>
          <p:cNvSpPr txBox="1"/>
          <p:nvPr/>
        </p:nvSpPr>
        <p:spPr>
          <a:xfrm>
            <a:off x="525300" y="1456950"/>
            <a:ext cx="8093400" cy="329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pt-BR" sz="1300">
                <a:solidFill>
                  <a:schemeClr val="dk2"/>
                </a:solidFill>
                <a:latin typeface="Roboto"/>
                <a:ea typeface="Roboto"/>
                <a:cs typeface="Roboto"/>
                <a:sym typeface="Roboto"/>
              </a:rPr>
              <a:t>Zero Shot - Misoginia</a:t>
            </a:r>
            <a:endParaRPr b="1" sz="1300">
              <a:solidFill>
                <a:schemeClr val="dk2"/>
              </a:solidFill>
              <a:latin typeface="Roboto"/>
              <a:ea typeface="Roboto"/>
              <a:cs typeface="Roboto"/>
              <a:sym typeface="Roboto"/>
            </a:endParaRPr>
          </a:p>
          <a:p>
            <a:pPr indent="0" lvl="0" marL="0" rtl="0" algn="l">
              <a:lnSpc>
                <a:spcPct val="115000"/>
              </a:lnSpc>
              <a:spcBef>
                <a:spcPts val="1200"/>
              </a:spcBef>
              <a:spcAft>
                <a:spcPts val="0"/>
              </a:spcAft>
              <a:buNone/>
            </a:pPr>
            <a:r>
              <a:rPr lang="pt-BR" sz="1100">
                <a:solidFill>
                  <a:schemeClr val="lt2"/>
                </a:solidFill>
              </a:rPr>
              <a:t>Observou-se um padrão de erros em comum entre os quatro testes, indicando limitações fundamentais do modelo ao operar sem exemplos diretos:</a:t>
            </a:r>
            <a:endParaRPr sz="1100">
              <a:solidFill>
                <a:schemeClr val="lt2"/>
              </a:solidFill>
            </a:endParaRPr>
          </a:p>
          <a:p>
            <a:pPr indent="-298450" lvl="0" marL="457200" rtl="0" algn="l">
              <a:lnSpc>
                <a:spcPct val="115000"/>
              </a:lnSpc>
              <a:spcBef>
                <a:spcPts val="1200"/>
              </a:spcBef>
              <a:spcAft>
                <a:spcPts val="0"/>
              </a:spcAft>
              <a:buClr>
                <a:schemeClr val="lt2"/>
              </a:buClr>
              <a:buSzPts val="1100"/>
              <a:buChar char="●"/>
            </a:pPr>
            <a:r>
              <a:rPr b="1" lang="pt-BR" sz="1100">
                <a:solidFill>
                  <a:schemeClr val="lt2"/>
                </a:solidFill>
              </a:rPr>
              <a:t>Generalização Excessiva:</a:t>
            </a:r>
            <a:r>
              <a:rPr lang="pt-BR" sz="1100">
                <a:solidFill>
                  <a:schemeClr val="lt2"/>
                </a:solidFill>
              </a:rPr>
              <a:t> O modelo frequentemente confunde qualquer crítica ou termo negativo associado a mulheres com misoginia, falhando em diferenciar ataques de gênero de críticas a comportamentos individuais.</a:t>
            </a:r>
            <a:br>
              <a:rPr lang="pt-BR" sz="1100">
                <a:solidFill>
                  <a:schemeClr val="lt2"/>
                </a:solidFill>
              </a:rPr>
            </a:br>
            <a:endParaRPr sz="1100">
              <a:solidFill>
                <a:schemeClr val="lt2"/>
              </a:solidFill>
            </a:endParaRPr>
          </a:p>
          <a:p>
            <a:pPr indent="-298450" lvl="0" marL="457200" rtl="0" algn="l">
              <a:lnSpc>
                <a:spcPct val="115000"/>
              </a:lnSpc>
              <a:spcBef>
                <a:spcPts val="0"/>
              </a:spcBef>
              <a:spcAft>
                <a:spcPts val="0"/>
              </a:spcAft>
              <a:buClr>
                <a:schemeClr val="lt2"/>
              </a:buClr>
              <a:buSzPts val="1100"/>
              <a:buChar char="●"/>
            </a:pPr>
            <a:r>
              <a:rPr b="1" lang="pt-BR" sz="1100">
                <a:solidFill>
                  <a:schemeClr val="lt2"/>
                </a:solidFill>
              </a:rPr>
              <a:t>Dificuldade com Linguagem Implícita:</a:t>
            </a:r>
            <a:r>
              <a:rPr lang="pt-BR" sz="1100">
                <a:solidFill>
                  <a:schemeClr val="lt2"/>
                </a:solidFill>
              </a:rPr>
              <a:t> Sarcasmo, ironia e subtexto são as maiores fontes de erro. O modelo realiza uma análise literal e não consegue capturar a intenção pragmática por trás das palavras.</a:t>
            </a:r>
            <a:br>
              <a:rPr lang="pt-BR" sz="1100">
                <a:solidFill>
                  <a:schemeClr val="lt2"/>
                </a:solidFill>
              </a:rPr>
            </a:br>
            <a:endParaRPr sz="1100">
              <a:solidFill>
                <a:schemeClr val="lt2"/>
              </a:solidFill>
            </a:endParaRPr>
          </a:p>
          <a:p>
            <a:pPr indent="-298450" lvl="0" marL="457200" rtl="0" algn="l">
              <a:lnSpc>
                <a:spcPct val="115000"/>
              </a:lnSpc>
              <a:spcBef>
                <a:spcPts val="0"/>
              </a:spcBef>
              <a:spcAft>
                <a:spcPts val="0"/>
              </a:spcAft>
              <a:buClr>
                <a:schemeClr val="lt2"/>
              </a:buClr>
              <a:buSzPts val="1100"/>
              <a:buChar char="●"/>
            </a:pPr>
            <a:r>
              <a:rPr b="1" lang="pt-BR" sz="1100">
                <a:solidFill>
                  <a:schemeClr val="lt2"/>
                </a:solidFill>
              </a:rPr>
              <a:t>Desconhecimento de Jargões:</a:t>
            </a:r>
            <a:r>
              <a:rPr lang="pt-BR" sz="1100">
                <a:solidFill>
                  <a:schemeClr val="lt2"/>
                </a:solidFill>
              </a:rPr>
              <a:t> O classificador não compreende gírias de subculturas da internet (</a:t>
            </a:r>
            <a:r>
              <a:rPr lang="pt-BR" sz="1100">
                <a:solidFill>
                  <a:schemeClr val="accent5"/>
                </a:solidFill>
                <a:latin typeface="Roboto Mono"/>
                <a:ea typeface="Roboto Mono"/>
                <a:cs typeface="Roboto Mono"/>
                <a:sym typeface="Roboto Mono"/>
              </a:rPr>
              <a:t>msol</a:t>
            </a:r>
            <a:r>
              <a:rPr lang="pt-BR" sz="1100">
                <a:solidFill>
                  <a:schemeClr val="accent5"/>
                </a:solidFill>
              </a:rPr>
              <a:t>, </a:t>
            </a:r>
            <a:r>
              <a:rPr lang="pt-BR" sz="1100">
                <a:solidFill>
                  <a:schemeClr val="accent5"/>
                </a:solidFill>
                <a:latin typeface="Roboto Mono"/>
                <a:ea typeface="Roboto Mono"/>
                <a:cs typeface="Roboto Mono"/>
                <a:sym typeface="Roboto Mono"/>
              </a:rPr>
              <a:t>gp,job</a:t>
            </a:r>
            <a:r>
              <a:rPr lang="pt-BR" sz="1100">
                <a:solidFill>
                  <a:schemeClr val="lt2"/>
                </a:solidFill>
              </a:rPr>
              <a:t>) ou termos ideológicos (</a:t>
            </a:r>
            <a:r>
              <a:rPr lang="pt-BR" sz="1100">
                <a:solidFill>
                  <a:schemeClr val="accent5"/>
                </a:solidFill>
                <a:latin typeface="Roboto Mono"/>
                <a:ea typeface="Roboto Mono"/>
                <a:cs typeface="Roboto Mono"/>
                <a:sym typeface="Roboto Mono"/>
              </a:rPr>
              <a:t>Ginocentrismo</a:t>
            </a:r>
            <a:r>
              <a:rPr lang="pt-BR" sz="1100">
                <a:solidFill>
                  <a:schemeClr val="lt2"/>
                </a:solidFill>
              </a:rPr>
              <a:t>), resultando em falsos negativos.</a:t>
            </a:r>
            <a:br>
              <a:rPr lang="pt-BR" sz="1100">
                <a:solidFill>
                  <a:schemeClr val="lt2"/>
                </a:solidFill>
              </a:rPr>
            </a:br>
            <a:endParaRPr sz="1100">
              <a:solidFill>
                <a:schemeClr val="lt2"/>
              </a:solidFill>
            </a:endParaRPr>
          </a:p>
          <a:p>
            <a:pPr indent="-298450" lvl="0" marL="457200" rtl="0" algn="l">
              <a:lnSpc>
                <a:spcPct val="115000"/>
              </a:lnSpc>
              <a:spcBef>
                <a:spcPts val="0"/>
              </a:spcBef>
              <a:spcAft>
                <a:spcPts val="0"/>
              </a:spcAft>
              <a:buClr>
                <a:schemeClr val="lt2"/>
              </a:buClr>
              <a:buSzPts val="1100"/>
              <a:buChar char="●"/>
            </a:pPr>
            <a:r>
              <a:rPr b="1" lang="pt-BR" sz="1100">
                <a:solidFill>
                  <a:schemeClr val="lt2"/>
                </a:solidFill>
              </a:rPr>
              <a:t>Erro de Polissemia:</a:t>
            </a:r>
            <a:r>
              <a:rPr lang="pt-BR" sz="1100">
                <a:solidFill>
                  <a:schemeClr val="lt2"/>
                </a:solidFill>
              </a:rPr>
              <a:t> O modelo falha em desambiguar palavras com múltiplos significados, interpretando-as de forma incorreta com base no contexto. Exemplo</a:t>
            </a:r>
            <a:r>
              <a:rPr b="1" lang="pt-BR" sz="1100">
                <a:solidFill>
                  <a:schemeClr val="lt2"/>
                </a:solidFill>
              </a:rPr>
              <a:t>:</a:t>
            </a:r>
            <a:r>
              <a:rPr lang="pt-BR" sz="1100">
                <a:solidFill>
                  <a:schemeClr val="lt2"/>
                </a:solidFill>
              </a:rPr>
              <a:t> Classificou </a:t>
            </a:r>
            <a:r>
              <a:rPr lang="pt-BR" sz="1100">
                <a:solidFill>
                  <a:schemeClr val="lt2"/>
                </a:solidFill>
                <a:latin typeface="Roboto Mono"/>
                <a:ea typeface="Roboto Mono"/>
                <a:cs typeface="Roboto Mono"/>
                <a:sym typeface="Roboto Mono"/>
              </a:rPr>
              <a:t>"</a:t>
            </a:r>
            <a:r>
              <a:rPr lang="pt-BR" sz="1100">
                <a:solidFill>
                  <a:schemeClr val="accent5"/>
                </a:solidFill>
                <a:latin typeface="Roboto Mono"/>
                <a:ea typeface="Roboto Mono"/>
                <a:cs typeface="Roboto Mono"/>
                <a:sym typeface="Roboto Mono"/>
              </a:rPr>
              <a:t>Rapaz minha mulher e foda</a:t>
            </a:r>
            <a:r>
              <a:rPr lang="pt-BR" sz="1100">
                <a:solidFill>
                  <a:schemeClr val="lt2"/>
                </a:solidFill>
                <a:latin typeface="Roboto Mono"/>
                <a:ea typeface="Roboto Mono"/>
                <a:cs typeface="Roboto Mono"/>
                <a:sym typeface="Roboto Mono"/>
              </a:rPr>
              <a:t>"</a:t>
            </a:r>
            <a:r>
              <a:rPr lang="pt-BR" sz="1100">
                <a:solidFill>
                  <a:schemeClr val="lt2"/>
                </a:solidFill>
              </a:rPr>
              <a:t> como misógino, interpretando "</a:t>
            </a:r>
            <a:r>
              <a:rPr lang="pt-BR" sz="1100">
                <a:solidFill>
                  <a:schemeClr val="accent5"/>
                </a:solidFill>
              </a:rPr>
              <a:t>foda</a:t>
            </a:r>
            <a:r>
              <a:rPr lang="pt-BR" sz="1100">
                <a:solidFill>
                  <a:schemeClr val="lt2"/>
                </a:solidFill>
              </a:rPr>
              <a:t>" em seu sentido negativo, e não como um elogio.</a:t>
            </a:r>
            <a:endParaRPr b="1" sz="1300">
              <a:solidFill>
                <a:schemeClr val="lt2"/>
              </a:solidFill>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9"/>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Análise dos casos de erro</a:t>
            </a:r>
            <a:endParaRPr/>
          </a:p>
        </p:txBody>
      </p:sp>
      <p:sp>
        <p:nvSpPr>
          <p:cNvPr id="223" name="Google Shape;223;p39"/>
          <p:cNvSpPr txBox="1"/>
          <p:nvPr/>
        </p:nvSpPr>
        <p:spPr>
          <a:xfrm>
            <a:off x="525300" y="1456950"/>
            <a:ext cx="8093400" cy="329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pt-BR" sz="1300">
                <a:solidFill>
                  <a:schemeClr val="dk2"/>
                </a:solidFill>
                <a:latin typeface="Roboto"/>
                <a:ea typeface="Roboto"/>
                <a:cs typeface="Roboto"/>
                <a:sym typeface="Roboto"/>
              </a:rPr>
              <a:t>Zero Shot - Toxicidade</a:t>
            </a:r>
            <a:endParaRPr b="1" sz="1300">
              <a:solidFill>
                <a:schemeClr val="dk2"/>
              </a:solidFill>
              <a:latin typeface="Roboto"/>
              <a:ea typeface="Roboto"/>
              <a:cs typeface="Roboto"/>
              <a:sym typeface="Roboto"/>
            </a:endParaRPr>
          </a:p>
          <a:p>
            <a:pPr indent="0" lvl="0" marL="0" rtl="0" algn="l">
              <a:spcBef>
                <a:spcPts val="0"/>
              </a:spcBef>
              <a:spcAft>
                <a:spcPts val="0"/>
              </a:spcAft>
              <a:buNone/>
            </a:pPr>
            <a:r>
              <a:rPr lang="pt-BR" sz="1300">
                <a:solidFill>
                  <a:schemeClr val="dk2"/>
                </a:solidFill>
                <a:latin typeface="Roboto"/>
                <a:ea typeface="Roboto"/>
                <a:cs typeface="Roboto"/>
                <a:sym typeface="Roboto"/>
              </a:rPr>
              <a:t>Em conteúdos que não eram tóxicos mas a LLM classificou como tóxicos, são repetitivos 3 perfis principais de conteúdo:</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pt-BR" sz="1300">
                <a:solidFill>
                  <a:schemeClr val="dk2"/>
                </a:solidFill>
                <a:latin typeface="Roboto"/>
                <a:ea typeface="Roboto"/>
                <a:cs typeface="Roboto"/>
                <a:sym typeface="Roboto"/>
              </a:rPr>
              <a:t>Possíveis acusações, porém gerais:  </a:t>
            </a:r>
            <a:r>
              <a:rPr lang="pt-BR" sz="1050">
                <a:solidFill>
                  <a:srgbClr val="1F1F1F"/>
                </a:solidFill>
                <a:highlight>
                  <a:srgbClr val="F7F7F7"/>
                </a:highlight>
              </a:rPr>
              <a:t>Estão destruído o bem privado de alguém!!!</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pt-BR" sz="1300">
                <a:solidFill>
                  <a:schemeClr val="dk2"/>
                </a:solidFill>
                <a:latin typeface="Roboto"/>
                <a:ea typeface="Roboto"/>
                <a:cs typeface="Roboto"/>
                <a:sym typeface="Roboto"/>
              </a:rPr>
              <a:t>Críticas ao conteúdo do vídeo, não necessariamente agressivas: </a:t>
            </a:r>
            <a:r>
              <a:rPr lang="pt-BR" sz="1050">
                <a:solidFill>
                  <a:srgbClr val="1F1F1F"/>
                </a:solidFill>
                <a:highlight>
                  <a:srgbClr val="EEEEEE"/>
                </a:highlight>
              </a:rPr>
              <a:t>chamaram duas mulheres contra o feminismo pra falar de feminismo, não teve contraponto, então não fez sentido algum porque não houve debate antagônico.</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pt-BR" sz="1300">
                <a:solidFill>
                  <a:schemeClr val="dk2"/>
                </a:solidFill>
                <a:latin typeface="Roboto"/>
                <a:ea typeface="Roboto"/>
                <a:cs typeface="Roboto"/>
                <a:sym typeface="Roboto"/>
              </a:rPr>
              <a:t>Sugestões mandatórias: </a:t>
            </a:r>
            <a:r>
              <a:rPr lang="pt-BR" sz="1050">
                <a:solidFill>
                  <a:srgbClr val="1F1F1F"/>
                </a:solidFill>
                <a:highlight>
                  <a:srgbClr val="EEEEEE"/>
                </a:highlight>
              </a:rPr>
              <a:t>O negócio é arrumar uma namorada que trabalhe e pague as contas dela. Dar presente e pagar algumas saídas tá de boa. Mas pagar todos os gastos dela na casa tá errado.</a:t>
            </a:r>
            <a:endParaRPr sz="1300">
              <a:solidFill>
                <a:schemeClr val="dk2"/>
              </a:solidFill>
              <a:latin typeface="Roboto"/>
              <a:ea typeface="Roboto"/>
              <a:cs typeface="Roboto"/>
              <a:sym typeface="Roboto"/>
            </a:endParaRPr>
          </a:p>
          <a:p>
            <a:pPr indent="0" lvl="0" marL="0" rtl="0" algn="l">
              <a:spcBef>
                <a:spcPts val="0"/>
              </a:spcBef>
              <a:spcAft>
                <a:spcPts val="0"/>
              </a:spcAft>
              <a:buNone/>
            </a:pPr>
            <a:r>
              <a:rPr lang="pt-BR" sz="1300">
                <a:solidFill>
                  <a:schemeClr val="dk2"/>
                </a:solidFill>
                <a:latin typeface="Roboto"/>
                <a:ea typeface="Roboto"/>
                <a:cs typeface="Roboto"/>
                <a:sym typeface="Roboto"/>
              </a:rPr>
              <a:t>Além disso, a LLM parece ter se confundido com a presença de expressões geralmente usadas em casos tóxicos, mas que no contexto dos comentários não eram (geralmente são comentários contrários a ações tóxicas ou comentários neutros): assediadores, cocaína, calúnia, redpillar…</a:t>
            </a:r>
            <a:endParaRPr sz="1300">
              <a:solidFill>
                <a:schemeClr val="dk2"/>
              </a:solidFill>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a:p>
            <a:pPr indent="0" lvl="0" marL="0" rtl="0" algn="l">
              <a:spcBef>
                <a:spcPts val="0"/>
              </a:spcBef>
              <a:spcAft>
                <a:spcPts val="0"/>
              </a:spcAft>
              <a:buNone/>
            </a:pPr>
            <a:r>
              <a:rPr lang="pt-BR" sz="1300">
                <a:solidFill>
                  <a:schemeClr val="dk2"/>
                </a:solidFill>
                <a:latin typeface="Roboto"/>
                <a:ea typeface="Roboto"/>
                <a:cs typeface="Roboto"/>
                <a:sym typeface="Roboto"/>
              </a:rPr>
              <a:t>Em conteúdos que eram tóxicos mas a LLM classificou como não tóxicos, foram identificadas expressões específicas ou com significados duais, como: msol, rapariga, digníssima, jamba, miquéias, “meu ovo”. Além disso, a llm parece ter dificuldade de identificar expressões que parecem críticas misturadas com certo sarcasmo, como: “não entendo o que ela fala blá, blá, blá, a mente dela funciona assim?”</a:t>
            </a:r>
            <a:endParaRPr sz="1300">
              <a:solidFill>
                <a:schemeClr val="dk2"/>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40"/>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Análise dos casos de erro</a:t>
            </a:r>
            <a:endParaRPr/>
          </a:p>
        </p:txBody>
      </p:sp>
      <p:sp>
        <p:nvSpPr>
          <p:cNvPr id="229" name="Google Shape;229;p40"/>
          <p:cNvSpPr txBox="1"/>
          <p:nvPr/>
        </p:nvSpPr>
        <p:spPr>
          <a:xfrm>
            <a:off x="176300" y="1357250"/>
            <a:ext cx="8558400" cy="3664800"/>
          </a:xfrm>
          <a:prstGeom prst="rect">
            <a:avLst/>
          </a:prstGeom>
          <a:no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pt-BR" sz="1300">
                <a:solidFill>
                  <a:schemeClr val="dk2"/>
                </a:solidFill>
                <a:latin typeface="Roboto"/>
                <a:ea typeface="Roboto"/>
                <a:cs typeface="Roboto"/>
                <a:sym typeface="Roboto"/>
              </a:rPr>
              <a:t>Few </a:t>
            </a:r>
            <a:r>
              <a:rPr b="1" lang="pt-BR" sz="1300">
                <a:solidFill>
                  <a:schemeClr val="dk2"/>
                </a:solidFill>
                <a:latin typeface="Roboto"/>
                <a:ea typeface="Roboto"/>
                <a:cs typeface="Roboto"/>
                <a:sym typeface="Roboto"/>
              </a:rPr>
              <a:t>Shot - Misoginia</a:t>
            </a:r>
            <a:endParaRPr b="1" sz="1300">
              <a:solidFill>
                <a:schemeClr val="dk2"/>
              </a:solidFill>
              <a:latin typeface="Roboto"/>
              <a:ea typeface="Roboto"/>
              <a:cs typeface="Roboto"/>
              <a:sym typeface="Roboto"/>
            </a:endParaRPr>
          </a:p>
          <a:p>
            <a:pPr indent="0" lvl="0" marL="0" rtl="0" algn="l">
              <a:spcBef>
                <a:spcPts val="0"/>
              </a:spcBef>
              <a:spcAft>
                <a:spcPts val="0"/>
              </a:spcAft>
              <a:buNone/>
            </a:pPr>
            <a:r>
              <a:rPr lang="pt-BR" sz="1300">
                <a:solidFill>
                  <a:schemeClr val="dk2"/>
                </a:solidFill>
                <a:latin typeface="Roboto"/>
                <a:ea typeface="Roboto"/>
                <a:cs typeface="Roboto"/>
                <a:sym typeface="Roboto"/>
              </a:rPr>
              <a:t>Em conteúdos que não eram misóginos mas a LLM classificou como misóginos, foram identificados sugestões mandatórias, mas não direcionadas diretamente a mulheres: “Vão lavar uma louça que é melhor” e comentários duais, que realmente geram dúvidas. O mesmo aconteceu para conteúdos que eram misóginos mas a LLM classificou como não misóginos: comentários que podem gerar dúvidas se são ou não misóginos (além de expressões específicas). Seguem alguns exemplos e a classificação (errada) da LLM:</a:t>
            </a:r>
            <a:endParaRPr sz="1300">
              <a:solidFill>
                <a:schemeClr val="dk2"/>
              </a:solidFill>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a:p>
            <a:pPr indent="0" lvl="0" marL="0" rtl="0" algn="l">
              <a:spcBef>
                <a:spcPts val="0"/>
              </a:spcBef>
              <a:spcAft>
                <a:spcPts val="0"/>
              </a:spcAft>
              <a:buNone/>
            </a:pPr>
            <a:r>
              <a:rPr lang="pt-BR" sz="900">
                <a:solidFill>
                  <a:srgbClr val="1F1F1F"/>
                </a:solidFill>
                <a:highlight>
                  <a:srgbClr val="CCCCCC"/>
                </a:highlight>
              </a:rPr>
              <a:t>Exatamente mano, tô saindo com os camaradas todos os dias, homem está chegando sim, principalmente a caras mais novos - 1</a:t>
            </a:r>
            <a:endParaRPr sz="900">
              <a:solidFill>
                <a:srgbClr val="1F1F1F"/>
              </a:solidFill>
              <a:highlight>
                <a:srgbClr val="CCCCCC"/>
              </a:highlight>
            </a:endParaRPr>
          </a:p>
          <a:p>
            <a:pPr indent="0" lvl="0" marL="0" rtl="0" algn="l">
              <a:spcBef>
                <a:spcPts val="0"/>
              </a:spcBef>
              <a:spcAft>
                <a:spcPts val="0"/>
              </a:spcAft>
              <a:buNone/>
            </a:pPr>
            <a:r>
              <a:rPr lang="pt-BR" sz="900">
                <a:solidFill>
                  <a:srgbClr val="1F1F1F"/>
                </a:solidFill>
                <a:highlight>
                  <a:srgbClr val="CCCCCC"/>
                </a:highlight>
              </a:rPr>
              <a:t>Cheguei mais rápido que modernete colocando short atolado pra ir no mercado com o Miqueias. - 0</a:t>
            </a:r>
            <a:endParaRPr sz="900">
              <a:solidFill>
                <a:srgbClr val="1F1F1F"/>
              </a:solidFill>
              <a:highlight>
                <a:srgbClr val="CCCCCC"/>
              </a:highlight>
            </a:endParaRPr>
          </a:p>
          <a:p>
            <a:pPr indent="0" lvl="0" marL="0" rtl="0" algn="l">
              <a:lnSpc>
                <a:spcPct val="115000"/>
              </a:lnSpc>
              <a:spcBef>
                <a:spcPts val="0"/>
              </a:spcBef>
              <a:spcAft>
                <a:spcPts val="0"/>
              </a:spcAft>
              <a:buNone/>
            </a:pPr>
            <a:r>
              <a:rPr lang="pt-BR" sz="900">
                <a:solidFill>
                  <a:srgbClr val="1F1F1F"/>
                </a:solidFill>
                <a:highlight>
                  <a:srgbClr val="CCCCCC"/>
                </a:highlight>
              </a:rPr>
              <a:t>Até que enfim uma mulher falando verdade -  0</a:t>
            </a:r>
            <a:endParaRPr sz="900">
              <a:solidFill>
                <a:srgbClr val="1F1F1F"/>
              </a:solidFill>
              <a:highlight>
                <a:srgbClr val="CCCCCC"/>
              </a:highlight>
            </a:endParaRPr>
          </a:p>
          <a:p>
            <a:pPr indent="0" lvl="0" marL="0" rtl="0" algn="l">
              <a:lnSpc>
                <a:spcPct val="115000"/>
              </a:lnSpc>
              <a:spcBef>
                <a:spcPts val="0"/>
              </a:spcBef>
              <a:spcAft>
                <a:spcPts val="0"/>
              </a:spcAft>
              <a:buNone/>
            </a:pPr>
            <a:r>
              <a:rPr lang="pt-BR" sz="900">
                <a:solidFill>
                  <a:srgbClr val="1F1F1F"/>
                </a:solidFill>
                <a:highlight>
                  <a:srgbClr val="CCCCCC"/>
                </a:highlight>
              </a:rPr>
              <a:t>Ela usou os 900 em alguma droga 😂😂 - 1</a:t>
            </a:r>
            <a:endParaRPr sz="900">
              <a:solidFill>
                <a:srgbClr val="1F1F1F"/>
              </a:solidFill>
              <a:highlight>
                <a:srgbClr val="CCCCCC"/>
              </a:highlight>
            </a:endParaRPr>
          </a:p>
          <a:p>
            <a:pPr indent="0" lvl="0" marL="0" rtl="0" algn="l">
              <a:lnSpc>
                <a:spcPct val="115000"/>
              </a:lnSpc>
              <a:spcBef>
                <a:spcPts val="0"/>
              </a:spcBef>
              <a:spcAft>
                <a:spcPts val="0"/>
              </a:spcAft>
              <a:buNone/>
            </a:pPr>
            <a:r>
              <a:rPr lang="pt-BR" sz="900">
                <a:solidFill>
                  <a:srgbClr val="1F1F1F"/>
                </a:solidFill>
                <a:highlight>
                  <a:srgbClr val="CCCCCC"/>
                </a:highlight>
              </a:rPr>
              <a:t>Sou uma mulher surtada e também é claro que ele tem que ter um par de chifres depois de tudo isso😂 - 1</a:t>
            </a:r>
            <a:endParaRPr sz="900">
              <a:solidFill>
                <a:srgbClr val="1F1F1F"/>
              </a:solidFill>
              <a:highlight>
                <a:srgbClr val="CCCCCC"/>
              </a:highlight>
            </a:endParaRPr>
          </a:p>
          <a:p>
            <a:pPr indent="0" lvl="0" marL="0" rtl="0" algn="l">
              <a:lnSpc>
                <a:spcPct val="115000"/>
              </a:lnSpc>
              <a:spcBef>
                <a:spcPts val="0"/>
              </a:spcBef>
              <a:spcAft>
                <a:spcPts val="0"/>
              </a:spcAft>
              <a:buNone/>
            </a:pPr>
            <a:r>
              <a:rPr lang="pt-BR" sz="900">
                <a:solidFill>
                  <a:srgbClr val="1F1F1F"/>
                </a:solidFill>
                <a:highlight>
                  <a:srgbClr val="CCCCCC"/>
                </a:highlight>
              </a:rPr>
              <a:t>Continue amostradinha ,até outra fazer sua passagem 😂😂😂😂 - 0</a:t>
            </a:r>
            <a:endParaRPr sz="900">
              <a:solidFill>
                <a:srgbClr val="1F1F1F"/>
              </a:solidFill>
              <a:highlight>
                <a:srgbClr val="CCCCCC"/>
              </a:highlight>
            </a:endParaRPr>
          </a:p>
          <a:p>
            <a:pPr indent="0" lvl="0" marL="0" rtl="0" algn="l">
              <a:lnSpc>
                <a:spcPct val="115000"/>
              </a:lnSpc>
              <a:spcBef>
                <a:spcPts val="0"/>
              </a:spcBef>
              <a:spcAft>
                <a:spcPts val="0"/>
              </a:spcAft>
              <a:buNone/>
            </a:pPr>
            <a:r>
              <a:rPr lang="pt-BR" sz="900">
                <a:solidFill>
                  <a:srgbClr val="1F1F1F"/>
                </a:solidFill>
                <a:highlight>
                  <a:srgbClr val="CCCCCC"/>
                </a:highlight>
              </a:rPr>
              <a:t>Isso não é verdade, tem mulheres honradas sim. Eu me converti criança e graças a Deus nunca fiz coisas erradas. Peco porque perfeição só em Jesus, mas nunca fiz sexo de nenhuma forma com ninguém, me guardo para meu futuro esposo. Tento ser uma pessoa melhor a cada dia. Não generalizem, assim como tem mulheres que não prestam, tem muitos homens também. Contudo, ainda tem pessoas de valor. - 0</a:t>
            </a:r>
            <a:endParaRPr sz="900">
              <a:solidFill>
                <a:srgbClr val="1F1F1F"/>
              </a:solidFill>
              <a:highlight>
                <a:srgbClr val="CCCCCC"/>
              </a:highlight>
            </a:endParaRPr>
          </a:p>
          <a:p>
            <a:pPr indent="0" lvl="0" marL="0" rtl="0" algn="l">
              <a:lnSpc>
                <a:spcPct val="115000"/>
              </a:lnSpc>
              <a:spcBef>
                <a:spcPts val="0"/>
              </a:spcBef>
              <a:spcAft>
                <a:spcPts val="0"/>
              </a:spcAft>
              <a:buNone/>
            </a:pPr>
            <a:r>
              <a:rPr lang="pt-BR" sz="900">
                <a:solidFill>
                  <a:srgbClr val="1F1F1F"/>
                </a:solidFill>
                <a:highlight>
                  <a:srgbClr val="CCCCCC"/>
                </a:highlight>
              </a:rPr>
              <a:t>Dizer bem , melhor pensar com a cabeça de cima do que com a cabeça de baixa ! E de quebra vai tá com o bolso cheiro ! - 1</a:t>
            </a:r>
            <a:endParaRPr sz="900">
              <a:solidFill>
                <a:srgbClr val="1F1F1F"/>
              </a:solidFill>
              <a:highlight>
                <a:srgbClr val="CCCCCC"/>
              </a:highlight>
            </a:endParaRPr>
          </a:p>
          <a:p>
            <a:pPr indent="0" lvl="0" marL="0" rtl="0" algn="l">
              <a:lnSpc>
                <a:spcPct val="115000"/>
              </a:lnSpc>
              <a:spcBef>
                <a:spcPts val="0"/>
              </a:spcBef>
              <a:spcAft>
                <a:spcPts val="0"/>
              </a:spcAft>
              <a:buNone/>
            </a:pPr>
            <a:r>
              <a:rPr lang="pt-BR" sz="900">
                <a:solidFill>
                  <a:srgbClr val="1F1F1F"/>
                </a:solidFill>
                <a:highlight>
                  <a:srgbClr val="CCCCCC"/>
                </a:highlight>
              </a:rPr>
              <a:t>isso o que ele disse sim, tu só quer problematizar a parada porque faz parte desse grupinho que ama emascular os homens. - 1</a:t>
            </a:r>
            <a:endParaRPr sz="900">
              <a:solidFill>
                <a:srgbClr val="1F1F1F"/>
              </a:solidFill>
              <a:highlight>
                <a:srgbClr val="CCCCCC"/>
              </a:highlight>
            </a:endParaRPr>
          </a:p>
          <a:p>
            <a:pPr indent="0" lvl="0" marL="0" rtl="0" algn="l">
              <a:lnSpc>
                <a:spcPct val="115000"/>
              </a:lnSpc>
              <a:spcBef>
                <a:spcPts val="0"/>
              </a:spcBef>
              <a:spcAft>
                <a:spcPts val="0"/>
              </a:spcAft>
              <a:buNone/>
            </a:pPr>
            <a:r>
              <a:rPr lang="pt-BR" sz="900">
                <a:solidFill>
                  <a:srgbClr val="1F1F1F"/>
                </a:solidFill>
                <a:highlight>
                  <a:srgbClr val="CCCCCC"/>
                </a:highlight>
              </a:rPr>
              <a:t>Mas aí sua irmã é uma vacilona - 1</a:t>
            </a:r>
            <a:endParaRPr sz="900">
              <a:solidFill>
                <a:srgbClr val="1F1F1F"/>
              </a:solidFill>
              <a:highlight>
                <a:srgbClr val="CCCCCC"/>
              </a:highlight>
            </a:endParaRPr>
          </a:p>
          <a:p>
            <a:pPr indent="0" lvl="0" marL="0" rtl="0" algn="l">
              <a:lnSpc>
                <a:spcPct val="115000"/>
              </a:lnSpc>
              <a:spcBef>
                <a:spcPts val="0"/>
              </a:spcBef>
              <a:spcAft>
                <a:spcPts val="0"/>
              </a:spcAft>
              <a:buNone/>
            </a:pPr>
            <a:r>
              <a:rPr lang="pt-BR" sz="900">
                <a:solidFill>
                  <a:srgbClr val="1F1F1F"/>
                </a:solidFill>
                <a:highlight>
                  <a:srgbClr val="CCCCCC"/>
                </a:highlight>
              </a:rPr>
              <a:t>Aí falam mal de GP olha essa aí 😂😂😂😂 - 0</a:t>
            </a:r>
            <a:endParaRPr sz="900">
              <a:solidFill>
                <a:srgbClr val="1F1F1F"/>
              </a:solidFill>
              <a:highlight>
                <a:srgbClr val="CCCCCC"/>
              </a:highlight>
            </a:endParaRPr>
          </a:p>
          <a:p>
            <a:pPr indent="0" lvl="0" marL="0" rtl="0" algn="l">
              <a:lnSpc>
                <a:spcPct val="115000"/>
              </a:lnSpc>
              <a:spcBef>
                <a:spcPts val="0"/>
              </a:spcBef>
              <a:spcAft>
                <a:spcPts val="0"/>
              </a:spcAft>
              <a:buNone/>
            </a:pPr>
            <a:r>
              <a:rPr lang="pt-BR" sz="900">
                <a:solidFill>
                  <a:srgbClr val="1F1F1F"/>
                </a:solidFill>
                <a:highlight>
                  <a:srgbClr val="CCCCCC"/>
                </a:highlight>
              </a:rPr>
              <a:t>Olha a voz dessa rapariga kkkkkk - 0</a:t>
            </a:r>
            <a:endParaRPr sz="900">
              <a:solidFill>
                <a:srgbClr val="1F1F1F"/>
              </a:solidFill>
              <a:highlight>
                <a:srgbClr val="CCCCCC"/>
              </a:highlight>
            </a:endParaRPr>
          </a:p>
          <a:p>
            <a:pPr indent="0" lvl="0" marL="0" rtl="0" algn="l">
              <a:lnSpc>
                <a:spcPct val="115000"/>
              </a:lnSpc>
              <a:spcBef>
                <a:spcPts val="0"/>
              </a:spcBef>
              <a:spcAft>
                <a:spcPts val="0"/>
              </a:spcAft>
              <a:buNone/>
            </a:pPr>
            <a:r>
              <a:rPr lang="pt-BR" sz="900">
                <a:solidFill>
                  <a:srgbClr val="1F1F1F"/>
                </a:solidFill>
                <a:highlight>
                  <a:srgbClr val="CCCCCC"/>
                </a:highlight>
              </a:rPr>
              <a:t>Hoje estou com vontade de comentar. Se ela tá ganhando mais e quer separar pede pensão - 1</a:t>
            </a:r>
            <a:endParaRPr sz="900">
              <a:solidFill>
                <a:srgbClr val="1F1F1F"/>
              </a:solidFill>
              <a:highlight>
                <a:srgbClr val="CCCCCC"/>
              </a:highlight>
            </a:endParaRPr>
          </a:p>
          <a:p>
            <a:pPr indent="0" lvl="0" marL="0" rtl="0" algn="l">
              <a:lnSpc>
                <a:spcPct val="115000"/>
              </a:lnSpc>
              <a:spcBef>
                <a:spcPts val="0"/>
              </a:spcBef>
              <a:spcAft>
                <a:spcPts val="0"/>
              </a:spcAft>
              <a:buNone/>
            </a:pPr>
            <a:r>
              <a:rPr lang="pt-BR" sz="900">
                <a:solidFill>
                  <a:srgbClr val="1F1F1F"/>
                </a:solidFill>
                <a:highlight>
                  <a:srgbClr val="CCCCCC"/>
                </a:highlight>
              </a:rPr>
              <a:t>Se afastem de problemas. Fiquem solteiros guerreiros - 0</a:t>
            </a:r>
            <a:endParaRPr sz="900">
              <a:solidFill>
                <a:srgbClr val="1F1F1F"/>
              </a:solidFill>
              <a:highlight>
                <a:srgbClr val="CCCCCC"/>
              </a:highlight>
            </a:endParaRPr>
          </a:p>
          <a:p>
            <a:pPr indent="0" lvl="0" marL="0" rtl="0" algn="l">
              <a:lnSpc>
                <a:spcPct val="115000"/>
              </a:lnSpc>
              <a:spcBef>
                <a:spcPts val="0"/>
              </a:spcBef>
              <a:spcAft>
                <a:spcPts val="0"/>
              </a:spcAft>
              <a:buNone/>
            </a:pPr>
            <a:r>
              <a:rPr lang="pt-BR" sz="900">
                <a:solidFill>
                  <a:srgbClr val="1F1F1F"/>
                </a:solidFill>
                <a:highlight>
                  <a:srgbClr val="CCCCCC"/>
                </a:highlight>
              </a:rPr>
              <a:t>E quando o cara já comeu todas😅 - 0</a:t>
            </a:r>
            <a:endParaRPr sz="900">
              <a:solidFill>
                <a:srgbClr val="1F1F1F"/>
              </a:solidFill>
              <a:highlight>
                <a:srgbClr val="CCCCCC"/>
              </a:highlight>
            </a:endParaRPr>
          </a:p>
          <a:p>
            <a:pPr indent="0" lvl="0" marL="0" rtl="0" algn="l">
              <a:lnSpc>
                <a:spcPct val="115000"/>
              </a:lnSpc>
              <a:spcBef>
                <a:spcPts val="0"/>
              </a:spcBef>
              <a:spcAft>
                <a:spcPts val="0"/>
              </a:spcAft>
              <a:buNone/>
            </a:pPr>
            <a:r>
              <a:rPr lang="pt-BR" sz="900">
                <a:solidFill>
                  <a:srgbClr val="1F1F1F"/>
                </a:solidFill>
                <a:highlight>
                  <a:srgbClr val="CCCCCC"/>
                </a:highlight>
              </a:rPr>
              <a:t>Mêsmo com esses relatos vai ficar com a sua mulher ainda? - 1</a:t>
            </a:r>
            <a:endParaRPr sz="900">
              <a:solidFill>
                <a:srgbClr val="1F1F1F"/>
              </a:solidFill>
              <a:highlight>
                <a:srgbClr val="CCCCCC"/>
              </a:high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41"/>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Análise dos casos de erro</a:t>
            </a:r>
            <a:endParaRPr/>
          </a:p>
        </p:txBody>
      </p:sp>
      <p:sp>
        <p:nvSpPr>
          <p:cNvPr id="235" name="Google Shape;235;p41"/>
          <p:cNvSpPr txBox="1"/>
          <p:nvPr/>
        </p:nvSpPr>
        <p:spPr>
          <a:xfrm>
            <a:off x="525300" y="1456950"/>
            <a:ext cx="8093400" cy="329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pt-BR" sz="1300">
                <a:solidFill>
                  <a:schemeClr val="dk2"/>
                </a:solidFill>
                <a:latin typeface="Roboto"/>
                <a:ea typeface="Roboto"/>
                <a:cs typeface="Roboto"/>
                <a:sym typeface="Roboto"/>
              </a:rPr>
              <a:t>Few </a:t>
            </a:r>
            <a:r>
              <a:rPr b="1" lang="pt-BR" sz="1300">
                <a:solidFill>
                  <a:schemeClr val="dk2"/>
                </a:solidFill>
                <a:latin typeface="Roboto"/>
                <a:ea typeface="Roboto"/>
                <a:cs typeface="Roboto"/>
                <a:sym typeface="Roboto"/>
              </a:rPr>
              <a:t>Shot - Toxicidade</a:t>
            </a:r>
            <a:endParaRPr b="1" sz="1300"/>
          </a:p>
          <a:p>
            <a:pPr indent="0" lvl="0" marL="0" rtl="0" algn="l">
              <a:lnSpc>
                <a:spcPct val="115000"/>
              </a:lnSpc>
              <a:spcBef>
                <a:spcPts val="1200"/>
              </a:spcBef>
              <a:spcAft>
                <a:spcPts val="0"/>
              </a:spcAft>
              <a:buNone/>
            </a:pPr>
            <a:r>
              <a:rPr lang="pt-BR" sz="1100">
                <a:solidFill>
                  <a:schemeClr val="dk2"/>
                </a:solidFill>
              </a:rPr>
              <a:t>Os erros nos modelos Few-Shot seguem padrões consistentes, revelando que, embora os exemplos ajudem, o modelo ainda opera de forma superficial:</a:t>
            </a:r>
            <a:endParaRPr sz="1100">
              <a:solidFill>
                <a:schemeClr val="dk2"/>
              </a:solidFill>
            </a:endParaRPr>
          </a:p>
          <a:p>
            <a:pPr indent="-298450" lvl="0" marL="457200" rtl="0" algn="l">
              <a:lnSpc>
                <a:spcPct val="115000"/>
              </a:lnSpc>
              <a:spcBef>
                <a:spcPts val="1200"/>
              </a:spcBef>
              <a:spcAft>
                <a:spcPts val="0"/>
              </a:spcAft>
              <a:buClr>
                <a:schemeClr val="dk2"/>
              </a:buClr>
              <a:buSzPts val="1100"/>
              <a:buChar char="●"/>
            </a:pPr>
            <a:r>
              <a:rPr b="1" lang="pt-BR" sz="1100">
                <a:solidFill>
                  <a:schemeClr val="dk2"/>
                </a:solidFill>
              </a:rPr>
              <a:t>Hipersensibilidade a Gatilhos Simples:</a:t>
            </a:r>
            <a:r>
              <a:rPr lang="pt-BR" sz="1100">
                <a:solidFill>
                  <a:schemeClr val="dk2"/>
                </a:solidFill>
              </a:rPr>
              <a:t> O modelo reage de forma exagerada a palavras-chave negativas (</a:t>
            </a:r>
            <a:r>
              <a:rPr lang="pt-BR" sz="1100">
                <a:solidFill>
                  <a:schemeClr val="accent5"/>
                </a:solidFill>
                <a:latin typeface="Roboto Mono"/>
                <a:ea typeface="Roboto Mono"/>
                <a:cs typeface="Roboto Mono"/>
                <a:sym typeface="Roboto Mono"/>
              </a:rPr>
              <a:t>morte</a:t>
            </a:r>
            <a:r>
              <a:rPr lang="pt-BR" sz="1100">
                <a:solidFill>
                  <a:schemeClr val="accent5"/>
                </a:solidFill>
              </a:rPr>
              <a:t>, </a:t>
            </a:r>
            <a:r>
              <a:rPr lang="pt-BR" sz="1100">
                <a:solidFill>
                  <a:schemeClr val="accent5"/>
                </a:solidFill>
                <a:latin typeface="Roboto Mono"/>
                <a:ea typeface="Roboto Mono"/>
                <a:cs typeface="Roboto Mono"/>
                <a:sym typeface="Roboto Mono"/>
              </a:rPr>
              <a:t>demônio</a:t>
            </a:r>
            <a:r>
              <a:rPr lang="pt-BR" sz="1100">
                <a:solidFill>
                  <a:schemeClr val="dk2"/>
                </a:solidFill>
              </a:rPr>
              <a:t>), uso de caixa alta e emojis (☠, 😂), classificando-os como tóxicos independentemente do contexto.</a:t>
            </a:r>
            <a:br>
              <a:rPr lang="pt-BR" sz="1100">
                <a:solidFill>
                  <a:schemeClr val="dk2"/>
                </a:solidFill>
              </a:rPr>
            </a:br>
            <a:endParaRPr sz="1100">
              <a:solidFill>
                <a:schemeClr val="dk2"/>
              </a:solidFill>
            </a:endParaRPr>
          </a:p>
          <a:p>
            <a:pPr indent="-298450" lvl="0" marL="457200" rtl="0" algn="l">
              <a:lnSpc>
                <a:spcPct val="115000"/>
              </a:lnSpc>
              <a:spcBef>
                <a:spcPts val="0"/>
              </a:spcBef>
              <a:spcAft>
                <a:spcPts val="0"/>
              </a:spcAft>
              <a:buClr>
                <a:schemeClr val="dk2"/>
              </a:buClr>
              <a:buSzPts val="1100"/>
              <a:buChar char="●"/>
            </a:pPr>
            <a:r>
              <a:rPr b="1" lang="pt-BR" sz="1100">
                <a:solidFill>
                  <a:schemeClr val="dk2"/>
                </a:solidFill>
              </a:rPr>
              <a:t>Incapacidade de Compreender Nuances:</a:t>
            </a:r>
            <a:r>
              <a:rPr lang="pt-BR" sz="1100">
                <a:solidFill>
                  <a:schemeClr val="dk2"/>
                </a:solidFill>
              </a:rPr>
              <a:t> Falha consistentemente em detectar ironia, sarcasmo, metáforas e duplo sentido, realizando uma análise literal do texto.</a:t>
            </a:r>
            <a:br>
              <a:rPr lang="pt-BR" sz="1100">
                <a:solidFill>
                  <a:schemeClr val="dk2"/>
                </a:solidFill>
              </a:rPr>
            </a:br>
            <a:endParaRPr sz="1100">
              <a:solidFill>
                <a:schemeClr val="dk2"/>
              </a:solidFill>
            </a:endParaRPr>
          </a:p>
          <a:p>
            <a:pPr indent="-298450" lvl="0" marL="457200" rtl="0" algn="l">
              <a:lnSpc>
                <a:spcPct val="115000"/>
              </a:lnSpc>
              <a:spcBef>
                <a:spcPts val="0"/>
              </a:spcBef>
              <a:spcAft>
                <a:spcPts val="0"/>
              </a:spcAft>
              <a:buClr>
                <a:schemeClr val="dk2"/>
              </a:buClr>
              <a:buSzPts val="1100"/>
              <a:buChar char="●"/>
            </a:pPr>
            <a:r>
              <a:rPr b="1" lang="pt-BR" sz="1100">
                <a:solidFill>
                  <a:schemeClr val="dk2"/>
                </a:solidFill>
              </a:rPr>
              <a:t>Desconhecimento de Domínio Específico:</a:t>
            </a:r>
            <a:r>
              <a:rPr lang="pt-BR" sz="1100">
                <a:solidFill>
                  <a:schemeClr val="dk2"/>
                </a:solidFill>
              </a:rPr>
              <a:t> Não reconhece jargões e gírias de nichos da internet (</a:t>
            </a:r>
            <a:r>
              <a:rPr lang="pt-BR" sz="1100">
                <a:solidFill>
                  <a:schemeClr val="accent5"/>
                </a:solidFill>
                <a:latin typeface="Roboto Mono"/>
                <a:ea typeface="Roboto Mono"/>
                <a:cs typeface="Roboto Mono"/>
                <a:sym typeface="Roboto Mono"/>
              </a:rPr>
              <a:t>Miqueias</a:t>
            </a:r>
            <a:r>
              <a:rPr lang="pt-BR" sz="1100">
                <a:solidFill>
                  <a:schemeClr val="accent5"/>
                </a:solidFill>
              </a:rPr>
              <a:t>, </a:t>
            </a:r>
            <a:r>
              <a:rPr lang="pt-BR" sz="1100">
                <a:solidFill>
                  <a:schemeClr val="accent5"/>
                </a:solidFill>
                <a:latin typeface="Roboto Mono"/>
                <a:ea typeface="Roboto Mono"/>
                <a:cs typeface="Roboto Mono"/>
                <a:sym typeface="Roboto Mono"/>
              </a:rPr>
              <a:t>modernete</a:t>
            </a:r>
            <a:r>
              <a:rPr lang="pt-BR" sz="1100">
                <a:solidFill>
                  <a:schemeClr val="accent5"/>
                </a:solidFill>
              </a:rPr>
              <a:t>, </a:t>
            </a:r>
            <a:r>
              <a:rPr lang="pt-BR" sz="1100">
                <a:solidFill>
                  <a:schemeClr val="accent5"/>
                </a:solidFill>
                <a:latin typeface="Roboto Mono"/>
                <a:ea typeface="Roboto Mono"/>
                <a:cs typeface="Roboto Mono"/>
                <a:sym typeface="Roboto Mono"/>
              </a:rPr>
              <a:t>bqt</a:t>
            </a:r>
            <a:r>
              <a:rPr lang="pt-BR" sz="1100">
                <a:solidFill>
                  <a:schemeClr val="accent5"/>
                </a:solidFill>
              </a:rPr>
              <a:t>, </a:t>
            </a:r>
            <a:r>
              <a:rPr lang="pt-BR" sz="1100">
                <a:solidFill>
                  <a:schemeClr val="accent5"/>
                </a:solidFill>
                <a:latin typeface="Roboto Mono"/>
                <a:ea typeface="Roboto Mono"/>
                <a:cs typeface="Roboto Mono"/>
                <a:sym typeface="Roboto Mono"/>
              </a:rPr>
              <a:t>Gado, job, msol</a:t>
            </a:r>
            <a:r>
              <a:rPr lang="pt-BR" sz="1100">
                <a:solidFill>
                  <a:schemeClr val="dk2"/>
                </a:solidFill>
              </a:rPr>
              <a:t>), o que leva a muitos falsos negativos.</a:t>
            </a:r>
            <a:br>
              <a:rPr lang="pt-BR" sz="1100">
                <a:solidFill>
                  <a:schemeClr val="dk2"/>
                </a:solidFill>
              </a:rPr>
            </a:br>
            <a:endParaRPr sz="1100">
              <a:solidFill>
                <a:schemeClr val="dk2"/>
              </a:solidFill>
            </a:endParaRPr>
          </a:p>
          <a:p>
            <a:pPr indent="-298450" lvl="0" marL="457200" rtl="0" algn="l">
              <a:lnSpc>
                <a:spcPct val="115000"/>
              </a:lnSpc>
              <a:spcBef>
                <a:spcPts val="0"/>
              </a:spcBef>
              <a:spcAft>
                <a:spcPts val="0"/>
              </a:spcAft>
              <a:buClr>
                <a:schemeClr val="dk2"/>
              </a:buClr>
              <a:buSzPts val="1100"/>
              <a:buChar char="●"/>
            </a:pPr>
            <a:r>
              <a:rPr b="1" lang="pt-BR" sz="1100">
                <a:solidFill>
                  <a:schemeClr val="dk2"/>
                </a:solidFill>
              </a:rPr>
              <a:t>Escopo Incorreto de Toxicidade:</a:t>
            </a:r>
            <a:r>
              <a:rPr lang="pt-BR" sz="1100">
                <a:solidFill>
                  <a:schemeClr val="dk2"/>
                </a:solidFill>
              </a:rPr>
              <a:t> Confunde críticas a objetos, conceitos abstratos ou instituições (</a:t>
            </a:r>
            <a:r>
              <a:rPr lang="pt-BR" sz="1100">
                <a:solidFill>
                  <a:schemeClr val="accent5"/>
                </a:solidFill>
                <a:latin typeface="Roboto Mono"/>
                <a:ea typeface="Roboto Mono"/>
                <a:cs typeface="Roboto Mono"/>
                <a:sym typeface="Roboto Mono"/>
              </a:rPr>
              <a:t>"MÚSICAS BRASILEIRAS"</a:t>
            </a:r>
            <a:r>
              <a:rPr lang="pt-BR" sz="1100">
                <a:solidFill>
                  <a:schemeClr val="accent5"/>
                </a:solidFill>
              </a:rPr>
              <a:t>, </a:t>
            </a:r>
            <a:r>
              <a:rPr lang="pt-BR" sz="1100">
                <a:solidFill>
                  <a:schemeClr val="accent5"/>
                </a:solidFill>
                <a:latin typeface="Roboto Mono"/>
                <a:ea typeface="Roboto Mono"/>
                <a:cs typeface="Roboto Mono"/>
                <a:sym typeface="Roboto Mono"/>
              </a:rPr>
              <a:t>"indústria da pensão"</a:t>
            </a:r>
            <a:r>
              <a:rPr lang="pt-BR" sz="1100">
                <a:solidFill>
                  <a:schemeClr val="dk2"/>
                </a:solidFill>
              </a:rPr>
              <a:t>) com ataques interpessoais, gerando falsos positivos.</a:t>
            </a:r>
            <a:endParaRPr sz="1100">
              <a:solidFill>
                <a:schemeClr val="dk2"/>
              </a:solidFill>
            </a:endParaRPr>
          </a:p>
          <a:p>
            <a:pPr indent="0" lvl="0" marL="0" rtl="0" algn="l">
              <a:spcBef>
                <a:spcPts val="1200"/>
              </a:spcBef>
              <a:spcAft>
                <a:spcPts val="0"/>
              </a:spcAft>
              <a:buNone/>
            </a:pPr>
            <a:r>
              <a:t/>
            </a:r>
            <a:endParaRPr sz="1300">
              <a:solidFill>
                <a:schemeClr val="dk2"/>
              </a:solidFill>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2"/>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Análise dos casos de erro</a:t>
            </a:r>
            <a:endParaRPr/>
          </a:p>
        </p:txBody>
      </p:sp>
      <p:sp>
        <p:nvSpPr>
          <p:cNvPr id="241" name="Google Shape;241;p42"/>
          <p:cNvSpPr txBox="1"/>
          <p:nvPr/>
        </p:nvSpPr>
        <p:spPr>
          <a:xfrm>
            <a:off x="525300" y="1456950"/>
            <a:ext cx="8093400" cy="346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pt-BR" sz="1300">
                <a:solidFill>
                  <a:schemeClr val="dk2"/>
                </a:solidFill>
                <a:latin typeface="Roboto"/>
                <a:ea typeface="Roboto"/>
                <a:cs typeface="Roboto"/>
                <a:sym typeface="Roboto"/>
              </a:rPr>
              <a:t>Few Shot - Toxicidade (Análise Específica por Teste)</a:t>
            </a:r>
            <a:endParaRPr b="1" sz="1300"/>
          </a:p>
          <a:p>
            <a:pPr indent="0" lvl="0" marL="0" rtl="0" algn="l">
              <a:lnSpc>
                <a:spcPct val="115000"/>
              </a:lnSpc>
              <a:spcBef>
                <a:spcPts val="1200"/>
              </a:spcBef>
              <a:spcAft>
                <a:spcPts val="0"/>
              </a:spcAft>
              <a:buNone/>
            </a:pPr>
            <a:r>
              <a:rPr b="1" lang="pt-BR" sz="1000">
                <a:solidFill>
                  <a:schemeClr val="dk2"/>
                </a:solidFill>
              </a:rPr>
              <a:t>Teste 1 (PT, Sem Conceito)</a:t>
            </a:r>
            <a:endParaRPr b="1" sz="1000">
              <a:solidFill>
                <a:schemeClr val="dk2"/>
              </a:solidFill>
            </a:endParaRPr>
          </a:p>
          <a:p>
            <a:pPr indent="-292100" lvl="0" marL="457200" rtl="0" algn="l">
              <a:lnSpc>
                <a:spcPct val="115000"/>
              </a:lnSpc>
              <a:spcBef>
                <a:spcPts val="1200"/>
              </a:spcBef>
              <a:spcAft>
                <a:spcPts val="0"/>
              </a:spcAft>
              <a:buClr>
                <a:schemeClr val="dk2"/>
              </a:buClr>
              <a:buSzPts val="1000"/>
              <a:buChar char="●"/>
            </a:pPr>
            <a:r>
              <a:rPr b="1" lang="pt-BR" sz="1000">
                <a:solidFill>
                  <a:schemeClr val="dk2"/>
                </a:solidFill>
              </a:rPr>
              <a:t>Ponto-chave:</a:t>
            </a:r>
            <a:r>
              <a:rPr lang="pt-BR" sz="1000">
                <a:solidFill>
                  <a:schemeClr val="dk2"/>
                </a:solidFill>
              </a:rPr>
              <a:t> Reage a termos negativos isolados.</a:t>
            </a:r>
            <a:endParaRPr sz="1000">
              <a:solidFill>
                <a:schemeClr val="dk2"/>
              </a:solidFill>
            </a:endParaRPr>
          </a:p>
          <a:p>
            <a:pPr indent="-292100" lvl="1" marL="914400" rtl="0" algn="l">
              <a:lnSpc>
                <a:spcPct val="115000"/>
              </a:lnSpc>
              <a:spcBef>
                <a:spcPts val="0"/>
              </a:spcBef>
              <a:spcAft>
                <a:spcPts val="0"/>
              </a:spcAft>
              <a:buClr>
                <a:schemeClr val="dk2"/>
              </a:buClr>
              <a:buSzPts val="1000"/>
              <a:buChar char="○"/>
            </a:pPr>
            <a:r>
              <a:rPr b="1" lang="pt-BR" sz="1000">
                <a:solidFill>
                  <a:schemeClr val="dk2"/>
                </a:solidFill>
              </a:rPr>
              <a:t>Exemplo:</a:t>
            </a:r>
            <a:r>
              <a:rPr lang="pt-BR" sz="1000">
                <a:solidFill>
                  <a:schemeClr val="dk2"/>
                </a:solidFill>
              </a:rPr>
              <a:t> Classificou um comentário como tóxico por conter a palavra </a:t>
            </a:r>
            <a:r>
              <a:rPr lang="pt-BR" sz="1000">
                <a:solidFill>
                  <a:schemeClr val="dk2"/>
                </a:solidFill>
                <a:latin typeface="Roboto Mono"/>
                <a:ea typeface="Roboto Mono"/>
                <a:cs typeface="Roboto Mono"/>
                <a:sym typeface="Roboto Mono"/>
              </a:rPr>
              <a:t>"</a:t>
            </a:r>
            <a:r>
              <a:rPr lang="pt-BR" sz="1000">
                <a:solidFill>
                  <a:schemeClr val="accent5"/>
                </a:solidFill>
                <a:latin typeface="Roboto Mono"/>
                <a:ea typeface="Roboto Mono"/>
                <a:cs typeface="Roboto Mono"/>
                <a:sym typeface="Roboto Mono"/>
              </a:rPr>
              <a:t>viciadas</a:t>
            </a:r>
            <a:r>
              <a:rPr lang="pt-BR" sz="1000">
                <a:solidFill>
                  <a:schemeClr val="dk2"/>
                </a:solidFill>
                <a:latin typeface="Roboto Mono"/>
                <a:ea typeface="Roboto Mono"/>
                <a:cs typeface="Roboto Mono"/>
                <a:sym typeface="Roboto Mono"/>
              </a:rPr>
              <a:t>"</a:t>
            </a:r>
            <a:r>
              <a:rPr lang="pt-BR" sz="1000">
                <a:solidFill>
                  <a:schemeClr val="dk2"/>
                </a:solidFill>
              </a:rPr>
              <a:t> e o emoji </a:t>
            </a:r>
            <a:r>
              <a:rPr lang="pt-BR" sz="1000">
                <a:solidFill>
                  <a:schemeClr val="dk2"/>
                </a:solidFill>
                <a:latin typeface="Roboto Mono"/>
                <a:ea typeface="Roboto Mono"/>
                <a:cs typeface="Roboto Mono"/>
                <a:sym typeface="Roboto Mono"/>
              </a:rPr>
              <a:t>☠</a:t>
            </a:r>
            <a:r>
              <a:rPr lang="pt-BR" sz="1000">
                <a:solidFill>
                  <a:schemeClr val="dk2"/>
                </a:solidFill>
              </a:rPr>
              <a:t>, mesmo o texto sendo um relato.</a:t>
            </a:r>
            <a:endParaRPr sz="1000">
              <a:solidFill>
                <a:schemeClr val="dk2"/>
              </a:solidFill>
            </a:endParaRPr>
          </a:p>
          <a:p>
            <a:pPr indent="-292100" lvl="0" marL="457200" rtl="0" algn="l">
              <a:lnSpc>
                <a:spcPct val="115000"/>
              </a:lnSpc>
              <a:spcBef>
                <a:spcPts val="0"/>
              </a:spcBef>
              <a:spcAft>
                <a:spcPts val="0"/>
              </a:spcAft>
              <a:buClr>
                <a:schemeClr val="dk2"/>
              </a:buClr>
              <a:buSzPts val="1000"/>
              <a:buChar char="●"/>
            </a:pPr>
            <a:r>
              <a:rPr b="1" lang="pt-BR" sz="1000">
                <a:solidFill>
                  <a:schemeClr val="dk2"/>
                </a:solidFill>
              </a:rPr>
              <a:t>Ponto-chave:</a:t>
            </a:r>
            <a:r>
              <a:rPr lang="pt-BR" sz="1000">
                <a:solidFill>
                  <a:schemeClr val="dk2"/>
                </a:solidFill>
              </a:rPr>
              <a:t> Não entende ironia nem jargões da "</a:t>
            </a:r>
            <a:r>
              <a:rPr i="1" lang="pt-BR" sz="1000">
                <a:solidFill>
                  <a:schemeClr val="dk2"/>
                </a:solidFill>
              </a:rPr>
              <a:t>manosphere</a:t>
            </a:r>
            <a:r>
              <a:rPr lang="pt-BR" sz="1000">
                <a:solidFill>
                  <a:schemeClr val="dk2"/>
                </a:solidFill>
              </a:rPr>
              <a:t>".</a:t>
            </a:r>
            <a:endParaRPr sz="1000">
              <a:solidFill>
                <a:schemeClr val="dk2"/>
              </a:solidFill>
            </a:endParaRPr>
          </a:p>
          <a:p>
            <a:pPr indent="-292100" lvl="1" marL="914400" rtl="0" algn="l">
              <a:lnSpc>
                <a:spcPct val="115000"/>
              </a:lnSpc>
              <a:spcBef>
                <a:spcPts val="0"/>
              </a:spcBef>
              <a:spcAft>
                <a:spcPts val="0"/>
              </a:spcAft>
              <a:buClr>
                <a:schemeClr val="dk2"/>
              </a:buClr>
              <a:buSzPts val="1000"/>
              <a:buChar char="○"/>
            </a:pPr>
            <a:r>
              <a:rPr b="1" lang="pt-BR" sz="1000">
                <a:solidFill>
                  <a:schemeClr val="dk2"/>
                </a:solidFill>
              </a:rPr>
              <a:t>Exemplos:</a:t>
            </a:r>
            <a:r>
              <a:rPr lang="pt-BR" sz="1000">
                <a:solidFill>
                  <a:schemeClr val="dk2"/>
                </a:solidFill>
              </a:rPr>
              <a:t> Falhou em identificar a toxicidade em </a:t>
            </a:r>
            <a:r>
              <a:rPr lang="pt-BR" sz="1000">
                <a:solidFill>
                  <a:schemeClr val="dk2"/>
                </a:solidFill>
                <a:latin typeface="Roboto Mono"/>
                <a:ea typeface="Roboto Mono"/>
                <a:cs typeface="Roboto Mono"/>
                <a:sym typeface="Roboto Mono"/>
              </a:rPr>
              <a:t>"</a:t>
            </a:r>
            <a:r>
              <a:rPr lang="pt-BR" sz="1000">
                <a:solidFill>
                  <a:schemeClr val="accent5"/>
                </a:solidFill>
                <a:latin typeface="Roboto Mono"/>
                <a:ea typeface="Roboto Mono"/>
                <a:cs typeface="Roboto Mono"/>
                <a:sym typeface="Roboto Mono"/>
              </a:rPr>
              <a:t>40 anos no carrossel...</a:t>
            </a:r>
            <a:r>
              <a:rPr lang="pt-BR" sz="1000">
                <a:solidFill>
                  <a:schemeClr val="dk2"/>
                </a:solidFill>
                <a:latin typeface="Roboto Mono"/>
                <a:ea typeface="Roboto Mono"/>
                <a:cs typeface="Roboto Mono"/>
                <a:sym typeface="Roboto Mono"/>
              </a:rPr>
              <a:t>"</a:t>
            </a:r>
            <a:r>
              <a:rPr lang="pt-BR" sz="1000">
                <a:solidFill>
                  <a:schemeClr val="dk2"/>
                </a:solidFill>
              </a:rPr>
              <a:t> (ironia sobre mulheres mais velhas) e em termos como </a:t>
            </a:r>
            <a:r>
              <a:rPr lang="pt-BR" sz="1000">
                <a:solidFill>
                  <a:schemeClr val="dk2"/>
                </a:solidFill>
                <a:latin typeface="Roboto Mono"/>
                <a:ea typeface="Roboto Mono"/>
                <a:cs typeface="Roboto Mono"/>
                <a:sym typeface="Roboto Mono"/>
              </a:rPr>
              <a:t>"</a:t>
            </a:r>
            <a:r>
              <a:rPr lang="pt-BR" sz="1000">
                <a:solidFill>
                  <a:schemeClr val="accent5"/>
                </a:solidFill>
                <a:latin typeface="Roboto Mono"/>
                <a:ea typeface="Roboto Mono"/>
                <a:cs typeface="Roboto Mono"/>
                <a:sym typeface="Roboto Mono"/>
              </a:rPr>
              <a:t>modernete</a:t>
            </a:r>
            <a:r>
              <a:rPr lang="pt-BR" sz="1000">
                <a:solidFill>
                  <a:schemeClr val="dk2"/>
                </a:solidFill>
                <a:latin typeface="Roboto Mono"/>
                <a:ea typeface="Roboto Mono"/>
                <a:cs typeface="Roboto Mono"/>
                <a:sym typeface="Roboto Mono"/>
              </a:rPr>
              <a:t>"</a:t>
            </a:r>
            <a:r>
              <a:rPr lang="pt-BR" sz="1000">
                <a:solidFill>
                  <a:schemeClr val="dk2"/>
                </a:solidFill>
              </a:rPr>
              <a:t> e </a:t>
            </a:r>
            <a:r>
              <a:rPr lang="pt-BR" sz="1000">
                <a:solidFill>
                  <a:schemeClr val="dk2"/>
                </a:solidFill>
                <a:latin typeface="Roboto Mono"/>
                <a:ea typeface="Roboto Mono"/>
                <a:cs typeface="Roboto Mono"/>
                <a:sym typeface="Roboto Mono"/>
              </a:rPr>
              <a:t>"</a:t>
            </a:r>
            <a:r>
              <a:rPr lang="pt-BR" sz="1000">
                <a:solidFill>
                  <a:schemeClr val="accent5"/>
                </a:solidFill>
                <a:latin typeface="Roboto Mono"/>
                <a:ea typeface="Roboto Mono"/>
                <a:cs typeface="Roboto Mono"/>
                <a:sym typeface="Roboto Mono"/>
              </a:rPr>
              <a:t>Miqueias</a:t>
            </a:r>
            <a:r>
              <a:rPr lang="pt-BR" sz="1000">
                <a:solidFill>
                  <a:schemeClr val="dk2"/>
                </a:solidFill>
                <a:latin typeface="Roboto Mono"/>
                <a:ea typeface="Roboto Mono"/>
                <a:cs typeface="Roboto Mono"/>
                <a:sym typeface="Roboto Mono"/>
              </a:rPr>
              <a:t>"</a:t>
            </a:r>
            <a:r>
              <a:rPr lang="pt-BR" sz="1000">
                <a:solidFill>
                  <a:schemeClr val="dk2"/>
                </a:solidFill>
              </a:rPr>
              <a:t>.</a:t>
            </a:r>
            <a:endParaRPr sz="1000">
              <a:solidFill>
                <a:schemeClr val="dk2"/>
              </a:solidFill>
            </a:endParaRPr>
          </a:p>
          <a:p>
            <a:pPr indent="0" lvl="0" marL="0" rtl="0" algn="l">
              <a:lnSpc>
                <a:spcPct val="115000"/>
              </a:lnSpc>
              <a:spcBef>
                <a:spcPts val="1200"/>
              </a:spcBef>
              <a:spcAft>
                <a:spcPts val="0"/>
              </a:spcAft>
              <a:buNone/>
            </a:pPr>
            <a:r>
              <a:rPr b="1" lang="pt-BR" sz="1000">
                <a:solidFill>
                  <a:schemeClr val="dk2"/>
                </a:solidFill>
              </a:rPr>
              <a:t>Teste 2 (EN, Sem Conceito)</a:t>
            </a:r>
            <a:endParaRPr b="1" sz="1000">
              <a:solidFill>
                <a:schemeClr val="dk2"/>
              </a:solidFill>
            </a:endParaRPr>
          </a:p>
          <a:p>
            <a:pPr indent="-292100" lvl="0" marL="457200" rtl="0" algn="l">
              <a:lnSpc>
                <a:spcPct val="115000"/>
              </a:lnSpc>
              <a:spcBef>
                <a:spcPts val="1200"/>
              </a:spcBef>
              <a:spcAft>
                <a:spcPts val="0"/>
              </a:spcAft>
              <a:buClr>
                <a:schemeClr val="dk2"/>
              </a:buClr>
              <a:buSzPts val="1000"/>
              <a:buChar char="●"/>
            </a:pPr>
            <a:r>
              <a:rPr b="1" lang="pt-BR" sz="1000">
                <a:solidFill>
                  <a:schemeClr val="dk2"/>
                </a:solidFill>
              </a:rPr>
              <a:t>Ponto-chave:</a:t>
            </a:r>
            <a:r>
              <a:rPr lang="pt-BR" sz="1000">
                <a:solidFill>
                  <a:schemeClr val="dk2"/>
                </a:solidFill>
              </a:rPr>
              <a:t> Confunde ataques a conceitos com ataques pessoais.</a:t>
            </a:r>
            <a:endParaRPr sz="1000">
              <a:solidFill>
                <a:schemeClr val="dk2"/>
              </a:solidFill>
            </a:endParaRPr>
          </a:p>
          <a:p>
            <a:pPr indent="-292100" lvl="1" marL="914400" rtl="0" algn="l">
              <a:lnSpc>
                <a:spcPct val="115000"/>
              </a:lnSpc>
              <a:spcBef>
                <a:spcPts val="0"/>
              </a:spcBef>
              <a:spcAft>
                <a:spcPts val="0"/>
              </a:spcAft>
              <a:buClr>
                <a:schemeClr val="dk2"/>
              </a:buClr>
              <a:buSzPts val="1000"/>
              <a:buChar char="○"/>
            </a:pPr>
            <a:r>
              <a:rPr b="1" lang="pt-BR" sz="1000">
                <a:solidFill>
                  <a:schemeClr val="dk2"/>
                </a:solidFill>
              </a:rPr>
              <a:t>Exemplo:</a:t>
            </a:r>
            <a:r>
              <a:rPr lang="pt-BR" sz="1000">
                <a:solidFill>
                  <a:schemeClr val="dk2"/>
                </a:solidFill>
              </a:rPr>
              <a:t> Classificou </a:t>
            </a:r>
            <a:r>
              <a:rPr lang="pt-BR" sz="1000">
                <a:solidFill>
                  <a:schemeClr val="dk2"/>
                </a:solidFill>
                <a:latin typeface="Roboto Mono"/>
                <a:ea typeface="Roboto Mono"/>
                <a:cs typeface="Roboto Mono"/>
                <a:sym typeface="Roboto Mono"/>
              </a:rPr>
              <a:t>"</a:t>
            </a:r>
            <a:r>
              <a:rPr lang="pt-BR" sz="1000">
                <a:solidFill>
                  <a:schemeClr val="accent5"/>
                </a:solidFill>
                <a:latin typeface="Roboto Mono"/>
                <a:ea typeface="Roboto Mono"/>
                <a:cs typeface="Roboto Mono"/>
                <a:sym typeface="Roboto Mono"/>
              </a:rPr>
              <a:t>FILHOS PARA ALIMENTAR A INDÚSTRIA DA PENSÃO ALIMENTÍCIA...</a:t>
            </a:r>
            <a:r>
              <a:rPr lang="pt-BR" sz="1000">
                <a:solidFill>
                  <a:schemeClr val="dk2"/>
                </a:solidFill>
                <a:latin typeface="Roboto Mono"/>
                <a:ea typeface="Roboto Mono"/>
                <a:cs typeface="Roboto Mono"/>
                <a:sym typeface="Roboto Mono"/>
              </a:rPr>
              <a:t>"</a:t>
            </a:r>
            <a:r>
              <a:rPr lang="pt-BR" sz="1000">
                <a:solidFill>
                  <a:schemeClr val="dk2"/>
                </a:solidFill>
              </a:rPr>
              <a:t> como tóxico, embora a crítica seja a um sistema, não a uma pessoa.</a:t>
            </a:r>
            <a:endParaRPr sz="1000">
              <a:solidFill>
                <a:schemeClr val="dk2"/>
              </a:solidFill>
            </a:endParaRPr>
          </a:p>
          <a:p>
            <a:pPr indent="-292100" lvl="0" marL="457200" rtl="0" algn="l">
              <a:lnSpc>
                <a:spcPct val="115000"/>
              </a:lnSpc>
              <a:spcBef>
                <a:spcPts val="0"/>
              </a:spcBef>
              <a:spcAft>
                <a:spcPts val="0"/>
              </a:spcAft>
              <a:buClr>
                <a:schemeClr val="dk2"/>
              </a:buClr>
              <a:buSzPts val="1000"/>
              <a:buChar char="●"/>
            </a:pPr>
            <a:r>
              <a:rPr b="1" lang="pt-BR" sz="1000">
                <a:solidFill>
                  <a:schemeClr val="dk2"/>
                </a:solidFill>
              </a:rPr>
              <a:t>Ponto-chave:</a:t>
            </a:r>
            <a:r>
              <a:rPr lang="pt-BR" sz="1000">
                <a:solidFill>
                  <a:schemeClr val="dk2"/>
                </a:solidFill>
              </a:rPr>
              <a:t> Falha em decodificar metáforas e gírias.</a:t>
            </a:r>
            <a:endParaRPr sz="1000">
              <a:solidFill>
                <a:schemeClr val="dk2"/>
              </a:solidFill>
            </a:endParaRPr>
          </a:p>
          <a:p>
            <a:pPr indent="-292100" lvl="1" marL="914400" rtl="0" algn="l">
              <a:lnSpc>
                <a:spcPct val="115000"/>
              </a:lnSpc>
              <a:spcBef>
                <a:spcPts val="0"/>
              </a:spcBef>
              <a:spcAft>
                <a:spcPts val="0"/>
              </a:spcAft>
              <a:buClr>
                <a:schemeClr val="dk2"/>
              </a:buClr>
              <a:buSzPts val="1000"/>
              <a:buChar char="○"/>
            </a:pPr>
            <a:r>
              <a:rPr b="1" lang="pt-BR" sz="1000">
                <a:solidFill>
                  <a:schemeClr val="dk2"/>
                </a:solidFill>
              </a:rPr>
              <a:t>Exemplos:</a:t>
            </a:r>
            <a:r>
              <a:rPr lang="pt-BR" sz="1000">
                <a:solidFill>
                  <a:schemeClr val="dk2"/>
                </a:solidFill>
              </a:rPr>
              <a:t> Não entendeu a conotação negativa de </a:t>
            </a:r>
            <a:r>
              <a:rPr lang="pt-BR" sz="1000">
                <a:solidFill>
                  <a:schemeClr val="dk2"/>
                </a:solidFill>
                <a:latin typeface="Roboto Mono"/>
                <a:ea typeface="Roboto Mono"/>
                <a:cs typeface="Roboto Mono"/>
                <a:sym typeface="Roboto Mono"/>
              </a:rPr>
              <a:t>"</a:t>
            </a:r>
            <a:r>
              <a:rPr lang="pt-BR" sz="1000">
                <a:solidFill>
                  <a:schemeClr val="accent5"/>
                </a:solidFill>
                <a:latin typeface="Roboto Mono"/>
                <a:ea typeface="Roboto Mono"/>
                <a:cs typeface="Roboto Mono"/>
                <a:sym typeface="Roboto Mono"/>
              </a:rPr>
              <a:t>a laranja não está valendo a espremida</a:t>
            </a:r>
            <a:r>
              <a:rPr lang="pt-BR" sz="1000">
                <a:solidFill>
                  <a:schemeClr val="dk2"/>
                </a:solidFill>
                <a:latin typeface="Roboto Mono"/>
                <a:ea typeface="Roboto Mono"/>
                <a:cs typeface="Roboto Mono"/>
                <a:sym typeface="Roboto Mono"/>
              </a:rPr>
              <a:t>"</a:t>
            </a:r>
            <a:r>
              <a:rPr lang="pt-BR" sz="1000">
                <a:solidFill>
                  <a:schemeClr val="dk2"/>
                </a:solidFill>
              </a:rPr>
              <a:t> nem o significado de abreviações como </a:t>
            </a:r>
            <a:r>
              <a:rPr lang="pt-BR" sz="1000">
                <a:solidFill>
                  <a:schemeClr val="dk2"/>
                </a:solidFill>
                <a:latin typeface="Roboto Mono"/>
                <a:ea typeface="Roboto Mono"/>
                <a:cs typeface="Roboto Mono"/>
                <a:sym typeface="Roboto Mono"/>
              </a:rPr>
              <a:t>"</a:t>
            </a:r>
            <a:r>
              <a:rPr lang="pt-BR" sz="1000">
                <a:solidFill>
                  <a:schemeClr val="accent5"/>
                </a:solidFill>
                <a:latin typeface="Roboto Mono"/>
                <a:ea typeface="Roboto Mono"/>
                <a:cs typeface="Roboto Mono"/>
                <a:sym typeface="Roboto Mono"/>
              </a:rPr>
              <a:t>bqt</a:t>
            </a:r>
            <a:r>
              <a:rPr lang="pt-BR" sz="1000">
                <a:solidFill>
                  <a:schemeClr val="dk2"/>
                </a:solidFill>
                <a:latin typeface="Roboto Mono"/>
                <a:ea typeface="Roboto Mono"/>
                <a:cs typeface="Roboto Mono"/>
                <a:sym typeface="Roboto Mono"/>
              </a:rPr>
              <a:t>"</a:t>
            </a:r>
            <a:r>
              <a:rPr lang="pt-BR" sz="1000">
                <a:solidFill>
                  <a:schemeClr val="dk2"/>
                </a:solidFill>
              </a:rPr>
              <a:t> (boquete) e xingamentos como </a:t>
            </a:r>
            <a:r>
              <a:rPr lang="pt-BR" sz="1000">
                <a:solidFill>
                  <a:schemeClr val="dk2"/>
                </a:solidFill>
                <a:latin typeface="Roboto Mono"/>
                <a:ea typeface="Roboto Mono"/>
                <a:cs typeface="Roboto Mono"/>
                <a:sym typeface="Roboto Mono"/>
              </a:rPr>
              <a:t>"</a:t>
            </a:r>
            <a:r>
              <a:rPr lang="pt-BR" sz="1000">
                <a:solidFill>
                  <a:schemeClr val="accent5"/>
                </a:solidFill>
                <a:latin typeface="Roboto Mono"/>
                <a:ea typeface="Roboto Mono"/>
                <a:cs typeface="Roboto Mono"/>
                <a:sym typeface="Roboto Mono"/>
              </a:rPr>
              <a:t>égua</a:t>
            </a:r>
            <a:r>
              <a:rPr lang="pt-BR" sz="1000">
                <a:solidFill>
                  <a:schemeClr val="dk2"/>
                </a:solidFill>
                <a:latin typeface="Roboto Mono"/>
                <a:ea typeface="Roboto Mono"/>
                <a:cs typeface="Roboto Mono"/>
                <a:sym typeface="Roboto Mono"/>
              </a:rPr>
              <a:t>"</a:t>
            </a:r>
            <a:r>
              <a:rPr lang="pt-BR" sz="1000">
                <a:solidFill>
                  <a:schemeClr val="dk2"/>
                </a:solidFill>
              </a:rPr>
              <a:t>.</a:t>
            </a:r>
            <a:endParaRPr sz="1000">
              <a:solidFill>
                <a:schemeClr val="dk2"/>
              </a:solidFill>
            </a:endParaRPr>
          </a:p>
          <a:p>
            <a:pPr indent="0" lvl="0" marL="0" rtl="0" algn="l">
              <a:lnSpc>
                <a:spcPct val="115000"/>
              </a:lnSpc>
              <a:spcBef>
                <a:spcPts val="1200"/>
              </a:spcBef>
              <a:spcAft>
                <a:spcPts val="0"/>
              </a:spcAft>
              <a:buNone/>
            </a:pPr>
            <a:r>
              <a:t/>
            </a:r>
            <a:endParaRPr sz="1100"/>
          </a:p>
          <a:p>
            <a:pPr indent="0" lvl="0" marL="0" rtl="0" algn="l">
              <a:spcBef>
                <a:spcPts val="1200"/>
              </a:spcBef>
              <a:spcAft>
                <a:spcPts val="0"/>
              </a:spcAft>
              <a:buNone/>
            </a:pPr>
            <a:r>
              <a:t/>
            </a:r>
            <a:endParaRPr sz="1300">
              <a:solidFill>
                <a:schemeClr val="dk2"/>
              </a:solidFill>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3"/>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Análise dos casos de erro</a:t>
            </a:r>
            <a:endParaRPr/>
          </a:p>
        </p:txBody>
      </p:sp>
      <p:sp>
        <p:nvSpPr>
          <p:cNvPr id="247" name="Google Shape;247;p43"/>
          <p:cNvSpPr txBox="1"/>
          <p:nvPr/>
        </p:nvSpPr>
        <p:spPr>
          <a:xfrm>
            <a:off x="525300" y="1456950"/>
            <a:ext cx="8093400" cy="346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pt-BR" sz="1300">
                <a:solidFill>
                  <a:schemeClr val="dk2"/>
                </a:solidFill>
                <a:latin typeface="Roboto"/>
                <a:ea typeface="Roboto"/>
                <a:cs typeface="Roboto"/>
                <a:sym typeface="Roboto"/>
              </a:rPr>
              <a:t>Few Shot - Toxicidade (Análise Específica por Teste)</a:t>
            </a:r>
            <a:endParaRPr b="1" sz="1300"/>
          </a:p>
          <a:p>
            <a:pPr indent="0" lvl="0" marL="0" rtl="0" algn="l">
              <a:lnSpc>
                <a:spcPct val="115000"/>
              </a:lnSpc>
              <a:spcBef>
                <a:spcPts val="1200"/>
              </a:spcBef>
              <a:spcAft>
                <a:spcPts val="0"/>
              </a:spcAft>
              <a:buNone/>
            </a:pPr>
            <a:r>
              <a:rPr b="1" lang="pt-BR" sz="1000">
                <a:solidFill>
                  <a:schemeClr val="dk2"/>
                </a:solidFill>
              </a:rPr>
              <a:t>Teste 3 (PT, Com Conceito)</a:t>
            </a:r>
            <a:endParaRPr b="1" sz="1000">
              <a:solidFill>
                <a:schemeClr val="dk2"/>
              </a:solidFill>
            </a:endParaRPr>
          </a:p>
          <a:p>
            <a:pPr indent="-292100" lvl="0" marL="457200" rtl="0" algn="l">
              <a:lnSpc>
                <a:spcPct val="115000"/>
              </a:lnSpc>
              <a:spcBef>
                <a:spcPts val="1200"/>
              </a:spcBef>
              <a:spcAft>
                <a:spcPts val="0"/>
              </a:spcAft>
              <a:buClr>
                <a:schemeClr val="dk2"/>
              </a:buClr>
              <a:buSzPts val="1000"/>
              <a:buChar char="●"/>
            </a:pPr>
            <a:r>
              <a:rPr b="1" lang="pt-BR" sz="1000">
                <a:solidFill>
                  <a:schemeClr val="dk2"/>
                </a:solidFill>
              </a:rPr>
              <a:t>Ponto-chave:</a:t>
            </a:r>
            <a:r>
              <a:rPr lang="pt-BR" sz="1000">
                <a:solidFill>
                  <a:schemeClr val="dk2"/>
                </a:solidFill>
              </a:rPr>
              <a:t> Escopo de toxicidade muito amplo, incluindo críticas a objetos.</a:t>
            </a:r>
            <a:endParaRPr sz="1000">
              <a:solidFill>
                <a:schemeClr val="dk2"/>
              </a:solidFill>
            </a:endParaRPr>
          </a:p>
          <a:p>
            <a:pPr indent="-292100" lvl="1" marL="914400" rtl="0" algn="l">
              <a:lnSpc>
                <a:spcPct val="115000"/>
              </a:lnSpc>
              <a:spcBef>
                <a:spcPts val="0"/>
              </a:spcBef>
              <a:spcAft>
                <a:spcPts val="0"/>
              </a:spcAft>
              <a:buClr>
                <a:schemeClr val="dk2"/>
              </a:buClr>
              <a:buSzPts val="1000"/>
              <a:buChar char="○"/>
            </a:pPr>
            <a:r>
              <a:rPr b="1" lang="pt-BR" sz="1000">
                <a:solidFill>
                  <a:schemeClr val="dk2"/>
                </a:solidFill>
              </a:rPr>
              <a:t>Exemplo:</a:t>
            </a:r>
            <a:r>
              <a:rPr lang="pt-BR" sz="1000">
                <a:solidFill>
                  <a:schemeClr val="dk2"/>
                </a:solidFill>
              </a:rPr>
              <a:t> Rotulou </a:t>
            </a:r>
            <a:r>
              <a:rPr lang="pt-BR" sz="1000">
                <a:solidFill>
                  <a:schemeClr val="dk2"/>
                </a:solidFill>
                <a:latin typeface="Roboto Mono"/>
                <a:ea typeface="Roboto Mono"/>
                <a:cs typeface="Roboto Mono"/>
                <a:sym typeface="Roboto Mono"/>
              </a:rPr>
              <a:t>"</a:t>
            </a:r>
            <a:r>
              <a:rPr lang="pt-BR" sz="1000">
                <a:solidFill>
                  <a:schemeClr val="accent5"/>
                </a:solidFill>
                <a:latin typeface="Roboto Mono"/>
                <a:ea typeface="Roboto Mono"/>
                <a:cs typeface="Roboto Mono"/>
                <a:sym typeface="Roboto Mono"/>
              </a:rPr>
              <a:t>MÚSICAS BRASILEIRAS EM GERAL NÃO VALEM NADA</a:t>
            </a:r>
            <a:r>
              <a:rPr lang="pt-BR" sz="1000">
                <a:solidFill>
                  <a:schemeClr val="dk2"/>
                </a:solidFill>
                <a:latin typeface="Roboto Mono"/>
                <a:ea typeface="Roboto Mono"/>
                <a:cs typeface="Roboto Mono"/>
                <a:sym typeface="Roboto Mono"/>
              </a:rPr>
              <a:t>"</a:t>
            </a:r>
            <a:r>
              <a:rPr lang="pt-BR" sz="1000">
                <a:solidFill>
                  <a:schemeClr val="dk2"/>
                </a:solidFill>
              </a:rPr>
              <a:t> como tóxico, tratando uma opinião sobre arte como um ataque pessoal.</a:t>
            </a:r>
            <a:endParaRPr sz="1000">
              <a:solidFill>
                <a:schemeClr val="dk2"/>
              </a:solidFill>
            </a:endParaRPr>
          </a:p>
          <a:p>
            <a:pPr indent="-292100" lvl="0" marL="457200" rtl="0" algn="l">
              <a:lnSpc>
                <a:spcPct val="115000"/>
              </a:lnSpc>
              <a:spcBef>
                <a:spcPts val="0"/>
              </a:spcBef>
              <a:spcAft>
                <a:spcPts val="0"/>
              </a:spcAft>
              <a:buClr>
                <a:schemeClr val="dk2"/>
              </a:buClr>
              <a:buSzPts val="1000"/>
              <a:buChar char="●"/>
            </a:pPr>
            <a:r>
              <a:rPr b="1" lang="pt-BR" sz="1000">
                <a:solidFill>
                  <a:schemeClr val="dk2"/>
                </a:solidFill>
              </a:rPr>
              <a:t>Ponto-chave:</a:t>
            </a:r>
            <a:r>
              <a:rPr lang="pt-BR" sz="1000">
                <a:solidFill>
                  <a:schemeClr val="dk2"/>
                </a:solidFill>
              </a:rPr>
              <a:t> Não interpreta subjetividade ou insinuações.</a:t>
            </a:r>
            <a:endParaRPr sz="1000">
              <a:solidFill>
                <a:schemeClr val="dk2"/>
              </a:solidFill>
            </a:endParaRPr>
          </a:p>
          <a:p>
            <a:pPr indent="-292100" lvl="1" marL="914400" rtl="0" algn="l">
              <a:lnSpc>
                <a:spcPct val="115000"/>
              </a:lnSpc>
              <a:spcBef>
                <a:spcPts val="0"/>
              </a:spcBef>
              <a:spcAft>
                <a:spcPts val="0"/>
              </a:spcAft>
              <a:buClr>
                <a:schemeClr val="dk2"/>
              </a:buClr>
              <a:buSzPts val="1000"/>
              <a:buChar char="○"/>
            </a:pPr>
            <a:r>
              <a:rPr b="1" lang="pt-BR" sz="1000">
                <a:solidFill>
                  <a:schemeClr val="dk2"/>
                </a:solidFill>
              </a:rPr>
              <a:t>Exemplo:</a:t>
            </a:r>
            <a:r>
              <a:rPr lang="pt-BR" sz="1000">
                <a:solidFill>
                  <a:schemeClr val="dk2"/>
                </a:solidFill>
              </a:rPr>
              <a:t> Falhou em detectar a toxicidade na pergunta retórica </a:t>
            </a:r>
            <a:r>
              <a:rPr lang="pt-BR" sz="1000">
                <a:solidFill>
                  <a:schemeClr val="dk2"/>
                </a:solidFill>
                <a:latin typeface="Roboto Mono"/>
                <a:ea typeface="Roboto Mono"/>
                <a:cs typeface="Roboto Mono"/>
                <a:sym typeface="Roboto Mono"/>
              </a:rPr>
              <a:t>"</a:t>
            </a:r>
            <a:r>
              <a:rPr lang="pt-BR" sz="1000">
                <a:solidFill>
                  <a:schemeClr val="accent5"/>
                </a:solidFill>
                <a:latin typeface="Roboto Mono"/>
                <a:ea typeface="Roboto Mono"/>
                <a:cs typeface="Roboto Mono"/>
                <a:sym typeface="Roboto Mono"/>
              </a:rPr>
              <a:t>Só foi o cara separar que cresceu na vida e enriqueceu... Porque será?</a:t>
            </a:r>
            <a:r>
              <a:rPr lang="pt-BR" sz="1000">
                <a:solidFill>
                  <a:schemeClr val="dk2"/>
                </a:solidFill>
                <a:latin typeface="Roboto Mono"/>
                <a:ea typeface="Roboto Mono"/>
                <a:cs typeface="Roboto Mono"/>
                <a:sym typeface="Roboto Mono"/>
              </a:rPr>
              <a:t>"</a:t>
            </a:r>
            <a:r>
              <a:rPr lang="pt-BR" sz="1000">
                <a:solidFill>
                  <a:schemeClr val="dk2"/>
                </a:solidFill>
              </a:rPr>
              <a:t>.</a:t>
            </a:r>
            <a:endParaRPr sz="1000">
              <a:solidFill>
                <a:schemeClr val="dk2"/>
              </a:solidFill>
            </a:endParaRPr>
          </a:p>
          <a:p>
            <a:pPr indent="0" lvl="0" marL="0" rtl="0" algn="l">
              <a:lnSpc>
                <a:spcPct val="115000"/>
              </a:lnSpc>
              <a:spcBef>
                <a:spcPts val="1200"/>
              </a:spcBef>
              <a:spcAft>
                <a:spcPts val="0"/>
              </a:spcAft>
              <a:buNone/>
            </a:pPr>
            <a:r>
              <a:rPr b="1" lang="pt-BR" sz="1000">
                <a:solidFill>
                  <a:schemeClr val="dk2"/>
                </a:solidFill>
              </a:rPr>
              <a:t>Teste 4 (EN, Com Conceito)</a:t>
            </a:r>
            <a:endParaRPr b="1" sz="1000">
              <a:solidFill>
                <a:schemeClr val="dk2"/>
              </a:solidFill>
            </a:endParaRPr>
          </a:p>
          <a:p>
            <a:pPr indent="-292100" lvl="0" marL="457200" rtl="0" algn="l">
              <a:lnSpc>
                <a:spcPct val="115000"/>
              </a:lnSpc>
              <a:spcBef>
                <a:spcPts val="1200"/>
              </a:spcBef>
              <a:spcAft>
                <a:spcPts val="0"/>
              </a:spcAft>
              <a:buClr>
                <a:schemeClr val="dk2"/>
              </a:buClr>
              <a:buSzPts val="1000"/>
              <a:buChar char="●"/>
            </a:pPr>
            <a:r>
              <a:rPr b="1" lang="pt-BR" sz="1000">
                <a:solidFill>
                  <a:schemeClr val="dk2"/>
                </a:solidFill>
              </a:rPr>
              <a:t>Ponto-chave:</a:t>
            </a:r>
            <a:r>
              <a:rPr lang="pt-BR" sz="1000">
                <a:solidFill>
                  <a:schemeClr val="dk2"/>
                </a:solidFill>
              </a:rPr>
              <a:t> Análise literal de emojis e formatação.</a:t>
            </a:r>
            <a:endParaRPr sz="1000">
              <a:solidFill>
                <a:schemeClr val="dk2"/>
              </a:solidFill>
            </a:endParaRPr>
          </a:p>
          <a:p>
            <a:pPr indent="-292100" lvl="1" marL="914400" rtl="0" algn="l">
              <a:lnSpc>
                <a:spcPct val="115000"/>
              </a:lnSpc>
              <a:spcBef>
                <a:spcPts val="0"/>
              </a:spcBef>
              <a:spcAft>
                <a:spcPts val="0"/>
              </a:spcAft>
              <a:buClr>
                <a:schemeClr val="dk2"/>
              </a:buClr>
              <a:buSzPts val="1000"/>
              <a:buChar char="○"/>
            </a:pPr>
            <a:r>
              <a:rPr b="1" lang="pt-BR" sz="1000">
                <a:solidFill>
                  <a:schemeClr val="dk2"/>
                </a:solidFill>
              </a:rPr>
              <a:t>Exemplo:</a:t>
            </a:r>
            <a:r>
              <a:rPr lang="pt-BR" sz="1000">
                <a:solidFill>
                  <a:schemeClr val="dk2"/>
                </a:solidFill>
              </a:rPr>
              <a:t> Não entendeu a conotação sexual dos emojis em </a:t>
            </a:r>
            <a:r>
              <a:rPr lang="pt-BR" sz="1000">
                <a:solidFill>
                  <a:schemeClr val="dk2"/>
                </a:solidFill>
                <a:latin typeface="Roboto Mono"/>
                <a:ea typeface="Roboto Mono"/>
                <a:cs typeface="Roboto Mono"/>
                <a:sym typeface="Roboto Mono"/>
              </a:rPr>
              <a:t>"</a:t>
            </a:r>
            <a:r>
              <a:rPr lang="pt-BR" sz="1000">
                <a:solidFill>
                  <a:schemeClr val="accent5"/>
                </a:solidFill>
                <a:latin typeface="Roboto Mono"/>
                <a:ea typeface="Roboto Mono"/>
                <a:cs typeface="Roboto Mono"/>
                <a:sym typeface="Roboto Mono"/>
              </a:rPr>
              <a:t>Tempo: 🍆🍆🍆oh baby yeeeaahh</a:t>
            </a:r>
            <a:r>
              <a:rPr lang="pt-BR" sz="1000">
                <a:solidFill>
                  <a:schemeClr val="dk2"/>
                </a:solidFill>
                <a:latin typeface="Roboto Mono"/>
                <a:ea typeface="Roboto Mono"/>
                <a:cs typeface="Roboto Mono"/>
                <a:sym typeface="Roboto Mono"/>
              </a:rPr>
              <a:t>"</a:t>
            </a:r>
            <a:r>
              <a:rPr lang="pt-BR" sz="1000">
                <a:solidFill>
                  <a:schemeClr val="dk2"/>
                </a:solidFill>
              </a:rPr>
              <a:t> e se confundiu com a formatação e emojis do texto </a:t>
            </a:r>
            <a:r>
              <a:rPr lang="pt-BR" sz="1000">
                <a:solidFill>
                  <a:schemeClr val="dk2"/>
                </a:solidFill>
                <a:latin typeface="Roboto Mono"/>
                <a:ea typeface="Roboto Mono"/>
                <a:cs typeface="Roboto Mono"/>
                <a:sym typeface="Roboto Mono"/>
              </a:rPr>
              <a:t>"</a:t>
            </a:r>
            <a:r>
              <a:rPr lang="pt-BR" sz="1000">
                <a:solidFill>
                  <a:schemeClr val="accent5"/>
                </a:solidFill>
                <a:latin typeface="Roboto Mono"/>
                <a:ea typeface="Roboto Mono"/>
                <a:cs typeface="Roboto Mono"/>
                <a:sym typeface="Roboto Mono"/>
              </a:rPr>
              <a:t>Obtenha o Antiotário 📕...</a:t>
            </a:r>
            <a:r>
              <a:rPr lang="pt-BR" sz="1000">
                <a:solidFill>
                  <a:schemeClr val="dk2"/>
                </a:solidFill>
                <a:latin typeface="Roboto Mono"/>
                <a:ea typeface="Roboto Mono"/>
                <a:cs typeface="Roboto Mono"/>
                <a:sym typeface="Roboto Mono"/>
              </a:rPr>
              <a:t>"</a:t>
            </a:r>
            <a:r>
              <a:rPr lang="pt-BR" sz="1000">
                <a:solidFill>
                  <a:schemeClr val="dk2"/>
                </a:solidFill>
              </a:rPr>
              <a:t>.</a:t>
            </a:r>
            <a:endParaRPr sz="1000">
              <a:solidFill>
                <a:schemeClr val="dk2"/>
              </a:solidFill>
            </a:endParaRPr>
          </a:p>
          <a:p>
            <a:pPr indent="-292100" lvl="0" marL="457200" rtl="0" algn="l">
              <a:lnSpc>
                <a:spcPct val="115000"/>
              </a:lnSpc>
              <a:spcBef>
                <a:spcPts val="0"/>
              </a:spcBef>
              <a:spcAft>
                <a:spcPts val="0"/>
              </a:spcAft>
              <a:buClr>
                <a:schemeClr val="dk2"/>
              </a:buClr>
              <a:buSzPts val="1000"/>
              <a:buChar char="●"/>
            </a:pPr>
            <a:r>
              <a:rPr b="1" lang="pt-BR" sz="1000">
                <a:solidFill>
                  <a:schemeClr val="dk2"/>
                </a:solidFill>
              </a:rPr>
              <a:t>Ponto-chave:</a:t>
            </a:r>
            <a:r>
              <a:rPr lang="pt-BR" sz="1000">
                <a:solidFill>
                  <a:schemeClr val="dk2"/>
                </a:solidFill>
              </a:rPr>
              <a:t> Falha em reconhecer insultos sutis e gírias.</a:t>
            </a:r>
            <a:endParaRPr sz="1000">
              <a:solidFill>
                <a:schemeClr val="dk2"/>
              </a:solidFill>
            </a:endParaRPr>
          </a:p>
          <a:p>
            <a:pPr indent="-292100" lvl="1" marL="914400" rtl="0" algn="l">
              <a:lnSpc>
                <a:spcPct val="115000"/>
              </a:lnSpc>
              <a:spcBef>
                <a:spcPts val="0"/>
              </a:spcBef>
              <a:spcAft>
                <a:spcPts val="0"/>
              </a:spcAft>
              <a:buClr>
                <a:schemeClr val="dk2"/>
              </a:buClr>
              <a:buSzPts val="1000"/>
              <a:buChar char="○"/>
            </a:pPr>
            <a:r>
              <a:rPr b="1" lang="pt-BR" sz="1000">
                <a:solidFill>
                  <a:schemeClr val="dk2"/>
                </a:solidFill>
              </a:rPr>
              <a:t>Exemplos:</a:t>
            </a:r>
            <a:r>
              <a:rPr lang="pt-BR" sz="1000">
                <a:solidFill>
                  <a:schemeClr val="dk2"/>
                </a:solidFill>
              </a:rPr>
              <a:t> Não identificou a intenção ofensiva em </a:t>
            </a:r>
            <a:r>
              <a:rPr lang="pt-BR" sz="1000">
                <a:solidFill>
                  <a:schemeClr val="dk2"/>
                </a:solidFill>
                <a:latin typeface="Roboto Mono"/>
                <a:ea typeface="Roboto Mono"/>
                <a:cs typeface="Roboto Mono"/>
                <a:sym typeface="Roboto Mono"/>
              </a:rPr>
              <a:t>"</a:t>
            </a:r>
            <a:r>
              <a:rPr lang="pt-BR" sz="1000">
                <a:solidFill>
                  <a:schemeClr val="accent5"/>
                </a:solidFill>
                <a:latin typeface="Roboto Mono"/>
                <a:ea typeface="Roboto Mono"/>
                <a:cs typeface="Roboto Mono"/>
                <a:sym typeface="Roboto Mono"/>
              </a:rPr>
              <a:t>Qi baixo.</a:t>
            </a:r>
            <a:r>
              <a:rPr lang="pt-BR" sz="1000">
                <a:solidFill>
                  <a:schemeClr val="dk2"/>
                </a:solidFill>
                <a:latin typeface="Roboto Mono"/>
                <a:ea typeface="Roboto Mono"/>
                <a:cs typeface="Roboto Mono"/>
                <a:sym typeface="Roboto Mono"/>
              </a:rPr>
              <a:t>"</a:t>
            </a:r>
            <a:r>
              <a:rPr lang="pt-BR" sz="1000">
                <a:solidFill>
                  <a:schemeClr val="dk2"/>
                </a:solidFill>
              </a:rPr>
              <a:t> nem o significado de termos como </a:t>
            </a:r>
            <a:r>
              <a:rPr lang="pt-BR" sz="1000">
                <a:solidFill>
                  <a:schemeClr val="dk2"/>
                </a:solidFill>
                <a:latin typeface="Roboto Mono"/>
                <a:ea typeface="Roboto Mono"/>
                <a:cs typeface="Roboto Mono"/>
                <a:sym typeface="Roboto Mono"/>
              </a:rPr>
              <a:t>"</a:t>
            </a:r>
            <a:r>
              <a:rPr lang="pt-BR" sz="1000">
                <a:solidFill>
                  <a:schemeClr val="accent5"/>
                </a:solidFill>
                <a:latin typeface="Roboto Mono"/>
                <a:ea typeface="Roboto Mono"/>
                <a:cs typeface="Roboto Mono"/>
                <a:sym typeface="Roboto Mono"/>
              </a:rPr>
              <a:t>Gado</a:t>
            </a:r>
            <a:r>
              <a:rPr lang="pt-BR" sz="1000">
                <a:solidFill>
                  <a:schemeClr val="dk2"/>
                </a:solidFill>
                <a:latin typeface="Roboto Mono"/>
                <a:ea typeface="Roboto Mono"/>
                <a:cs typeface="Roboto Mono"/>
                <a:sym typeface="Roboto Mono"/>
              </a:rPr>
              <a:t>"</a:t>
            </a:r>
            <a:r>
              <a:rPr lang="pt-BR" sz="1000">
                <a:solidFill>
                  <a:schemeClr val="dk2"/>
                </a:solidFill>
              </a:rPr>
              <a:t>, </a:t>
            </a:r>
            <a:r>
              <a:rPr lang="pt-BR" sz="1000">
                <a:solidFill>
                  <a:schemeClr val="dk2"/>
                </a:solidFill>
                <a:latin typeface="Roboto Mono"/>
                <a:ea typeface="Roboto Mono"/>
                <a:cs typeface="Roboto Mono"/>
                <a:sym typeface="Roboto Mono"/>
              </a:rPr>
              <a:t>"</a:t>
            </a:r>
            <a:r>
              <a:rPr lang="pt-BR" sz="1000">
                <a:solidFill>
                  <a:schemeClr val="accent5"/>
                </a:solidFill>
                <a:latin typeface="Roboto Mono"/>
                <a:ea typeface="Roboto Mono"/>
                <a:cs typeface="Roboto Mono"/>
                <a:sym typeface="Roboto Mono"/>
              </a:rPr>
              <a:t>tranqueira</a:t>
            </a:r>
            <a:r>
              <a:rPr lang="pt-BR" sz="1000">
                <a:solidFill>
                  <a:schemeClr val="dk2"/>
                </a:solidFill>
                <a:latin typeface="Roboto Mono"/>
                <a:ea typeface="Roboto Mono"/>
                <a:cs typeface="Roboto Mono"/>
                <a:sym typeface="Roboto Mono"/>
              </a:rPr>
              <a:t>"</a:t>
            </a:r>
            <a:r>
              <a:rPr lang="pt-BR" sz="1000">
                <a:solidFill>
                  <a:schemeClr val="dk2"/>
                </a:solidFill>
              </a:rPr>
              <a:t> e </a:t>
            </a:r>
            <a:r>
              <a:rPr lang="pt-BR" sz="1000">
                <a:solidFill>
                  <a:schemeClr val="dk2"/>
                </a:solidFill>
                <a:latin typeface="Roboto Mono"/>
                <a:ea typeface="Roboto Mono"/>
                <a:cs typeface="Roboto Mono"/>
                <a:sym typeface="Roboto Mono"/>
              </a:rPr>
              <a:t>"</a:t>
            </a:r>
            <a:r>
              <a:rPr lang="pt-BR" sz="1000">
                <a:solidFill>
                  <a:schemeClr val="accent5"/>
                </a:solidFill>
                <a:latin typeface="Roboto Mono"/>
                <a:ea typeface="Roboto Mono"/>
                <a:cs typeface="Roboto Mono"/>
                <a:sym typeface="Roboto Mono"/>
              </a:rPr>
              <a:t>Mokeinha</a:t>
            </a:r>
            <a:r>
              <a:rPr lang="pt-BR" sz="1000">
                <a:solidFill>
                  <a:schemeClr val="dk2"/>
                </a:solidFill>
                <a:latin typeface="Roboto Mono"/>
                <a:ea typeface="Roboto Mono"/>
                <a:cs typeface="Roboto Mono"/>
                <a:sym typeface="Roboto Mono"/>
              </a:rPr>
              <a:t>"</a:t>
            </a:r>
            <a:r>
              <a:rPr lang="pt-BR" sz="1000">
                <a:solidFill>
                  <a:schemeClr val="dk2"/>
                </a:solidFill>
              </a:rPr>
              <a:t>.</a:t>
            </a:r>
            <a:endParaRPr b="1" sz="1000">
              <a:solidFill>
                <a:schemeClr val="dk2"/>
              </a:solidFill>
            </a:endParaRPr>
          </a:p>
          <a:p>
            <a:pPr indent="0" lvl="0" marL="0" rtl="0" algn="l">
              <a:lnSpc>
                <a:spcPct val="115000"/>
              </a:lnSpc>
              <a:spcBef>
                <a:spcPts val="1200"/>
              </a:spcBef>
              <a:spcAft>
                <a:spcPts val="0"/>
              </a:spcAft>
              <a:buNone/>
            </a:pPr>
            <a:r>
              <a:t/>
            </a:r>
            <a:endParaRPr sz="1100"/>
          </a:p>
          <a:p>
            <a:pPr indent="0" lvl="0" marL="0" rtl="0" algn="l">
              <a:spcBef>
                <a:spcPts val="1200"/>
              </a:spcBef>
              <a:spcAft>
                <a:spcPts val="0"/>
              </a:spcAft>
              <a:buNone/>
            </a:pPr>
            <a:r>
              <a:t/>
            </a:r>
            <a:endParaRPr sz="1300">
              <a:solidFill>
                <a:schemeClr val="dk2"/>
              </a:solidFill>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4"/>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TabPFN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5"/>
          <p:cNvSpPr txBox="1"/>
          <p:nvPr>
            <p:ph type="ctrTitle"/>
          </p:nvPr>
        </p:nvSpPr>
        <p:spPr>
          <a:xfrm>
            <a:off x="311700" y="539725"/>
            <a:ext cx="21072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TabPFN	</a:t>
            </a:r>
            <a:endParaRPr/>
          </a:p>
          <a:p>
            <a:pPr indent="0" lvl="0" marL="0" rtl="0" algn="l">
              <a:spcBef>
                <a:spcPts val="0"/>
              </a:spcBef>
              <a:spcAft>
                <a:spcPts val="0"/>
              </a:spcAft>
              <a:buNone/>
            </a:pPr>
            <a:r>
              <a:rPr lang="pt-BR" sz="2555"/>
              <a:t>Conceitos</a:t>
            </a:r>
            <a:endParaRPr sz="2555"/>
          </a:p>
        </p:txBody>
      </p:sp>
      <p:sp>
        <p:nvSpPr>
          <p:cNvPr id="258" name="Google Shape;258;p45"/>
          <p:cNvSpPr/>
          <p:nvPr/>
        </p:nvSpPr>
        <p:spPr>
          <a:xfrm>
            <a:off x="3605075" y="18525"/>
            <a:ext cx="5538900" cy="5143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pt-BR" sz="1100"/>
              <a:t>O Que É?</a:t>
            </a:r>
            <a:endParaRPr b="1" sz="1100"/>
          </a:p>
          <a:p>
            <a:pPr indent="-298450" lvl="0" marL="457200" rtl="0" algn="l">
              <a:lnSpc>
                <a:spcPct val="115000"/>
              </a:lnSpc>
              <a:spcBef>
                <a:spcPts val="1200"/>
              </a:spcBef>
              <a:spcAft>
                <a:spcPts val="0"/>
              </a:spcAft>
              <a:buSzPts val="1100"/>
              <a:buChar char="●"/>
            </a:pPr>
            <a:r>
              <a:rPr lang="pt-BR" sz="1100"/>
              <a:t>Um </a:t>
            </a:r>
            <a:r>
              <a:rPr b="1" lang="pt-BR" sz="1100"/>
              <a:t>Transformer Pré-treinado</a:t>
            </a:r>
            <a:r>
              <a:rPr lang="pt-BR" sz="1100"/>
              <a:t> especificamente para </a:t>
            </a:r>
            <a:r>
              <a:rPr b="1" lang="pt-BR" sz="1100"/>
              <a:t>dados tabulares</a:t>
            </a:r>
            <a:r>
              <a:rPr lang="pt-BR" sz="1100"/>
              <a:t>.</a:t>
            </a:r>
            <a:endParaRPr sz="1100"/>
          </a:p>
          <a:p>
            <a:pPr indent="-298450" lvl="0" marL="457200" rtl="0" algn="l">
              <a:lnSpc>
                <a:spcPct val="115000"/>
              </a:lnSpc>
              <a:spcBef>
                <a:spcPts val="0"/>
              </a:spcBef>
              <a:spcAft>
                <a:spcPts val="0"/>
              </a:spcAft>
              <a:buSzPts val="1100"/>
              <a:buChar char="●"/>
            </a:pPr>
            <a:r>
              <a:rPr lang="pt-BR" sz="1100"/>
              <a:t>Não é um modelo que você treina do zero; ele já "aprendeu" padrões de muitos datasets.</a:t>
            </a:r>
            <a:endParaRPr sz="1100"/>
          </a:p>
          <a:p>
            <a:pPr indent="0" lvl="0" marL="0" rtl="0" algn="l">
              <a:lnSpc>
                <a:spcPct val="115000"/>
              </a:lnSpc>
              <a:spcBef>
                <a:spcPts val="1200"/>
              </a:spcBef>
              <a:spcAft>
                <a:spcPts val="0"/>
              </a:spcAft>
              <a:buNone/>
            </a:pPr>
            <a:r>
              <a:rPr b="1" lang="pt-BR" sz="1100"/>
              <a:t>Vantagens Principais:</a:t>
            </a:r>
            <a:endParaRPr b="1" sz="1100"/>
          </a:p>
          <a:p>
            <a:pPr indent="-298450" lvl="0" marL="457200" rtl="0" algn="l">
              <a:lnSpc>
                <a:spcPct val="115000"/>
              </a:lnSpc>
              <a:spcBef>
                <a:spcPts val="1200"/>
              </a:spcBef>
              <a:spcAft>
                <a:spcPts val="0"/>
              </a:spcAft>
              <a:buSzPts val="1100"/>
              <a:buChar char="●"/>
            </a:pPr>
            <a:r>
              <a:rPr b="1" lang="pt-BR" sz="1100"/>
              <a:t>Extremamente Rápido:</a:t>
            </a:r>
            <a:r>
              <a:rPr lang="pt-BR" sz="1100"/>
              <a:t> Faz predições em </a:t>
            </a:r>
            <a:r>
              <a:rPr b="1" lang="pt-BR" sz="1100"/>
              <a:t>segundos</a:t>
            </a:r>
            <a:r>
              <a:rPr lang="pt-BR" sz="1100"/>
              <a:t>, pois não há um "treinamento" convencional demorado.</a:t>
            </a:r>
            <a:endParaRPr sz="1100"/>
          </a:p>
          <a:p>
            <a:pPr indent="-298450" lvl="0" marL="457200" rtl="0" algn="l">
              <a:lnSpc>
                <a:spcPct val="115000"/>
              </a:lnSpc>
              <a:spcBef>
                <a:spcPts val="0"/>
              </a:spcBef>
              <a:spcAft>
                <a:spcPts val="0"/>
              </a:spcAft>
              <a:buSzPts val="1100"/>
              <a:buChar char="●"/>
            </a:pPr>
            <a:r>
              <a:rPr b="1" lang="pt-BR" sz="1100"/>
              <a:t>Sem Ajuste de Hiperparâmetros:</a:t>
            </a:r>
            <a:r>
              <a:rPr lang="pt-BR" sz="1100"/>
              <a:t> Você </a:t>
            </a:r>
            <a:r>
              <a:rPr b="1" lang="pt-BR" sz="1100"/>
              <a:t>não precisa</a:t>
            </a:r>
            <a:r>
              <a:rPr lang="pt-BR" sz="1100"/>
              <a:t> se preocupar em otimizar </a:t>
            </a:r>
            <a:r>
              <a:rPr lang="pt-BR" sz="1100">
                <a:solidFill>
                  <a:srgbClr val="188038"/>
                </a:solidFill>
                <a:latin typeface="Roboto Mono"/>
                <a:ea typeface="Roboto Mono"/>
                <a:cs typeface="Roboto Mono"/>
                <a:sym typeface="Roboto Mono"/>
              </a:rPr>
              <a:t>learning rate</a:t>
            </a:r>
            <a:r>
              <a:rPr lang="pt-BR" sz="1100"/>
              <a:t>, </a:t>
            </a:r>
            <a:r>
              <a:rPr lang="pt-BR" sz="1100">
                <a:solidFill>
                  <a:srgbClr val="188038"/>
                </a:solidFill>
                <a:latin typeface="Roboto Mono"/>
                <a:ea typeface="Roboto Mono"/>
                <a:cs typeface="Roboto Mono"/>
                <a:sym typeface="Roboto Mono"/>
              </a:rPr>
              <a:t>número de árvores</a:t>
            </a:r>
            <a:r>
              <a:rPr lang="pt-BR" sz="1100"/>
              <a:t>, etc. </a:t>
            </a:r>
            <a:endParaRPr sz="1100"/>
          </a:p>
          <a:p>
            <a:pPr indent="-298450" lvl="0" marL="457200" rtl="0" algn="l">
              <a:lnSpc>
                <a:spcPct val="115000"/>
              </a:lnSpc>
              <a:spcBef>
                <a:spcPts val="0"/>
              </a:spcBef>
              <a:spcAft>
                <a:spcPts val="0"/>
              </a:spcAft>
              <a:buSzPts val="1100"/>
              <a:buChar char="●"/>
            </a:pPr>
            <a:r>
              <a:rPr b="1" lang="pt-BR" sz="1100"/>
              <a:t>Excelente em Pequenos Datasets:</a:t>
            </a:r>
            <a:r>
              <a:rPr lang="pt-BR" sz="1100"/>
              <a:t> Mostra desempenho de ponta (superando até XGBoost/LightGBM </a:t>
            </a:r>
            <a:r>
              <a:rPr i="1" lang="pt-BR" sz="1100"/>
              <a:t>não otimizados</a:t>
            </a:r>
            <a:r>
              <a:rPr lang="pt-BR" sz="1100"/>
              <a:t>) em tabelas com:</a:t>
            </a:r>
            <a:endParaRPr sz="1100"/>
          </a:p>
          <a:p>
            <a:pPr indent="-298450" lvl="1" marL="914400" rtl="0" algn="l">
              <a:lnSpc>
                <a:spcPct val="115000"/>
              </a:lnSpc>
              <a:spcBef>
                <a:spcPts val="0"/>
              </a:spcBef>
              <a:spcAft>
                <a:spcPts val="0"/>
              </a:spcAft>
              <a:buSzPts val="1100"/>
              <a:buAutoNum type="alphaLcPeriod"/>
            </a:pPr>
            <a:r>
              <a:rPr lang="pt-BR" sz="1100"/>
              <a:t>Até ~1000 amostras (linhas).</a:t>
            </a:r>
            <a:endParaRPr sz="1100"/>
          </a:p>
          <a:p>
            <a:pPr indent="-298450" lvl="1" marL="914400" rtl="0" algn="l">
              <a:lnSpc>
                <a:spcPct val="115000"/>
              </a:lnSpc>
              <a:spcBef>
                <a:spcPts val="0"/>
              </a:spcBef>
              <a:spcAft>
                <a:spcPts val="0"/>
              </a:spcAft>
              <a:buSzPts val="1100"/>
              <a:buAutoNum type="alphaLcPeriod"/>
            </a:pPr>
            <a:r>
              <a:rPr lang="pt-BR" sz="1100"/>
              <a:t>Até ~500 características (colunas).</a:t>
            </a:r>
            <a:endParaRPr sz="1100"/>
          </a:p>
          <a:p>
            <a:pPr indent="0" lvl="0" marL="0" rtl="0" algn="l">
              <a:lnSpc>
                <a:spcPct val="115000"/>
              </a:lnSpc>
              <a:spcBef>
                <a:spcPts val="1200"/>
              </a:spcBef>
              <a:spcAft>
                <a:spcPts val="0"/>
              </a:spcAft>
              <a:buNone/>
            </a:pPr>
            <a:r>
              <a:rPr b="1" lang="pt-BR" sz="1100"/>
              <a:t>Limitações:</a:t>
            </a:r>
            <a:endParaRPr b="1" sz="1100"/>
          </a:p>
          <a:p>
            <a:pPr indent="-298450" lvl="0" marL="457200" rtl="0" algn="l">
              <a:lnSpc>
                <a:spcPct val="115000"/>
              </a:lnSpc>
              <a:spcBef>
                <a:spcPts val="1200"/>
              </a:spcBef>
              <a:spcAft>
                <a:spcPts val="0"/>
              </a:spcAft>
              <a:buSzPts val="1100"/>
              <a:buChar char="●"/>
            </a:pPr>
            <a:r>
              <a:rPr b="1" lang="pt-BR" sz="1100"/>
              <a:t>Não escala</a:t>
            </a:r>
            <a:r>
              <a:rPr lang="pt-BR" sz="1100"/>
              <a:t> bem para datasets grandes.</a:t>
            </a:r>
            <a:endParaRPr sz="1100"/>
          </a:p>
          <a:p>
            <a:pPr indent="0" lvl="0" marL="0" rtl="0" algn="l">
              <a:lnSpc>
                <a:spcPct val="115000"/>
              </a:lnSpc>
              <a:spcBef>
                <a:spcPts val="1200"/>
              </a:spcBef>
              <a:spcAft>
                <a:spcPts val="0"/>
              </a:spcAft>
              <a:buNone/>
            </a:pPr>
            <a:r>
              <a:t/>
            </a:r>
            <a:endParaRPr sz="1100"/>
          </a:p>
          <a:p>
            <a:pPr indent="0" lvl="0" marL="0" rtl="0" algn="ctr">
              <a:spcBef>
                <a:spcPts val="1200"/>
              </a:spcBef>
              <a:spcAft>
                <a:spcPts val="0"/>
              </a:spcAft>
              <a:buNone/>
            </a:pPr>
            <a:r>
              <a:t/>
            </a:r>
            <a:endParaRPr>
              <a:solidFill>
                <a:schemeClr val="lt1"/>
              </a:solidFill>
              <a:latin typeface="Roboto"/>
              <a:ea typeface="Roboto"/>
              <a:cs typeface="Roboto"/>
              <a:sym typeface="Robo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Resultados</a:t>
            </a:r>
            <a:endParaRPr/>
          </a:p>
        </p:txBody>
      </p:sp>
      <p:pic>
        <p:nvPicPr>
          <p:cNvPr id="264" name="Google Shape;264;p46"/>
          <p:cNvPicPr preferRelativeResize="0"/>
          <p:nvPr/>
        </p:nvPicPr>
        <p:blipFill>
          <a:blip r:embed="rId3">
            <a:alphaModFix/>
          </a:blip>
          <a:stretch>
            <a:fillRect/>
          </a:stretch>
        </p:blipFill>
        <p:spPr>
          <a:xfrm>
            <a:off x="152425" y="1324200"/>
            <a:ext cx="8839197" cy="509102"/>
          </a:xfrm>
          <a:prstGeom prst="rect">
            <a:avLst/>
          </a:prstGeom>
          <a:noFill/>
          <a:ln>
            <a:noFill/>
          </a:ln>
        </p:spPr>
      </p:pic>
      <p:sp>
        <p:nvSpPr>
          <p:cNvPr id="265" name="Google Shape;265;p46"/>
          <p:cNvSpPr txBox="1"/>
          <p:nvPr/>
        </p:nvSpPr>
        <p:spPr>
          <a:xfrm>
            <a:off x="152425" y="1944700"/>
            <a:ext cx="3667500" cy="30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pt-BR" sz="1300">
                <a:solidFill>
                  <a:schemeClr val="dk2"/>
                </a:solidFill>
                <a:latin typeface="Roboto"/>
                <a:ea typeface="Roboto"/>
                <a:cs typeface="Roboto"/>
                <a:sym typeface="Roboto"/>
              </a:rPr>
              <a:t>METODOLOGIA</a:t>
            </a:r>
            <a:endParaRPr b="1" sz="1300">
              <a:solidFill>
                <a:schemeClr val="dk2"/>
              </a:solidFill>
              <a:latin typeface="Roboto"/>
              <a:ea typeface="Roboto"/>
              <a:cs typeface="Roboto"/>
              <a:sym typeface="Roboto"/>
            </a:endParaRPr>
          </a:p>
          <a:p>
            <a:pPr indent="0" lvl="0" marL="0" rtl="0" algn="l">
              <a:spcBef>
                <a:spcPts val="0"/>
              </a:spcBef>
              <a:spcAft>
                <a:spcPts val="0"/>
              </a:spcAft>
              <a:buNone/>
            </a:pPr>
            <a:r>
              <a:rPr lang="pt-BR" sz="1300">
                <a:solidFill>
                  <a:schemeClr val="dk2"/>
                </a:solidFill>
                <a:latin typeface="Roboto"/>
                <a:ea typeface="Roboto"/>
                <a:cs typeface="Roboto"/>
                <a:sym typeface="Roboto"/>
              </a:rPr>
              <a:t>- Utilizou-se TF-IDF para vetorização dos comentários</a:t>
            </a:r>
            <a:endParaRPr sz="1300">
              <a:solidFill>
                <a:schemeClr val="dk2"/>
              </a:solidFill>
              <a:latin typeface="Roboto"/>
              <a:ea typeface="Roboto"/>
              <a:cs typeface="Roboto"/>
              <a:sym typeface="Roboto"/>
            </a:endParaRPr>
          </a:p>
          <a:p>
            <a:pPr indent="0" lvl="0" marL="0" rtl="0" algn="l">
              <a:spcBef>
                <a:spcPts val="0"/>
              </a:spcBef>
              <a:spcAft>
                <a:spcPts val="0"/>
              </a:spcAft>
              <a:buNone/>
            </a:pPr>
            <a:r>
              <a:rPr lang="pt-BR" sz="1300">
                <a:solidFill>
                  <a:schemeClr val="dk2"/>
                </a:solidFill>
                <a:latin typeface="Roboto"/>
                <a:ea typeface="Roboto"/>
                <a:cs typeface="Roboto"/>
                <a:sym typeface="Roboto"/>
              </a:rPr>
              <a:t>- Modelo TabPFN para classificação binária</a:t>
            </a:r>
            <a:endParaRPr sz="1300">
              <a:solidFill>
                <a:schemeClr val="dk2"/>
              </a:solidFill>
              <a:latin typeface="Roboto"/>
              <a:ea typeface="Roboto"/>
              <a:cs typeface="Roboto"/>
              <a:sym typeface="Roboto"/>
            </a:endParaRPr>
          </a:p>
          <a:p>
            <a:pPr indent="0" lvl="0" marL="0" rtl="0" algn="l">
              <a:spcBef>
                <a:spcPts val="0"/>
              </a:spcBef>
              <a:spcAft>
                <a:spcPts val="0"/>
              </a:spcAft>
              <a:buNone/>
            </a:pPr>
            <a:r>
              <a:rPr lang="pt-BR" sz="1300">
                <a:solidFill>
                  <a:schemeClr val="dk2"/>
                </a:solidFill>
                <a:latin typeface="Roboto"/>
                <a:ea typeface="Roboto"/>
                <a:cs typeface="Roboto"/>
                <a:sym typeface="Roboto"/>
              </a:rPr>
              <a:t>- Validação cruzada com 5 folds para avaliação robusta</a:t>
            </a:r>
            <a:endParaRPr sz="1300">
              <a:solidFill>
                <a:schemeClr val="dk2"/>
              </a:solidFill>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a:p>
            <a:pPr indent="0" lvl="0" marL="0" rtl="0" algn="l">
              <a:spcBef>
                <a:spcPts val="0"/>
              </a:spcBef>
              <a:spcAft>
                <a:spcPts val="0"/>
              </a:spcAft>
              <a:buNone/>
            </a:pPr>
            <a:r>
              <a:rPr b="1" lang="pt-BR" sz="1300">
                <a:solidFill>
                  <a:schemeClr val="dk2"/>
                </a:solidFill>
                <a:latin typeface="Roboto"/>
                <a:ea typeface="Roboto"/>
                <a:cs typeface="Roboto"/>
                <a:sym typeface="Roboto"/>
              </a:rPr>
              <a:t>ANÁLISE DE ERROS</a:t>
            </a:r>
            <a:endParaRPr b="1" sz="1300">
              <a:solidFill>
                <a:schemeClr val="dk2"/>
              </a:solidFill>
              <a:latin typeface="Roboto"/>
              <a:ea typeface="Roboto"/>
              <a:cs typeface="Roboto"/>
              <a:sym typeface="Roboto"/>
            </a:endParaRPr>
          </a:p>
          <a:p>
            <a:pPr indent="0" lvl="0" marL="0" rtl="0" algn="l">
              <a:spcBef>
                <a:spcPts val="0"/>
              </a:spcBef>
              <a:spcAft>
                <a:spcPts val="0"/>
              </a:spcAft>
              <a:buNone/>
            </a:pPr>
            <a:r>
              <a:rPr lang="pt-BR" sz="1300">
                <a:solidFill>
                  <a:schemeClr val="dk2"/>
                </a:solidFill>
                <a:latin typeface="Roboto"/>
                <a:ea typeface="Roboto"/>
                <a:cs typeface="Roboto"/>
                <a:sym typeface="Roboto"/>
              </a:rPr>
              <a:t>Possíveis fatores para erros de classificação:</a:t>
            </a:r>
            <a:endParaRPr sz="1300">
              <a:solidFill>
                <a:schemeClr val="dk2"/>
              </a:solidFill>
              <a:latin typeface="Roboto"/>
              <a:ea typeface="Roboto"/>
              <a:cs typeface="Roboto"/>
              <a:sym typeface="Roboto"/>
            </a:endParaRPr>
          </a:p>
          <a:p>
            <a:pPr indent="0" lvl="0" marL="0" rtl="0" algn="l">
              <a:spcBef>
                <a:spcPts val="0"/>
              </a:spcBef>
              <a:spcAft>
                <a:spcPts val="0"/>
              </a:spcAft>
              <a:buNone/>
            </a:pPr>
            <a:r>
              <a:rPr lang="pt-BR" sz="1300">
                <a:solidFill>
                  <a:schemeClr val="dk2"/>
                </a:solidFill>
                <a:latin typeface="Roboto"/>
                <a:ea typeface="Roboto"/>
                <a:cs typeface="Roboto"/>
                <a:sym typeface="Roboto"/>
              </a:rPr>
              <a:t>- Ambiguidade na linguagem e contexto</a:t>
            </a:r>
            <a:endParaRPr sz="1300">
              <a:solidFill>
                <a:schemeClr val="dk2"/>
              </a:solidFill>
              <a:latin typeface="Roboto"/>
              <a:ea typeface="Roboto"/>
              <a:cs typeface="Roboto"/>
              <a:sym typeface="Roboto"/>
            </a:endParaRPr>
          </a:p>
          <a:p>
            <a:pPr indent="0" lvl="0" marL="0" rtl="0" algn="l">
              <a:spcBef>
                <a:spcPts val="0"/>
              </a:spcBef>
              <a:spcAft>
                <a:spcPts val="0"/>
              </a:spcAft>
              <a:buNone/>
            </a:pPr>
            <a:r>
              <a:rPr lang="pt-BR" sz="1300">
                <a:solidFill>
                  <a:schemeClr val="dk2"/>
                </a:solidFill>
                <a:latin typeface="Roboto"/>
                <a:ea typeface="Roboto"/>
                <a:cs typeface="Roboto"/>
                <a:sym typeface="Roboto"/>
              </a:rPr>
              <a:t>- Desequilíbrio entre classes</a:t>
            </a:r>
            <a:endParaRPr sz="1300">
              <a:solidFill>
                <a:schemeClr val="dk2"/>
              </a:solidFill>
              <a:latin typeface="Roboto"/>
              <a:ea typeface="Roboto"/>
              <a:cs typeface="Roboto"/>
              <a:sym typeface="Roboto"/>
            </a:endParaRPr>
          </a:p>
          <a:p>
            <a:pPr indent="0" lvl="0" marL="0" rtl="0" algn="l">
              <a:spcBef>
                <a:spcPts val="0"/>
              </a:spcBef>
              <a:spcAft>
                <a:spcPts val="0"/>
              </a:spcAft>
              <a:buNone/>
            </a:pPr>
            <a:r>
              <a:rPr lang="pt-BR" sz="1300">
                <a:solidFill>
                  <a:schemeClr val="dk2"/>
                </a:solidFill>
                <a:latin typeface="Roboto"/>
                <a:ea typeface="Roboto"/>
                <a:cs typeface="Roboto"/>
                <a:sym typeface="Roboto"/>
              </a:rPr>
              <a:t>- Limitação da representação TF-IDF para capturar nuances</a:t>
            </a:r>
            <a:endParaRPr sz="1300">
              <a:solidFill>
                <a:schemeClr val="dk2"/>
              </a:solidFill>
              <a:latin typeface="Roboto"/>
              <a:ea typeface="Roboto"/>
              <a:cs typeface="Roboto"/>
              <a:sym typeface="Roboto"/>
            </a:endParaRPr>
          </a:p>
          <a:p>
            <a:pPr indent="0" lvl="0" marL="0" rtl="0" algn="l">
              <a:spcBef>
                <a:spcPts val="0"/>
              </a:spcBef>
              <a:spcAft>
                <a:spcPts val="0"/>
              </a:spcAft>
              <a:buNone/>
            </a:pPr>
            <a:r>
              <a:rPr lang="pt-BR" sz="1300">
                <a:solidFill>
                  <a:schemeClr val="dk2"/>
                </a:solidFill>
                <a:latin typeface="Roboto"/>
                <a:ea typeface="Roboto"/>
                <a:cs typeface="Roboto"/>
                <a:sym typeface="Roboto"/>
              </a:rPr>
              <a:t>- Possível ruído nos dados de treinamento</a:t>
            </a:r>
            <a:endParaRPr sz="1300">
              <a:solidFill>
                <a:schemeClr val="dk2"/>
              </a:solidFill>
              <a:latin typeface="Roboto"/>
              <a:ea typeface="Roboto"/>
              <a:cs typeface="Roboto"/>
              <a:sym typeface="Roboto"/>
            </a:endParaRPr>
          </a:p>
        </p:txBody>
      </p:sp>
      <p:sp>
        <p:nvSpPr>
          <p:cNvPr id="266" name="Google Shape;266;p46"/>
          <p:cNvSpPr txBox="1"/>
          <p:nvPr/>
        </p:nvSpPr>
        <p:spPr>
          <a:xfrm>
            <a:off x="3909225" y="2032875"/>
            <a:ext cx="2490300" cy="310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pt-BR">
                <a:solidFill>
                  <a:srgbClr val="1F1F1F"/>
                </a:solidFill>
              </a:rPr>
              <a:t>MISOGINIA</a:t>
            </a:r>
            <a:endParaRPr>
              <a:solidFill>
                <a:srgbClr val="1F1F1F"/>
              </a:solidFill>
            </a:endParaRPr>
          </a:p>
          <a:p>
            <a:pPr indent="0" lvl="0" marL="0" rtl="0" algn="l">
              <a:spcBef>
                <a:spcPts val="0"/>
              </a:spcBef>
              <a:spcAft>
                <a:spcPts val="0"/>
              </a:spcAft>
              <a:buNone/>
            </a:pPr>
            <a:r>
              <a:rPr lang="pt-BR">
                <a:solidFill>
                  <a:srgbClr val="1F1F1F"/>
                </a:solidFill>
              </a:rPr>
              <a:t>  Classe 0:</a:t>
            </a:r>
            <a:endParaRPr>
              <a:solidFill>
                <a:srgbClr val="1F1F1F"/>
              </a:solidFill>
            </a:endParaRPr>
          </a:p>
          <a:p>
            <a:pPr indent="0" lvl="0" marL="0" rtl="0" algn="l">
              <a:spcBef>
                <a:spcPts val="0"/>
              </a:spcBef>
              <a:spcAft>
                <a:spcPts val="0"/>
              </a:spcAft>
              <a:buNone/>
            </a:pPr>
            <a:r>
              <a:rPr lang="pt-BR">
                <a:solidFill>
                  <a:srgbClr val="1F1F1F"/>
                </a:solidFill>
              </a:rPr>
              <a:t>    Precision: 0.8251</a:t>
            </a:r>
            <a:endParaRPr>
              <a:solidFill>
                <a:srgbClr val="1F1F1F"/>
              </a:solidFill>
            </a:endParaRPr>
          </a:p>
          <a:p>
            <a:pPr indent="0" lvl="0" marL="0" rtl="0" algn="l">
              <a:spcBef>
                <a:spcPts val="0"/>
              </a:spcBef>
              <a:spcAft>
                <a:spcPts val="0"/>
              </a:spcAft>
              <a:buNone/>
            </a:pPr>
            <a:r>
              <a:rPr lang="pt-BR">
                <a:solidFill>
                  <a:srgbClr val="1F1F1F"/>
                </a:solidFill>
              </a:rPr>
              <a:t>    Recall:    0.9160</a:t>
            </a:r>
            <a:endParaRPr>
              <a:solidFill>
                <a:srgbClr val="1F1F1F"/>
              </a:solidFill>
            </a:endParaRPr>
          </a:p>
          <a:p>
            <a:pPr indent="0" lvl="0" marL="0" rtl="0" algn="l">
              <a:spcBef>
                <a:spcPts val="0"/>
              </a:spcBef>
              <a:spcAft>
                <a:spcPts val="0"/>
              </a:spcAft>
              <a:buNone/>
            </a:pPr>
            <a:r>
              <a:rPr lang="pt-BR">
                <a:solidFill>
                  <a:srgbClr val="1F1F1F"/>
                </a:solidFill>
              </a:rPr>
              <a:t>    F1-score:  0.8680</a:t>
            </a:r>
            <a:endParaRPr>
              <a:solidFill>
                <a:srgbClr val="1F1F1F"/>
              </a:solidFill>
            </a:endParaRPr>
          </a:p>
          <a:p>
            <a:pPr indent="0" lvl="0" marL="0" rtl="0" algn="l">
              <a:spcBef>
                <a:spcPts val="0"/>
              </a:spcBef>
              <a:spcAft>
                <a:spcPts val="0"/>
              </a:spcAft>
              <a:buNone/>
            </a:pPr>
            <a:r>
              <a:rPr lang="pt-BR">
                <a:solidFill>
                  <a:srgbClr val="1F1F1F"/>
                </a:solidFill>
              </a:rPr>
              <a:t>    Support:   295</a:t>
            </a:r>
            <a:endParaRPr>
              <a:solidFill>
                <a:srgbClr val="1F1F1F"/>
              </a:solidFill>
            </a:endParaRPr>
          </a:p>
          <a:p>
            <a:pPr indent="0" lvl="0" marL="0" rtl="0" algn="l">
              <a:spcBef>
                <a:spcPts val="0"/>
              </a:spcBef>
              <a:spcAft>
                <a:spcPts val="0"/>
              </a:spcAft>
              <a:buNone/>
            </a:pPr>
            <a:r>
              <a:rPr lang="pt-BR">
                <a:solidFill>
                  <a:srgbClr val="1F1F1F"/>
                </a:solidFill>
              </a:rPr>
              <a:t>  Classe 1:</a:t>
            </a:r>
            <a:endParaRPr>
              <a:solidFill>
                <a:srgbClr val="1F1F1F"/>
              </a:solidFill>
            </a:endParaRPr>
          </a:p>
          <a:p>
            <a:pPr indent="0" lvl="0" marL="0" rtl="0" algn="l">
              <a:spcBef>
                <a:spcPts val="0"/>
              </a:spcBef>
              <a:spcAft>
                <a:spcPts val="0"/>
              </a:spcAft>
              <a:buNone/>
            </a:pPr>
            <a:r>
              <a:rPr lang="pt-BR">
                <a:solidFill>
                  <a:srgbClr val="1F1F1F"/>
                </a:solidFill>
              </a:rPr>
              <a:t>    Precision: 0.6737</a:t>
            </a:r>
            <a:endParaRPr>
              <a:solidFill>
                <a:srgbClr val="1F1F1F"/>
              </a:solidFill>
            </a:endParaRPr>
          </a:p>
          <a:p>
            <a:pPr indent="0" lvl="0" marL="0" rtl="0" algn="l">
              <a:spcBef>
                <a:spcPts val="0"/>
              </a:spcBef>
              <a:spcAft>
                <a:spcPts val="0"/>
              </a:spcAft>
              <a:buNone/>
            </a:pPr>
            <a:r>
              <a:rPr lang="pt-BR">
                <a:solidFill>
                  <a:srgbClr val="1F1F1F"/>
                </a:solidFill>
              </a:rPr>
              <a:t>    Recall:    0.4665</a:t>
            </a:r>
            <a:endParaRPr>
              <a:solidFill>
                <a:srgbClr val="1F1F1F"/>
              </a:solidFill>
            </a:endParaRPr>
          </a:p>
          <a:p>
            <a:pPr indent="0" lvl="0" marL="0" rtl="0" algn="l">
              <a:spcBef>
                <a:spcPts val="0"/>
              </a:spcBef>
              <a:spcAft>
                <a:spcPts val="0"/>
              </a:spcAft>
              <a:buNone/>
            </a:pPr>
            <a:r>
              <a:rPr lang="pt-BR">
                <a:solidFill>
                  <a:srgbClr val="1F1F1F"/>
                </a:solidFill>
              </a:rPr>
              <a:t>    F1-score:  0.5494</a:t>
            </a:r>
            <a:endParaRPr>
              <a:solidFill>
                <a:srgbClr val="1F1F1F"/>
              </a:solidFill>
            </a:endParaRPr>
          </a:p>
          <a:p>
            <a:pPr indent="0" lvl="0" marL="0" rtl="0" algn="l">
              <a:spcBef>
                <a:spcPts val="0"/>
              </a:spcBef>
              <a:spcAft>
                <a:spcPts val="0"/>
              </a:spcAft>
              <a:buNone/>
            </a:pPr>
            <a:r>
              <a:rPr lang="pt-BR">
                <a:solidFill>
                  <a:srgbClr val="1F1F1F"/>
                </a:solidFill>
              </a:rPr>
              <a:t>    Support:   107</a:t>
            </a:r>
            <a:endParaRPr>
              <a:solidFill>
                <a:srgbClr val="1F1F1F"/>
              </a:solidFill>
            </a:endParaRPr>
          </a:p>
          <a:p>
            <a:pPr indent="0" lvl="0" marL="0" rtl="0" algn="l">
              <a:spcBef>
                <a:spcPts val="0"/>
              </a:spcBef>
              <a:spcAft>
                <a:spcPts val="0"/>
              </a:spcAft>
              <a:buNone/>
            </a:pPr>
            <a:r>
              <a:t/>
            </a:r>
            <a:endParaRPr>
              <a:solidFill>
                <a:srgbClr val="1F1F1F"/>
              </a:solidFill>
            </a:endParaRPr>
          </a:p>
          <a:p>
            <a:pPr indent="0" lvl="0" marL="0" rtl="0" algn="l">
              <a:spcBef>
                <a:spcPts val="0"/>
              </a:spcBef>
              <a:spcAft>
                <a:spcPts val="0"/>
              </a:spcAft>
              <a:buNone/>
            </a:pPr>
            <a:r>
              <a:t/>
            </a:r>
            <a:endParaRPr sz="1800">
              <a:solidFill>
                <a:srgbClr val="1F1F1F"/>
              </a:solidFill>
            </a:endParaRPr>
          </a:p>
        </p:txBody>
      </p:sp>
      <p:sp>
        <p:nvSpPr>
          <p:cNvPr id="267" name="Google Shape;267;p46"/>
          <p:cNvSpPr txBox="1"/>
          <p:nvPr/>
        </p:nvSpPr>
        <p:spPr>
          <a:xfrm>
            <a:off x="6647650" y="2004225"/>
            <a:ext cx="2343900" cy="30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pt-BR" sz="1500">
                <a:solidFill>
                  <a:srgbClr val="1F1F1F"/>
                </a:solidFill>
              </a:rPr>
              <a:t>TOXICIDADE</a:t>
            </a:r>
            <a:r>
              <a:rPr lang="pt-BR" sz="1500">
                <a:solidFill>
                  <a:srgbClr val="1F1F1F"/>
                </a:solidFill>
              </a:rPr>
              <a:t> </a:t>
            </a:r>
            <a:endParaRPr sz="1500">
              <a:solidFill>
                <a:srgbClr val="1F1F1F"/>
              </a:solidFill>
            </a:endParaRPr>
          </a:p>
          <a:p>
            <a:pPr indent="0" lvl="0" marL="0" rtl="0" algn="l">
              <a:spcBef>
                <a:spcPts val="0"/>
              </a:spcBef>
              <a:spcAft>
                <a:spcPts val="0"/>
              </a:spcAft>
              <a:buNone/>
            </a:pPr>
            <a:r>
              <a:rPr lang="pt-BR" sz="1500">
                <a:solidFill>
                  <a:srgbClr val="1F1F1F"/>
                </a:solidFill>
              </a:rPr>
              <a:t>  Classe 0:</a:t>
            </a:r>
            <a:endParaRPr sz="1500">
              <a:solidFill>
                <a:srgbClr val="1F1F1F"/>
              </a:solidFill>
            </a:endParaRPr>
          </a:p>
          <a:p>
            <a:pPr indent="0" lvl="0" marL="0" rtl="0" algn="l">
              <a:spcBef>
                <a:spcPts val="0"/>
              </a:spcBef>
              <a:spcAft>
                <a:spcPts val="0"/>
              </a:spcAft>
              <a:buNone/>
            </a:pPr>
            <a:r>
              <a:rPr lang="pt-BR" sz="1500">
                <a:solidFill>
                  <a:srgbClr val="1F1F1F"/>
                </a:solidFill>
              </a:rPr>
              <a:t>    Precision: 0.6754</a:t>
            </a:r>
            <a:endParaRPr sz="1500">
              <a:solidFill>
                <a:srgbClr val="1F1F1F"/>
              </a:solidFill>
            </a:endParaRPr>
          </a:p>
          <a:p>
            <a:pPr indent="0" lvl="0" marL="0" rtl="0" algn="l">
              <a:spcBef>
                <a:spcPts val="0"/>
              </a:spcBef>
              <a:spcAft>
                <a:spcPts val="0"/>
              </a:spcAft>
              <a:buNone/>
            </a:pPr>
            <a:r>
              <a:rPr lang="pt-BR" sz="1500">
                <a:solidFill>
                  <a:srgbClr val="1F1F1F"/>
                </a:solidFill>
              </a:rPr>
              <a:t>    Recall:    0.8271</a:t>
            </a:r>
            <a:endParaRPr sz="1500">
              <a:solidFill>
                <a:srgbClr val="1F1F1F"/>
              </a:solidFill>
            </a:endParaRPr>
          </a:p>
          <a:p>
            <a:pPr indent="0" lvl="0" marL="0" rtl="0" algn="l">
              <a:spcBef>
                <a:spcPts val="0"/>
              </a:spcBef>
              <a:spcAft>
                <a:spcPts val="0"/>
              </a:spcAft>
              <a:buNone/>
            </a:pPr>
            <a:r>
              <a:rPr lang="pt-BR" sz="1500">
                <a:solidFill>
                  <a:srgbClr val="1F1F1F"/>
                </a:solidFill>
              </a:rPr>
              <a:t>    F1-score:  0.7435</a:t>
            </a:r>
            <a:endParaRPr sz="1500">
              <a:solidFill>
                <a:srgbClr val="1F1F1F"/>
              </a:solidFill>
            </a:endParaRPr>
          </a:p>
          <a:p>
            <a:pPr indent="0" lvl="0" marL="0" rtl="0" algn="l">
              <a:spcBef>
                <a:spcPts val="0"/>
              </a:spcBef>
              <a:spcAft>
                <a:spcPts val="0"/>
              </a:spcAft>
              <a:buNone/>
            </a:pPr>
            <a:r>
              <a:rPr lang="pt-BR" sz="1500">
                <a:solidFill>
                  <a:srgbClr val="1F1F1F"/>
                </a:solidFill>
              </a:rPr>
              <a:t>    Support:   234</a:t>
            </a:r>
            <a:endParaRPr sz="1500">
              <a:solidFill>
                <a:srgbClr val="1F1F1F"/>
              </a:solidFill>
            </a:endParaRPr>
          </a:p>
          <a:p>
            <a:pPr indent="0" lvl="0" marL="0" rtl="0" algn="l">
              <a:spcBef>
                <a:spcPts val="0"/>
              </a:spcBef>
              <a:spcAft>
                <a:spcPts val="0"/>
              </a:spcAft>
              <a:buNone/>
            </a:pPr>
            <a:r>
              <a:rPr lang="pt-BR" sz="1500">
                <a:solidFill>
                  <a:srgbClr val="1F1F1F"/>
                </a:solidFill>
              </a:rPr>
              <a:t>  Classe 1:</a:t>
            </a:r>
            <a:endParaRPr sz="1500">
              <a:solidFill>
                <a:srgbClr val="1F1F1F"/>
              </a:solidFill>
            </a:endParaRPr>
          </a:p>
          <a:p>
            <a:pPr indent="0" lvl="0" marL="0" rtl="0" algn="l">
              <a:spcBef>
                <a:spcPts val="0"/>
              </a:spcBef>
              <a:spcAft>
                <a:spcPts val="0"/>
              </a:spcAft>
              <a:buNone/>
            </a:pPr>
            <a:r>
              <a:rPr lang="pt-BR" sz="1500">
                <a:solidFill>
                  <a:srgbClr val="1F1F1F"/>
                </a:solidFill>
              </a:rPr>
              <a:t>    Precision: 0.6477</a:t>
            </a:r>
            <a:endParaRPr sz="1500">
              <a:solidFill>
                <a:srgbClr val="1F1F1F"/>
              </a:solidFill>
            </a:endParaRPr>
          </a:p>
          <a:p>
            <a:pPr indent="0" lvl="0" marL="0" rtl="0" algn="l">
              <a:spcBef>
                <a:spcPts val="0"/>
              </a:spcBef>
              <a:spcAft>
                <a:spcPts val="0"/>
              </a:spcAft>
              <a:buNone/>
            </a:pPr>
            <a:r>
              <a:rPr lang="pt-BR" sz="1500">
                <a:solidFill>
                  <a:srgbClr val="1F1F1F"/>
                </a:solidFill>
              </a:rPr>
              <a:t>    Recall:    0.4440</a:t>
            </a:r>
            <a:endParaRPr sz="1500">
              <a:solidFill>
                <a:srgbClr val="1F1F1F"/>
              </a:solidFill>
            </a:endParaRPr>
          </a:p>
          <a:p>
            <a:pPr indent="0" lvl="0" marL="0" rtl="0" algn="l">
              <a:spcBef>
                <a:spcPts val="0"/>
              </a:spcBef>
              <a:spcAft>
                <a:spcPts val="0"/>
              </a:spcAft>
              <a:buNone/>
            </a:pPr>
            <a:r>
              <a:rPr lang="pt-BR" sz="1500">
                <a:solidFill>
                  <a:srgbClr val="1F1F1F"/>
                </a:solidFill>
              </a:rPr>
              <a:t>    F1-score:  0.5265</a:t>
            </a:r>
            <a:endParaRPr sz="1500">
              <a:solidFill>
                <a:srgbClr val="1F1F1F"/>
              </a:solidFill>
            </a:endParaRPr>
          </a:p>
          <a:p>
            <a:pPr indent="0" lvl="0" marL="0" rtl="0" algn="l">
              <a:spcBef>
                <a:spcPts val="0"/>
              </a:spcBef>
              <a:spcAft>
                <a:spcPts val="0"/>
              </a:spcAft>
              <a:buNone/>
            </a:pPr>
            <a:r>
              <a:rPr lang="pt-BR" sz="1500">
                <a:solidFill>
                  <a:srgbClr val="1F1F1F"/>
                </a:solidFill>
              </a:rPr>
              <a:t>    Support:   168</a:t>
            </a:r>
            <a:endParaRPr sz="1900">
              <a:solidFill>
                <a:srgbClr val="1F1F1F"/>
              </a:solidFill>
            </a:endParaRPr>
          </a:p>
          <a:p>
            <a:pPr indent="0" lvl="0" marL="0" rtl="0" algn="l">
              <a:spcBef>
                <a:spcPts val="0"/>
              </a:spcBef>
              <a:spcAft>
                <a:spcPts val="0"/>
              </a:spcAft>
              <a:buNone/>
            </a:pPr>
            <a:r>
              <a:t/>
            </a:r>
            <a:endParaRPr sz="1900">
              <a:solidFill>
                <a:schemeClr val="dk2"/>
              </a:solidFill>
              <a:latin typeface="Roboto"/>
              <a:ea typeface="Roboto"/>
              <a:cs typeface="Roboto"/>
              <a:sym typeface="Robo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7"/>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Resultados</a:t>
            </a:r>
            <a:endParaRPr/>
          </a:p>
        </p:txBody>
      </p:sp>
      <p:sp>
        <p:nvSpPr>
          <p:cNvPr id="273" name="Google Shape;273;p47"/>
          <p:cNvSpPr txBox="1"/>
          <p:nvPr/>
        </p:nvSpPr>
        <p:spPr>
          <a:xfrm>
            <a:off x="311725" y="1359300"/>
            <a:ext cx="8757000" cy="377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pt-BR">
                <a:solidFill>
                  <a:schemeClr val="dk1"/>
                </a:solidFill>
              </a:rPr>
              <a:t>RESUMO MISOGINIA</a:t>
            </a:r>
            <a:r>
              <a:rPr lang="pt-BR">
                <a:solidFill>
                  <a:schemeClr val="dk1"/>
                </a:solidFill>
              </a:rPr>
              <a:t>:</a:t>
            </a:r>
            <a:endParaRPr>
              <a:solidFill>
                <a:schemeClr val="dk1"/>
              </a:solidFill>
            </a:endParaRPr>
          </a:p>
          <a:p>
            <a:pPr indent="0" lvl="0" marL="0" rtl="0" algn="l">
              <a:spcBef>
                <a:spcPts val="0"/>
              </a:spcBef>
              <a:spcAft>
                <a:spcPts val="0"/>
              </a:spcAft>
              <a:buNone/>
            </a:pPr>
            <a:r>
              <a:rPr lang="pt-BR">
                <a:solidFill>
                  <a:schemeClr val="dk1"/>
                </a:solidFill>
              </a:rPr>
              <a:t>    fold  	accuracy  precision  recall  f1_score</a:t>
            </a:r>
            <a:endParaRPr>
              <a:solidFill>
                <a:schemeClr val="dk1"/>
              </a:solidFill>
            </a:endParaRPr>
          </a:p>
          <a:p>
            <a:pPr indent="0" lvl="0" marL="0" rtl="0" algn="l">
              <a:spcBef>
                <a:spcPts val="0"/>
              </a:spcBef>
              <a:spcAft>
                <a:spcPts val="0"/>
              </a:spcAft>
              <a:buNone/>
            </a:pPr>
            <a:r>
              <a:rPr lang="pt-BR">
                <a:solidFill>
                  <a:schemeClr val="dk1"/>
                </a:solidFill>
              </a:rPr>
              <a:t>0      1    	0.7866     0.6170  0.5370    0.5743</a:t>
            </a:r>
            <a:endParaRPr>
              <a:solidFill>
                <a:schemeClr val="dk1"/>
              </a:solidFill>
            </a:endParaRPr>
          </a:p>
          <a:p>
            <a:pPr indent="0" lvl="0" marL="0" rtl="0" algn="l">
              <a:spcBef>
                <a:spcPts val="0"/>
              </a:spcBef>
              <a:spcAft>
                <a:spcPts val="0"/>
              </a:spcAft>
              <a:buNone/>
            </a:pPr>
            <a:r>
              <a:rPr lang="pt-BR">
                <a:solidFill>
                  <a:schemeClr val="dk1"/>
                </a:solidFill>
              </a:rPr>
              <a:t>1      2    	0.7692     0.6027  0.4074    0.4862</a:t>
            </a:r>
            <a:endParaRPr>
              <a:solidFill>
                <a:schemeClr val="dk1"/>
              </a:solidFill>
            </a:endParaRPr>
          </a:p>
          <a:p>
            <a:pPr indent="0" lvl="0" marL="0" rtl="0" algn="l">
              <a:spcBef>
                <a:spcPts val="0"/>
              </a:spcBef>
              <a:spcAft>
                <a:spcPts val="0"/>
              </a:spcAft>
              <a:buNone/>
            </a:pPr>
            <a:r>
              <a:rPr lang="pt-BR">
                <a:solidFill>
                  <a:schemeClr val="dk1"/>
                </a:solidFill>
              </a:rPr>
              <a:t>2      3    	0.8139     0.7324  0.4815    0.5810</a:t>
            </a:r>
            <a:endParaRPr>
              <a:solidFill>
                <a:schemeClr val="dk1"/>
              </a:solidFill>
            </a:endParaRPr>
          </a:p>
          <a:p>
            <a:pPr indent="0" lvl="0" marL="0" rtl="0" algn="l">
              <a:spcBef>
                <a:spcPts val="0"/>
              </a:spcBef>
              <a:spcAft>
                <a:spcPts val="0"/>
              </a:spcAft>
              <a:buNone/>
            </a:pPr>
            <a:r>
              <a:rPr lang="pt-BR">
                <a:solidFill>
                  <a:schemeClr val="dk1"/>
                </a:solidFill>
              </a:rPr>
              <a:t>3      4    	0.8065     0.7164  0.4486    0.5517</a:t>
            </a:r>
            <a:endParaRPr>
              <a:solidFill>
                <a:schemeClr val="dk1"/>
              </a:solidFill>
            </a:endParaRPr>
          </a:p>
          <a:p>
            <a:pPr indent="0" lvl="0" marL="0" rtl="0" algn="l">
              <a:spcBef>
                <a:spcPts val="0"/>
              </a:spcBef>
              <a:spcAft>
                <a:spcPts val="0"/>
              </a:spcAft>
              <a:buNone/>
            </a:pPr>
            <a:r>
              <a:rPr lang="pt-BR">
                <a:solidFill>
                  <a:schemeClr val="dk1"/>
                </a:solidFill>
              </a:rPr>
              <a:t>4      5    	0.8035     0.7000  0.4579    0.5537</a:t>
            </a:r>
            <a:endParaRPr>
              <a:solidFill>
                <a:schemeClr val="dk1"/>
              </a:solidFill>
            </a:endParaRPr>
          </a:p>
          <a:p>
            <a:pPr indent="0" lvl="0" marL="0" rtl="0" algn="l">
              <a:spcBef>
                <a:spcPts val="0"/>
              </a:spcBef>
              <a:spcAft>
                <a:spcPts val="0"/>
              </a:spcAft>
              <a:buNone/>
            </a:pPr>
            <a:r>
              <a:rPr lang="pt-BR">
                <a:solidFill>
                  <a:schemeClr val="dk1"/>
                </a:solidFill>
              </a:rPr>
              <a:t>5  MÉDIA   0.7959     0.6737  0.4665    0.5494</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pt-BR">
                <a:solidFill>
                  <a:schemeClr val="dk1"/>
                </a:solidFill>
              </a:rPr>
              <a:t>RESUMO TOXICIDADE:</a:t>
            </a:r>
            <a:endParaRPr b="1">
              <a:solidFill>
                <a:schemeClr val="dk1"/>
              </a:solidFill>
            </a:endParaRPr>
          </a:p>
          <a:p>
            <a:pPr indent="0" lvl="0" marL="0" rtl="0" algn="l">
              <a:spcBef>
                <a:spcPts val="0"/>
              </a:spcBef>
              <a:spcAft>
                <a:spcPts val="0"/>
              </a:spcAft>
              <a:buNone/>
            </a:pPr>
            <a:r>
              <a:rPr lang="pt-BR">
                <a:solidFill>
                  <a:schemeClr val="dk1"/>
                </a:solidFill>
              </a:rPr>
              <a:t>    fold  	accuracy  precision  recall  f1_score</a:t>
            </a:r>
            <a:endParaRPr>
              <a:solidFill>
                <a:schemeClr val="dk1"/>
              </a:solidFill>
            </a:endParaRPr>
          </a:p>
          <a:p>
            <a:pPr indent="0" lvl="0" marL="0" rtl="0" algn="l">
              <a:spcBef>
                <a:spcPts val="0"/>
              </a:spcBef>
              <a:spcAft>
                <a:spcPts val="0"/>
              </a:spcAft>
              <a:buNone/>
            </a:pPr>
            <a:r>
              <a:rPr lang="pt-BR">
                <a:solidFill>
                  <a:schemeClr val="dk1"/>
                </a:solidFill>
              </a:rPr>
              <a:t>0      1    	0.6427     0.6111  0.3929    0.4783</a:t>
            </a:r>
            <a:endParaRPr>
              <a:solidFill>
                <a:schemeClr val="dk1"/>
              </a:solidFill>
            </a:endParaRPr>
          </a:p>
          <a:p>
            <a:pPr indent="0" lvl="0" marL="0" rtl="0" algn="l">
              <a:spcBef>
                <a:spcPts val="0"/>
              </a:spcBef>
              <a:spcAft>
                <a:spcPts val="0"/>
              </a:spcAft>
              <a:buNone/>
            </a:pPr>
            <a:r>
              <a:rPr lang="pt-BR">
                <a:solidFill>
                  <a:schemeClr val="dk1"/>
                </a:solidFill>
              </a:rPr>
              <a:t>1      2    	0.6873     0.6944  0.4464    0.5435</a:t>
            </a:r>
            <a:endParaRPr>
              <a:solidFill>
                <a:schemeClr val="dk1"/>
              </a:solidFill>
            </a:endParaRPr>
          </a:p>
          <a:p>
            <a:pPr indent="0" lvl="0" marL="0" rtl="0" algn="l">
              <a:spcBef>
                <a:spcPts val="0"/>
              </a:spcBef>
              <a:spcAft>
                <a:spcPts val="0"/>
              </a:spcAft>
              <a:buNone/>
            </a:pPr>
            <a:r>
              <a:rPr lang="pt-BR">
                <a:solidFill>
                  <a:schemeClr val="dk1"/>
                </a:solidFill>
              </a:rPr>
              <a:t>2      3    	0.6749     0.6480  0.4821    0.5529</a:t>
            </a:r>
            <a:endParaRPr>
              <a:solidFill>
                <a:schemeClr val="dk1"/>
              </a:solidFill>
            </a:endParaRPr>
          </a:p>
          <a:p>
            <a:pPr indent="0" lvl="0" marL="0" rtl="0" algn="l">
              <a:spcBef>
                <a:spcPts val="0"/>
              </a:spcBef>
              <a:spcAft>
                <a:spcPts val="0"/>
              </a:spcAft>
              <a:buNone/>
            </a:pPr>
            <a:r>
              <a:rPr lang="pt-BR">
                <a:solidFill>
                  <a:schemeClr val="dk1"/>
                </a:solidFill>
              </a:rPr>
              <a:t>3      4    	0.6452     0.6068  0.4226    0.4982</a:t>
            </a:r>
            <a:endParaRPr>
              <a:solidFill>
                <a:schemeClr val="dk1"/>
              </a:solidFill>
            </a:endParaRPr>
          </a:p>
          <a:p>
            <a:pPr indent="0" lvl="0" marL="0" rtl="0" algn="l">
              <a:spcBef>
                <a:spcPts val="0"/>
              </a:spcBef>
              <a:spcAft>
                <a:spcPts val="0"/>
              </a:spcAft>
              <a:buNone/>
            </a:pPr>
            <a:r>
              <a:rPr lang="pt-BR">
                <a:solidFill>
                  <a:schemeClr val="dk1"/>
                </a:solidFill>
              </a:rPr>
              <a:t>4      5    	0.6866     0.6780  0.4762    0.5594</a:t>
            </a:r>
            <a:endParaRPr>
              <a:solidFill>
                <a:schemeClr val="dk1"/>
              </a:solidFill>
            </a:endParaRPr>
          </a:p>
          <a:p>
            <a:pPr indent="0" lvl="0" marL="0" rtl="0" algn="l">
              <a:spcBef>
                <a:spcPts val="0"/>
              </a:spcBef>
              <a:spcAft>
                <a:spcPts val="0"/>
              </a:spcAft>
              <a:buNone/>
            </a:pPr>
            <a:r>
              <a:rPr lang="pt-BR">
                <a:solidFill>
                  <a:schemeClr val="dk1"/>
                </a:solidFill>
              </a:rPr>
              <a:t>5  MÉDIA   0.6673     0.6477  0.4440    0.5265</a:t>
            </a:r>
            <a:endParaRPr b="1" sz="1900">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8"/>
          <p:cNvSpPr txBox="1"/>
          <p:nvPr>
            <p:ph type="ctrTitle"/>
          </p:nvPr>
        </p:nvSpPr>
        <p:spPr>
          <a:xfrm>
            <a:off x="311700" y="539725"/>
            <a:ext cx="8520600" cy="1709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Matriz de Confusão</a:t>
            </a:r>
            <a:endParaRPr/>
          </a:p>
          <a:p>
            <a:pPr indent="0" lvl="0" marL="0" rtl="0" algn="l">
              <a:spcBef>
                <a:spcPts val="0"/>
              </a:spcBef>
              <a:spcAft>
                <a:spcPts val="0"/>
              </a:spcAft>
              <a:buNone/>
            </a:pPr>
            <a:r>
              <a:rPr lang="pt-BR"/>
              <a:t>TabPFN</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9"/>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Matriz de Confusão (Misoginia)</a:t>
            </a:r>
            <a:endParaRPr/>
          </a:p>
        </p:txBody>
      </p:sp>
      <p:pic>
        <p:nvPicPr>
          <p:cNvPr id="284" name="Google Shape;284;p49"/>
          <p:cNvPicPr preferRelativeResize="0"/>
          <p:nvPr/>
        </p:nvPicPr>
        <p:blipFill>
          <a:blip r:embed="rId3">
            <a:alphaModFix/>
          </a:blip>
          <a:stretch>
            <a:fillRect/>
          </a:stretch>
        </p:blipFill>
        <p:spPr>
          <a:xfrm>
            <a:off x="0" y="1283225"/>
            <a:ext cx="2195600" cy="1745831"/>
          </a:xfrm>
          <a:prstGeom prst="rect">
            <a:avLst/>
          </a:prstGeom>
          <a:noFill/>
          <a:ln>
            <a:noFill/>
          </a:ln>
        </p:spPr>
      </p:pic>
      <p:pic>
        <p:nvPicPr>
          <p:cNvPr id="285" name="Google Shape;285;p49"/>
          <p:cNvPicPr preferRelativeResize="0"/>
          <p:nvPr/>
        </p:nvPicPr>
        <p:blipFill>
          <a:blip r:embed="rId4">
            <a:alphaModFix/>
          </a:blip>
          <a:stretch>
            <a:fillRect/>
          </a:stretch>
        </p:blipFill>
        <p:spPr>
          <a:xfrm>
            <a:off x="2084325" y="1283225"/>
            <a:ext cx="2195600" cy="1745831"/>
          </a:xfrm>
          <a:prstGeom prst="rect">
            <a:avLst/>
          </a:prstGeom>
          <a:noFill/>
          <a:ln>
            <a:noFill/>
          </a:ln>
        </p:spPr>
      </p:pic>
      <p:pic>
        <p:nvPicPr>
          <p:cNvPr id="286" name="Google Shape;286;p49"/>
          <p:cNvPicPr preferRelativeResize="0"/>
          <p:nvPr/>
        </p:nvPicPr>
        <p:blipFill>
          <a:blip r:embed="rId5">
            <a:alphaModFix/>
          </a:blip>
          <a:stretch>
            <a:fillRect/>
          </a:stretch>
        </p:blipFill>
        <p:spPr>
          <a:xfrm>
            <a:off x="4168650" y="1283224"/>
            <a:ext cx="2195600" cy="1745831"/>
          </a:xfrm>
          <a:prstGeom prst="rect">
            <a:avLst/>
          </a:prstGeom>
          <a:noFill/>
          <a:ln>
            <a:noFill/>
          </a:ln>
        </p:spPr>
      </p:pic>
      <p:pic>
        <p:nvPicPr>
          <p:cNvPr id="287" name="Google Shape;287;p49"/>
          <p:cNvPicPr preferRelativeResize="0"/>
          <p:nvPr/>
        </p:nvPicPr>
        <p:blipFill>
          <a:blip r:embed="rId6">
            <a:alphaModFix/>
          </a:blip>
          <a:stretch>
            <a:fillRect/>
          </a:stretch>
        </p:blipFill>
        <p:spPr>
          <a:xfrm>
            <a:off x="0" y="3194275"/>
            <a:ext cx="2195600" cy="1745800"/>
          </a:xfrm>
          <a:prstGeom prst="rect">
            <a:avLst/>
          </a:prstGeom>
          <a:noFill/>
          <a:ln>
            <a:noFill/>
          </a:ln>
        </p:spPr>
      </p:pic>
      <p:pic>
        <p:nvPicPr>
          <p:cNvPr id="288" name="Google Shape;288;p49"/>
          <p:cNvPicPr preferRelativeResize="0"/>
          <p:nvPr/>
        </p:nvPicPr>
        <p:blipFill>
          <a:blip r:embed="rId7">
            <a:alphaModFix/>
          </a:blip>
          <a:stretch>
            <a:fillRect/>
          </a:stretch>
        </p:blipFill>
        <p:spPr>
          <a:xfrm>
            <a:off x="2195600" y="3187650"/>
            <a:ext cx="2084324" cy="165735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50"/>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Matriz de Confusão (Toxicidade)</a:t>
            </a:r>
            <a:endParaRPr/>
          </a:p>
        </p:txBody>
      </p:sp>
      <p:pic>
        <p:nvPicPr>
          <p:cNvPr id="294" name="Google Shape;294;p50"/>
          <p:cNvPicPr preferRelativeResize="0"/>
          <p:nvPr/>
        </p:nvPicPr>
        <p:blipFill>
          <a:blip r:embed="rId3">
            <a:alphaModFix/>
          </a:blip>
          <a:stretch>
            <a:fillRect/>
          </a:stretch>
        </p:blipFill>
        <p:spPr>
          <a:xfrm>
            <a:off x="0" y="1284350"/>
            <a:ext cx="2308599" cy="1835674"/>
          </a:xfrm>
          <a:prstGeom prst="rect">
            <a:avLst/>
          </a:prstGeom>
          <a:noFill/>
          <a:ln>
            <a:noFill/>
          </a:ln>
        </p:spPr>
      </p:pic>
      <p:pic>
        <p:nvPicPr>
          <p:cNvPr id="295" name="Google Shape;295;p50"/>
          <p:cNvPicPr preferRelativeResize="0"/>
          <p:nvPr/>
        </p:nvPicPr>
        <p:blipFill>
          <a:blip r:embed="rId4">
            <a:alphaModFix/>
          </a:blip>
          <a:stretch>
            <a:fillRect/>
          </a:stretch>
        </p:blipFill>
        <p:spPr>
          <a:xfrm>
            <a:off x="2308600" y="1284350"/>
            <a:ext cx="2308596" cy="1835674"/>
          </a:xfrm>
          <a:prstGeom prst="rect">
            <a:avLst/>
          </a:prstGeom>
          <a:noFill/>
          <a:ln>
            <a:noFill/>
          </a:ln>
        </p:spPr>
      </p:pic>
      <p:pic>
        <p:nvPicPr>
          <p:cNvPr id="296" name="Google Shape;296;p50"/>
          <p:cNvPicPr preferRelativeResize="0"/>
          <p:nvPr/>
        </p:nvPicPr>
        <p:blipFill>
          <a:blip r:embed="rId5">
            <a:alphaModFix/>
          </a:blip>
          <a:stretch>
            <a:fillRect/>
          </a:stretch>
        </p:blipFill>
        <p:spPr>
          <a:xfrm>
            <a:off x="4770175" y="1284350"/>
            <a:ext cx="2308599" cy="1835689"/>
          </a:xfrm>
          <a:prstGeom prst="rect">
            <a:avLst/>
          </a:prstGeom>
          <a:noFill/>
          <a:ln>
            <a:noFill/>
          </a:ln>
        </p:spPr>
      </p:pic>
      <p:pic>
        <p:nvPicPr>
          <p:cNvPr id="297" name="Google Shape;297;p50"/>
          <p:cNvPicPr preferRelativeResize="0"/>
          <p:nvPr/>
        </p:nvPicPr>
        <p:blipFill>
          <a:blip r:embed="rId6">
            <a:alphaModFix/>
          </a:blip>
          <a:stretch>
            <a:fillRect/>
          </a:stretch>
        </p:blipFill>
        <p:spPr>
          <a:xfrm>
            <a:off x="152400" y="3272424"/>
            <a:ext cx="2161453" cy="1718676"/>
          </a:xfrm>
          <a:prstGeom prst="rect">
            <a:avLst/>
          </a:prstGeom>
          <a:noFill/>
          <a:ln>
            <a:noFill/>
          </a:ln>
        </p:spPr>
      </p:pic>
      <p:pic>
        <p:nvPicPr>
          <p:cNvPr id="298" name="Google Shape;298;p50"/>
          <p:cNvPicPr preferRelativeResize="0"/>
          <p:nvPr/>
        </p:nvPicPr>
        <p:blipFill>
          <a:blip r:embed="rId7">
            <a:alphaModFix/>
          </a:blip>
          <a:stretch>
            <a:fillRect/>
          </a:stretch>
        </p:blipFill>
        <p:spPr>
          <a:xfrm>
            <a:off x="2466253" y="3272424"/>
            <a:ext cx="2161453" cy="171867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51"/>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Análise dos casos de erro</a:t>
            </a:r>
            <a:endParaRPr/>
          </a:p>
        </p:txBody>
      </p:sp>
      <p:sp>
        <p:nvSpPr>
          <p:cNvPr id="304" name="Google Shape;304;p51"/>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pt-BR"/>
              <a:t>Escreva seu texto Aqui</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52"/>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Análise dos casos de erro</a:t>
            </a:r>
            <a:endParaRPr/>
          </a:p>
        </p:txBody>
      </p:sp>
      <p:sp>
        <p:nvSpPr>
          <p:cNvPr id="310" name="Google Shape;310;p52"/>
          <p:cNvSpPr txBox="1"/>
          <p:nvPr/>
        </p:nvSpPr>
        <p:spPr>
          <a:xfrm>
            <a:off x="525300" y="1456950"/>
            <a:ext cx="8093400" cy="329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pt-BR" sz="1300">
                <a:solidFill>
                  <a:schemeClr val="dk2"/>
                </a:solidFill>
                <a:latin typeface="Roboto"/>
                <a:ea typeface="Roboto"/>
                <a:cs typeface="Roboto"/>
                <a:sym typeface="Roboto"/>
              </a:rPr>
              <a:t>Misoginia</a:t>
            </a:r>
            <a:endParaRPr sz="1300">
              <a:solidFill>
                <a:schemeClr val="dk2"/>
              </a:solidFill>
              <a:latin typeface="Roboto"/>
              <a:ea typeface="Roboto"/>
              <a:cs typeface="Roboto"/>
              <a:sym typeface="Robot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3"/>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Análise dos casos de erro</a:t>
            </a:r>
            <a:endParaRPr/>
          </a:p>
        </p:txBody>
      </p:sp>
      <p:sp>
        <p:nvSpPr>
          <p:cNvPr id="316" name="Google Shape;316;p53"/>
          <p:cNvSpPr txBox="1"/>
          <p:nvPr/>
        </p:nvSpPr>
        <p:spPr>
          <a:xfrm>
            <a:off x="525300" y="1456950"/>
            <a:ext cx="8093400" cy="329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pt-BR" sz="1300">
                <a:solidFill>
                  <a:schemeClr val="dk2"/>
                </a:solidFill>
                <a:latin typeface="Roboto"/>
                <a:ea typeface="Roboto"/>
                <a:cs typeface="Roboto"/>
                <a:sym typeface="Roboto"/>
              </a:rPr>
              <a:t>Toxicidade</a:t>
            </a:r>
            <a:endParaRPr sz="1300">
              <a:solidFill>
                <a:schemeClr val="dk2"/>
              </a:solidFill>
              <a:latin typeface="Roboto"/>
              <a:ea typeface="Roboto"/>
              <a:cs typeface="Roboto"/>
              <a:sym typeface="Roboto"/>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4"/>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União de Todos os Resultados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5"/>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pt-BR" sz="2220"/>
              <a:t>Tabela Final com todos os resultados unificados (Misoginia)</a:t>
            </a:r>
            <a:endParaRPr sz="2020"/>
          </a:p>
        </p:txBody>
      </p:sp>
      <p:pic>
        <p:nvPicPr>
          <p:cNvPr id="327" name="Google Shape;327;p55"/>
          <p:cNvPicPr preferRelativeResize="0"/>
          <p:nvPr/>
        </p:nvPicPr>
        <p:blipFill>
          <a:blip r:embed="rId3">
            <a:alphaModFix/>
          </a:blip>
          <a:stretch>
            <a:fillRect/>
          </a:stretch>
        </p:blipFill>
        <p:spPr>
          <a:xfrm>
            <a:off x="25" y="1701210"/>
            <a:ext cx="9144001" cy="2845915"/>
          </a:xfrm>
          <a:prstGeom prst="rect">
            <a:avLst/>
          </a:prstGeom>
          <a:noFill/>
          <a:ln>
            <a:noFill/>
          </a:ln>
        </p:spPr>
      </p:pic>
      <p:pic>
        <p:nvPicPr>
          <p:cNvPr id="328" name="Google Shape;328;p55"/>
          <p:cNvPicPr preferRelativeResize="0"/>
          <p:nvPr/>
        </p:nvPicPr>
        <p:blipFill>
          <a:blip r:embed="rId4">
            <a:alphaModFix/>
          </a:blip>
          <a:stretch>
            <a:fillRect/>
          </a:stretch>
        </p:blipFill>
        <p:spPr>
          <a:xfrm>
            <a:off x="-1403550" y="4635525"/>
            <a:ext cx="10547573" cy="2128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6"/>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pt-BR" sz="2220"/>
              <a:t>Tabela Final com todos os resultados unificados (Toxicidade)</a:t>
            </a:r>
            <a:endParaRPr sz="2020"/>
          </a:p>
        </p:txBody>
      </p:sp>
      <p:pic>
        <p:nvPicPr>
          <p:cNvPr id="334" name="Google Shape;334;p56"/>
          <p:cNvPicPr preferRelativeResize="0"/>
          <p:nvPr/>
        </p:nvPicPr>
        <p:blipFill>
          <a:blip r:embed="rId3">
            <a:alphaModFix/>
          </a:blip>
          <a:stretch>
            <a:fillRect/>
          </a:stretch>
        </p:blipFill>
        <p:spPr>
          <a:xfrm>
            <a:off x="-15094" y="1749300"/>
            <a:ext cx="9144002" cy="2820000"/>
          </a:xfrm>
          <a:prstGeom prst="rect">
            <a:avLst/>
          </a:prstGeom>
          <a:noFill/>
          <a:ln>
            <a:noFill/>
          </a:ln>
        </p:spPr>
      </p:pic>
      <p:pic>
        <p:nvPicPr>
          <p:cNvPr id="335" name="Google Shape;335;p56"/>
          <p:cNvPicPr preferRelativeResize="0"/>
          <p:nvPr/>
        </p:nvPicPr>
        <p:blipFill>
          <a:blip r:embed="rId4">
            <a:alphaModFix/>
          </a:blip>
          <a:stretch>
            <a:fillRect/>
          </a:stretch>
        </p:blipFill>
        <p:spPr>
          <a:xfrm>
            <a:off x="-429975" y="4742849"/>
            <a:ext cx="9580898" cy="2602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57"/>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RoBERTa</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58"/>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Como o Código Funciona - Confiabilidade do  Método (Fase 1)</a:t>
            </a:r>
            <a:endParaRPr/>
          </a:p>
        </p:txBody>
      </p:sp>
      <p:sp>
        <p:nvSpPr>
          <p:cNvPr id="346" name="Google Shape;346;p58"/>
          <p:cNvSpPr txBox="1"/>
          <p:nvPr>
            <p:ph idx="1" type="body"/>
          </p:nvPr>
        </p:nvSpPr>
        <p:spPr>
          <a:xfrm>
            <a:off x="4424525" y="768150"/>
            <a:ext cx="4386600" cy="38313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pt-BR"/>
              <a:t>Objetivo: Nosso objetivo não é criar o modelo final, mas verificar se o método é confiável. </a:t>
            </a:r>
            <a:endParaRPr/>
          </a:p>
          <a:p>
            <a:pPr indent="-311150" lvl="0" marL="457200" rtl="0" algn="l">
              <a:spcBef>
                <a:spcPts val="0"/>
              </a:spcBef>
              <a:spcAft>
                <a:spcPts val="0"/>
              </a:spcAft>
              <a:buSzPts val="1300"/>
              <a:buChar char="●"/>
            </a:pPr>
            <a:r>
              <a:rPr lang="pt-BR"/>
              <a:t>O pipeline executa um loop de 5 rounds (K-Fold 3:1:1);</a:t>
            </a:r>
            <a:endParaRPr/>
          </a:p>
          <a:p>
            <a:pPr indent="-311150" lvl="0" marL="457200" rtl="0" algn="l">
              <a:spcBef>
                <a:spcPts val="0"/>
              </a:spcBef>
              <a:spcAft>
                <a:spcPts val="0"/>
              </a:spcAft>
              <a:buSzPts val="1300"/>
              <a:buChar char="●"/>
            </a:pPr>
            <a:r>
              <a:rPr lang="pt-BR"/>
              <a:t>Grid Search: </a:t>
            </a:r>
            <a:endParaRPr/>
          </a:p>
          <a:p>
            <a:pPr indent="-311150" lvl="0" marL="914400" rtl="0" algn="l">
              <a:spcBef>
                <a:spcPts val="0"/>
              </a:spcBef>
              <a:spcAft>
                <a:spcPts val="0"/>
              </a:spcAft>
              <a:buSzPts val="1300"/>
              <a:buChar char="-"/>
            </a:pPr>
            <a:r>
              <a:rPr lang="pt-BR"/>
              <a:t>learning_rate: [1e-5, 2e-5, 3e-5, 5e-5]; </a:t>
            </a:r>
            <a:endParaRPr/>
          </a:p>
          <a:p>
            <a:pPr indent="-311150" lvl="0" marL="914400" rtl="0" algn="l">
              <a:spcBef>
                <a:spcPts val="0"/>
              </a:spcBef>
              <a:spcAft>
                <a:spcPts val="0"/>
              </a:spcAft>
              <a:buSzPts val="1300"/>
              <a:buChar char="-"/>
            </a:pPr>
            <a:r>
              <a:rPr lang="pt-BR"/>
              <a:t>weight_decay: [0.0, 0.01, 0.1]; </a:t>
            </a:r>
            <a:endParaRPr/>
          </a:p>
          <a:p>
            <a:pPr indent="-311150" lvl="0" marL="914400" rtl="0" algn="l">
              <a:spcBef>
                <a:spcPts val="0"/>
              </a:spcBef>
              <a:spcAft>
                <a:spcPts val="0"/>
              </a:spcAft>
              <a:buSzPts val="1300"/>
              <a:buChar char="-"/>
            </a:pPr>
            <a:r>
              <a:rPr lang="pt-BR"/>
              <a:t>dropout: [0.1, 0.2, 0.3]; </a:t>
            </a:r>
            <a:endParaRPr/>
          </a:p>
          <a:p>
            <a:pPr indent="-311150" lvl="0" marL="457200" rtl="0" algn="l">
              <a:spcBef>
                <a:spcPts val="0"/>
              </a:spcBef>
              <a:spcAft>
                <a:spcPts val="0"/>
              </a:spcAft>
              <a:buSzPts val="1300"/>
              <a:buChar char="●"/>
            </a:pPr>
            <a:r>
              <a:rPr lang="pt-BR"/>
              <a:t>Treino Monitorado com Early Stopping baseado na F1 Macro, se após duas épocas o modelo não melhorar, o treinamento com aqueles hiperparâmetros é parado;</a:t>
            </a:r>
            <a:endParaRPr/>
          </a:p>
          <a:p>
            <a:pPr indent="-311150" lvl="0" marL="457200" rtl="0" algn="l">
              <a:spcBef>
                <a:spcPts val="0"/>
              </a:spcBef>
              <a:spcAft>
                <a:spcPts val="0"/>
              </a:spcAft>
              <a:buSzPts val="1300"/>
              <a:buChar char="●"/>
            </a:pPr>
            <a:r>
              <a:rPr lang="pt-BR"/>
              <a:t>Thresholding: Ajuste do limiar de decisão por classe para melhorar a tomada de decisão.</a:t>
            </a:r>
            <a:endParaRPr/>
          </a:p>
          <a:p>
            <a:pPr indent="-311150" lvl="0" marL="457200" rtl="0" algn="l">
              <a:spcBef>
                <a:spcPts val="0"/>
              </a:spcBef>
              <a:spcAft>
                <a:spcPts val="0"/>
              </a:spcAft>
              <a:buSzPts val="1300"/>
              <a:buChar char="●"/>
            </a:pPr>
            <a:r>
              <a:rPr lang="pt-BR"/>
              <a:t>Avaliação Cega e Log;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9"/>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Como o código funciona - Treinamento do Modelo Final (Fase 2)</a:t>
            </a:r>
            <a:endParaRPr/>
          </a:p>
        </p:txBody>
      </p:sp>
      <p:sp>
        <p:nvSpPr>
          <p:cNvPr id="352" name="Google Shape;352;p59"/>
          <p:cNvSpPr txBox="1"/>
          <p:nvPr>
            <p:ph idx="1" type="body"/>
          </p:nvPr>
        </p:nvSpPr>
        <p:spPr>
          <a:xfrm>
            <a:off x="4644675" y="500925"/>
            <a:ext cx="4166400" cy="4098600"/>
          </a:xfrm>
          <a:prstGeom prst="rect">
            <a:avLst/>
          </a:prstGeom>
        </p:spPr>
        <p:txBody>
          <a:bodyPr anchorCtr="0" anchor="t" bIns="91425" lIns="91425" spcFirstLastPara="1" rIns="91425" wrap="square" tIns="91425">
            <a:normAutofit lnSpcReduction="10000"/>
          </a:bodyPr>
          <a:lstStyle/>
          <a:p>
            <a:pPr indent="-311150" lvl="0" marL="457200" rtl="0" algn="l">
              <a:spcBef>
                <a:spcPts val="0"/>
              </a:spcBef>
              <a:spcAft>
                <a:spcPts val="0"/>
              </a:spcAft>
              <a:buSzPts val="1300"/>
              <a:buChar char="●"/>
            </a:pPr>
            <a:r>
              <a:rPr lang="pt-BR"/>
              <a:t>Objetivo: Treinamento e salvamento do modelo final, com base em uma divisão fixa dos dados (T1 V2); </a:t>
            </a:r>
            <a:endParaRPr/>
          </a:p>
          <a:p>
            <a:pPr indent="-311150" lvl="0" marL="457200" rtl="0" algn="l">
              <a:spcBef>
                <a:spcPts val="0"/>
              </a:spcBef>
              <a:spcAft>
                <a:spcPts val="0"/>
              </a:spcAft>
              <a:buSzPts val="1300"/>
              <a:buChar char="●"/>
            </a:pPr>
            <a:r>
              <a:rPr lang="pt-BR"/>
              <a:t>Grid Search: </a:t>
            </a:r>
            <a:endParaRPr/>
          </a:p>
          <a:p>
            <a:pPr indent="-311150" lvl="0" marL="914400" rtl="0" algn="l">
              <a:spcBef>
                <a:spcPts val="0"/>
              </a:spcBef>
              <a:spcAft>
                <a:spcPts val="0"/>
              </a:spcAft>
              <a:buSzPts val="1300"/>
              <a:buChar char="-"/>
            </a:pPr>
            <a:r>
              <a:rPr lang="pt-BR"/>
              <a:t>É executado inteiramente de novo; </a:t>
            </a:r>
            <a:endParaRPr/>
          </a:p>
          <a:p>
            <a:pPr indent="-311150" lvl="0" marL="914400" rtl="0" algn="l">
              <a:spcBef>
                <a:spcPts val="0"/>
              </a:spcBef>
              <a:spcAft>
                <a:spcPts val="0"/>
              </a:spcAft>
              <a:buSzPts val="1300"/>
              <a:buChar char="-"/>
            </a:pPr>
            <a:r>
              <a:rPr lang="pt-BR"/>
              <a:t>Mesmo método de limiar otimizado usado na fase 1;</a:t>
            </a:r>
            <a:endParaRPr/>
          </a:p>
          <a:p>
            <a:pPr indent="-311150" lvl="0" marL="914400" rtl="0" algn="l">
              <a:spcBef>
                <a:spcPts val="0"/>
              </a:spcBef>
              <a:spcAft>
                <a:spcPts val="0"/>
              </a:spcAft>
              <a:buSzPts val="1300"/>
              <a:buChar char="-"/>
            </a:pPr>
            <a:r>
              <a:rPr lang="pt-BR"/>
              <a:t>Os 36 modelos temporários são descartados; </a:t>
            </a:r>
            <a:endParaRPr/>
          </a:p>
          <a:p>
            <a:pPr indent="-311150" lvl="0" marL="457200" rtl="0" algn="l">
              <a:spcBef>
                <a:spcPts val="0"/>
              </a:spcBef>
              <a:spcAft>
                <a:spcPts val="0"/>
              </a:spcAft>
              <a:buSzPts val="1300"/>
              <a:buChar char="●"/>
            </a:pPr>
            <a:r>
              <a:rPr lang="pt-BR"/>
              <a:t>Avaliação Final: </a:t>
            </a:r>
            <a:endParaRPr/>
          </a:p>
          <a:p>
            <a:pPr indent="-311150" lvl="0" marL="914400" rtl="0" algn="l">
              <a:spcBef>
                <a:spcPts val="0"/>
              </a:spcBef>
              <a:spcAft>
                <a:spcPts val="0"/>
              </a:spcAft>
              <a:buSzPts val="1300"/>
              <a:buChar char="-"/>
            </a:pPr>
            <a:r>
              <a:rPr lang="pt-BR"/>
              <a:t>Os Limiares Otimizados finais são calculados usando o fold de Validação (Fold 2)</a:t>
            </a:r>
            <a:endParaRPr/>
          </a:p>
          <a:p>
            <a:pPr indent="-311150" lvl="0" marL="914400" rtl="0" algn="l">
              <a:spcBef>
                <a:spcPts val="0"/>
              </a:spcBef>
              <a:spcAft>
                <a:spcPts val="0"/>
              </a:spcAft>
              <a:buSzPts val="1300"/>
              <a:buChar char="-"/>
            </a:pPr>
            <a:r>
              <a:rPr lang="pt-BR"/>
              <a:t>O modelo é avaliado uma única vez no fold de Teste (Fold 1) usando esses limiares; </a:t>
            </a:r>
            <a:endParaRPr/>
          </a:p>
          <a:p>
            <a:pPr indent="-311150" lvl="0" marL="914400" rtl="0" algn="l">
              <a:spcBef>
                <a:spcPts val="0"/>
              </a:spcBef>
              <a:spcAft>
                <a:spcPts val="0"/>
              </a:spcAft>
              <a:buSzPts val="1300"/>
              <a:buChar char="-"/>
            </a:pPr>
            <a:r>
              <a:rPr lang="pt-BR"/>
              <a:t>A performance é salva como a linha Final-Model(T1_V2) no arquivo .csv;</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60"/>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Análise de Resultados: Toxicidade (Folds Originais)</a:t>
            </a:r>
            <a:endParaRPr/>
          </a:p>
        </p:txBody>
      </p:sp>
      <p:sp>
        <p:nvSpPr>
          <p:cNvPr id="358" name="Google Shape;358;p60"/>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pt-BR"/>
              <a:t>Os 5 folds de dados refletem a distribuição original do dataset:</a:t>
            </a:r>
            <a:endParaRPr/>
          </a:p>
          <a:p>
            <a:pPr indent="-311150" lvl="0" marL="914400" marR="0" rtl="0" algn="l">
              <a:lnSpc>
                <a:spcPct val="115000"/>
              </a:lnSpc>
              <a:spcBef>
                <a:spcPts val="0"/>
              </a:spcBef>
              <a:spcAft>
                <a:spcPts val="0"/>
              </a:spcAft>
              <a:buSzPts val="1300"/>
              <a:buChar char="-"/>
            </a:pPr>
            <a:r>
              <a:rPr lang="pt-BR"/>
              <a:t>~58.3% são Classe 0 (Não-Tóxico); </a:t>
            </a:r>
            <a:endParaRPr/>
          </a:p>
          <a:p>
            <a:pPr indent="-311150" lvl="0" marL="914400" marR="0" rtl="0" algn="l">
              <a:lnSpc>
                <a:spcPct val="115000"/>
              </a:lnSpc>
              <a:spcBef>
                <a:spcPts val="0"/>
              </a:spcBef>
              <a:spcAft>
                <a:spcPts val="0"/>
              </a:spcAft>
              <a:buSzPts val="1300"/>
              <a:buChar char="-"/>
            </a:pPr>
            <a:r>
              <a:rPr lang="pt-BR"/>
              <a:t>~41.7% são Classe 1 (Tóxico); </a:t>
            </a:r>
            <a:endParaRPr/>
          </a:p>
        </p:txBody>
      </p:sp>
      <p:pic>
        <p:nvPicPr>
          <p:cNvPr id="359" name="Google Shape;359;p60"/>
          <p:cNvPicPr preferRelativeResize="0"/>
          <p:nvPr/>
        </p:nvPicPr>
        <p:blipFill>
          <a:blip r:embed="rId3">
            <a:alphaModFix/>
          </a:blip>
          <a:stretch>
            <a:fillRect/>
          </a:stretch>
        </p:blipFill>
        <p:spPr>
          <a:xfrm>
            <a:off x="575275" y="2533426"/>
            <a:ext cx="8116051" cy="147565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61"/>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Análise Estatística: Toxicidade</a:t>
            </a:r>
            <a:endParaRPr/>
          </a:p>
        </p:txBody>
      </p:sp>
      <p:sp>
        <p:nvSpPr>
          <p:cNvPr id="365" name="Google Shape;365;p61"/>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11150" lvl="0" marL="457200" marR="0" rtl="0" algn="l">
              <a:lnSpc>
                <a:spcPct val="115000"/>
              </a:lnSpc>
              <a:spcBef>
                <a:spcPts val="0"/>
              </a:spcBef>
              <a:spcAft>
                <a:spcPts val="0"/>
              </a:spcAft>
              <a:buSzPts val="1300"/>
              <a:buChar char="●"/>
            </a:pPr>
            <a:r>
              <a:rPr lang="pt-BR"/>
              <a:t>Análise baseada nos 5 folds de Validação Cruzada (n=5) do dataset original; </a:t>
            </a:r>
            <a:endParaRPr/>
          </a:p>
          <a:p>
            <a:pPr indent="-311150" lvl="0" marL="457200" marR="0" rtl="0" algn="l">
              <a:lnSpc>
                <a:spcPct val="115000"/>
              </a:lnSpc>
              <a:spcBef>
                <a:spcPts val="0"/>
              </a:spcBef>
              <a:spcAft>
                <a:spcPts val="0"/>
              </a:spcAft>
              <a:buSzPts val="1300"/>
              <a:buChar char="●"/>
            </a:pPr>
            <a:r>
              <a:rPr lang="pt-BR"/>
              <a:t>Intervalo de Confiança (IC) de 95% calculado usando a distribuição t de Student (com 4 graus de liberdade, tc​=2.776);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62"/>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Análise Estatística: Toxicidade</a:t>
            </a:r>
            <a:endParaRPr/>
          </a:p>
        </p:txBody>
      </p:sp>
      <p:sp>
        <p:nvSpPr>
          <p:cNvPr id="371" name="Google Shape;371;p62"/>
          <p:cNvSpPr txBox="1"/>
          <p:nvPr>
            <p:ph idx="1" type="body"/>
          </p:nvPr>
        </p:nvSpPr>
        <p:spPr>
          <a:xfrm>
            <a:off x="4644675" y="500925"/>
            <a:ext cx="4166400" cy="4098600"/>
          </a:xfrm>
          <a:prstGeom prst="rect">
            <a:avLst/>
          </a:prstGeom>
        </p:spPr>
        <p:txBody>
          <a:bodyPr anchorCtr="0" anchor="t" bIns="91425" lIns="91425" spcFirstLastPara="1" rIns="91425" wrap="square" tIns="91425">
            <a:normAutofit lnSpcReduction="20000"/>
          </a:bodyPr>
          <a:lstStyle/>
          <a:p>
            <a:pPr indent="-311150" lvl="0" marL="457200" rtl="0" algn="l">
              <a:spcBef>
                <a:spcPts val="0"/>
              </a:spcBef>
              <a:spcAft>
                <a:spcPts val="0"/>
              </a:spcAft>
              <a:buSzPts val="1300"/>
              <a:buChar char="●"/>
            </a:pPr>
            <a:r>
              <a:rPr lang="pt-BR"/>
              <a:t>Intervalo de Confiança (IC) de 95% calculado usando a distribuição t de Student (com 4 graus de liberdade, tc​=2.776); </a:t>
            </a:r>
            <a:endParaRPr/>
          </a:p>
          <a:p>
            <a:pPr indent="0" lvl="0" marL="457200" rtl="0" algn="l">
              <a:spcBef>
                <a:spcPts val="1200"/>
              </a:spcBef>
              <a:spcAft>
                <a:spcPts val="0"/>
              </a:spcAft>
              <a:buNone/>
            </a:pPr>
            <a:r>
              <a:t/>
            </a:r>
            <a:endParaRPr/>
          </a:p>
          <a:p>
            <a:pPr indent="-311150" lvl="0" marL="457200" marR="0" rtl="0" algn="l">
              <a:lnSpc>
                <a:spcPct val="115000"/>
              </a:lnSpc>
              <a:spcBef>
                <a:spcPts val="1200"/>
              </a:spcBef>
              <a:spcAft>
                <a:spcPts val="0"/>
              </a:spcAft>
              <a:buSzPts val="1300"/>
              <a:buChar char="●"/>
            </a:pPr>
            <a:r>
              <a:rPr lang="pt-BR"/>
              <a:t>Macro Precision:</a:t>
            </a:r>
            <a:endParaRPr/>
          </a:p>
          <a:p>
            <a:pPr indent="-311150" lvl="0" marL="914400" marR="0" rtl="0" algn="l">
              <a:lnSpc>
                <a:spcPct val="115000"/>
              </a:lnSpc>
              <a:spcBef>
                <a:spcPts val="0"/>
              </a:spcBef>
              <a:spcAft>
                <a:spcPts val="0"/>
              </a:spcAft>
              <a:buSzPts val="1300"/>
              <a:buChar char="-"/>
            </a:pPr>
            <a:r>
              <a:rPr lang="pt-BR"/>
              <a:t>Média (μ): 0.7377;</a:t>
            </a:r>
            <a:endParaRPr/>
          </a:p>
          <a:p>
            <a:pPr indent="-311150" lvl="0" marL="914400" marR="0" rtl="0" algn="l">
              <a:lnSpc>
                <a:spcPct val="115000"/>
              </a:lnSpc>
              <a:spcBef>
                <a:spcPts val="0"/>
              </a:spcBef>
              <a:spcAft>
                <a:spcPts val="0"/>
              </a:spcAft>
              <a:buSzPts val="1300"/>
              <a:buChar char="-"/>
            </a:pPr>
            <a:r>
              <a:rPr lang="pt-BR"/>
              <a:t>Intervalo (95%): [0.7069,0.7685]; </a:t>
            </a:r>
            <a:endParaRPr/>
          </a:p>
          <a:p>
            <a:pPr indent="-311150" lvl="0" marL="457200" marR="0" rtl="0" algn="l">
              <a:lnSpc>
                <a:spcPct val="115000"/>
              </a:lnSpc>
              <a:spcBef>
                <a:spcPts val="0"/>
              </a:spcBef>
              <a:spcAft>
                <a:spcPts val="0"/>
              </a:spcAft>
              <a:buSzPts val="1300"/>
              <a:buChar char="●"/>
            </a:pPr>
            <a:r>
              <a:rPr lang="pt-BR"/>
              <a:t>Macro Recall: </a:t>
            </a:r>
            <a:endParaRPr/>
          </a:p>
          <a:p>
            <a:pPr indent="-311150" lvl="0" marL="914400" marR="0" rtl="0" algn="l">
              <a:lnSpc>
                <a:spcPct val="115000"/>
              </a:lnSpc>
              <a:spcBef>
                <a:spcPts val="0"/>
              </a:spcBef>
              <a:spcAft>
                <a:spcPts val="0"/>
              </a:spcAft>
              <a:buSzPts val="1300"/>
              <a:buChar char="-"/>
            </a:pPr>
            <a:r>
              <a:rPr lang="pt-BR"/>
              <a:t>Média (μ): 0.7351; </a:t>
            </a:r>
            <a:endParaRPr/>
          </a:p>
          <a:p>
            <a:pPr indent="-311150" lvl="0" marL="914400" marR="0" rtl="0" algn="l">
              <a:lnSpc>
                <a:spcPct val="115000"/>
              </a:lnSpc>
              <a:spcBef>
                <a:spcPts val="0"/>
              </a:spcBef>
              <a:spcAft>
                <a:spcPts val="0"/>
              </a:spcAft>
              <a:buSzPts val="1300"/>
              <a:buChar char="-"/>
            </a:pPr>
            <a:r>
              <a:rPr lang="pt-BR"/>
              <a:t>Intervalo (95%): [0.7049,0.7653]; </a:t>
            </a:r>
            <a:endParaRPr/>
          </a:p>
          <a:p>
            <a:pPr indent="-311150" lvl="0" marL="457200" marR="0" rtl="0" algn="l">
              <a:lnSpc>
                <a:spcPct val="115000"/>
              </a:lnSpc>
              <a:spcBef>
                <a:spcPts val="0"/>
              </a:spcBef>
              <a:spcAft>
                <a:spcPts val="0"/>
              </a:spcAft>
              <a:buSzPts val="1300"/>
              <a:buChar char="●"/>
            </a:pPr>
            <a:r>
              <a:rPr lang="pt-BR"/>
              <a:t>Macro F1 (Geral):</a:t>
            </a:r>
            <a:endParaRPr/>
          </a:p>
          <a:p>
            <a:pPr indent="-311150" lvl="0" marL="914400" marR="0" rtl="0" algn="l">
              <a:lnSpc>
                <a:spcPct val="115000"/>
              </a:lnSpc>
              <a:spcBef>
                <a:spcPts val="0"/>
              </a:spcBef>
              <a:spcAft>
                <a:spcPts val="0"/>
              </a:spcAft>
              <a:buSzPts val="1300"/>
              <a:buChar char="-"/>
            </a:pPr>
            <a:r>
              <a:rPr lang="pt-BR"/>
              <a:t>Média (μ): 0.7351; </a:t>
            </a:r>
            <a:endParaRPr/>
          </a:p>
          <a:p>
            <a:pPr indent="-311150" lvl="0" marL="914400" marR="0" rtl="0" algn="l">
              <a:lnSpc>
                <a:spcPct val="115000"/>
              </a:lnSpc>
              <a:spcBef>
                <a:spcPts val="0"/>
              </a:spcBef>
              <a:spcAft>
                <a:spcPts val="0"/>
              </a:spcAft>
              <a:buSzPts val="1300"/>
              <a:buChar char="-"/>
            </a:pPr>
            <a:r>
              <a:rPr lang="pt-BR"/>
              <a:t>Intervalo (95%): [0.7043,0.7659]; </a:t>
            </a:r>
            <a:endParaRPr/>
          </a:p>
          <a:p>
            <a:pPr indent="-311150" lvl="0" marL="457200" marR="0" rtl="0" algn="l">
              <a:lnSpc>
                <a:spcPct val="115000"/>
              </a:lnSpc>
              <a:spcBef>
                <a:spcPts val="0"/>
              </a:spcBef>
              <a:spcAft>
                <a:spcPts val="0"/>
              </a:spcAft>
              <a:buSzPts val="1300"/>
              <a:buChar char="●"/>
            </a:pPr>
            <a:r>
              <a:rPr lang="pt-BR"/>
              <a:t>F1 Classe 0 (Não-Tóxico / Majoritária):</a:t>
            </a:r>
            <a:endParaRPr/>
          </a:p>
          <a:p>
            <a:pPr indent="-311150" lvl="0" marL="914400" marR="0" rtl="0" algn="l">
              <a:lnSpc>
                <a:spcPct val="115000"/>
              </a:lnSpc>
              <a:spcBef>
                <a:spcPts val="0"/>
              </a:spcBef>
              <a:spcAft>
                <a:spcPts val="0"/>
              </a:spcAft>
              <a:buSzPts val="1300"/>
              <a:buChar char="-"/>
            </a:pPr>
            <a:r>
              <a:rPr lang="pt-BR"/>
              <a:t>Média (μ): 0.7804;</a:t>
            </a:r>
            <a:endParaRPr/>
          </a:p>
          <a:p>
            <a:pPr indent="-311150" lvl="0" marL="914400" marR="0" rtl="0" algn="l">
              <a:lnSpc>
                <a:spcPct val="115000"/>
              </a:lnSpc>
              <a:spcBef>
                <a:spcPts val="0"/>
              </a:spcBef>
              <a:spcAft>
                <a:spcPts val="0"/>
              </a:spcAft>
              <a:buSzPts val="1300"/>
              <a:buChar char="-"/>
            </a:pPr>
            <a:r>
              <a:rPr lang="pt-BR"/>
              <a:t>Intervalo (95%): [0.7484,0.8123]; </a:t>
            </a:r>
            <a:endParaRPr/>
          </a:p>
          <a:p>
            <a:pPr indent="-311150" lvl="0" marL="457200" marR="0" rtl="0" algn="l">
              <a:lnSpc>
                <a:spcPct val="115000"/>
              </a:lnSpc>
              <a:spcBef>
                <a:spcPts val="0"/>
              </a:spcBef>
              <a:spcAft>
                <a:spcPts val="0"/>
              </a:spcAft>
              <a:buSzPts val="1300"/>
              <a:buChar char="●"/>
            </a:pPr>
            <a:r>
              <a:rPr lang="pt-BR"/>
              <a:t>F1 Classe 1 (Tóxico / Alvo):</a:t>
            </a:r>
            <a:endParaRPr/>
          </a:p>
          <a:p>
            <a:pPr indent="-311150" lvl="0" marL="914400" marR="0" rtl="0" algn="l">
              <a:lnSpc>
                <a:spcPct val="115000"/>
              </a:lnSpc>
              <a:spcBef>
                <a:spcPts val="0"/>
              </a:spcBef>
              <a:spcAft>
                <a:spcPts val="0"/>
              </a:spcAft>
              <a:buSzPts val="1300"/>
              <a:buChar char="-"/>
            </a:pPr>
            <a:r>
              <a:rPr lang="pt-BR"/>
              <a:t>Média (μ): 0.6899; </a:t>
            </a:r>
            <a:endParaRPr/>
          </a:p>
          <a:p>
            <a:pPr indent="-311150" lvl="0" marL="914400" marR="0" rtl="0" algn="l">
              <a:lnSpc>
                <a:spcPct val="115000"/>
              </a:lnSpc>
              <a:spcBef>
                <a:spcPts val="0"/>
              </a:spcBef>
              <a:spcAft>
                <a:spcPts val="0"/>
              </a:spcAft>
              <a:buSzPts val="1300"/>
              <a:buChar char="-"/>
            </a:pPr>
            <a:r>
              <a:rPr lang="pt-BR"/>
              <a:t>Intervalo (95%): [0.6532,0.7266];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63"/>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Análise Estatística: Toxicidade</a:t>
            </a:r>
            <a:endParaRPr/>
          </a:p>
        </p:txBody>
      </p:sp>
      <p:sp>
        <p:nvSpPr>
          <p:cNvPr id="377" name="Google Shape;377;p63"/>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11150" lvl="0" marL="457200" marR="0" rtl="0" algn="l">
              <a:lnSpc>
                <a:spcPct val="115000"/>
              </a:lnSpc>
              <a:spcBef>
                <a:spcPts val="0"/>
              </a:spcBef>
              <a:spcAft>
                <a:spcPts val="0"/>
              </a:spcAft>
              <a:buSzPts val="1300"/>
              <a:buChar char="●"/>
            </a:pPr>
            <a:r>
              <a:rPr lang="pt-BR"/>
              <a:t>O lim. inferior de performance na classe 0 (0.7484) excede o lim. superior de performance na classe 1 (0.7266), o que demonstra uma diferença estatisticamente significativa na capacidade do modelo em detectar as 2 classes.</a:t>
            </a:r>
            <a:endParaRPr/>
          </a:p>
          <a:p>
            <a:pPr indent="-311150" lvl="0" marL="457200" marR="0" rtl="0" algn="l">
              <a:lnSpc>
                <a:spcPct val="115000"/>
              </a:lnSpc>
              <a:spcBef>
                <a:spcPts val="0"/>
              </a:spcBef>
              <a:spcAft>
                <a:spcPts val="0"/>
              </a:spcAft>
              <a:buSzPts val="1300"/>
              <a:buChar char="●"/>
            </a:pPr>
            <a:r>
              <a:rPr lang="pt-BR"/>
              <a:t>As métricas "Macro" (Precision, Recall e F1), com médias em torno de 0.735, passam uma impressão de performance "Ok".</a:t>
            </a:r>
            <a:endParaRPr/>
          </a:p>
          <a:p>
            <a:pPr indent="-311150" lvl="0" marL="457200" marR="0" rtl="0" algn="l">
              <a:lnSpc>
                <a:spcPct val="115000"/>
              </a:lnSpc>
              <a:spcBef>
                <a:spcPts val="0"/>
              </a:spcBef>
              <a:spcAft>
                <a:spcPts val="0"/>
              </a:spcAft>
              <a:buSzPts val="1300"/>
              <a:buChar char="●"/>
            </a:pPr>
            <a:r>
              <a:rPr lang="pt-BR"/>
              <a:t>No entanto, a análise por classe mostra que essa média é enganosa: ela é apenas a média entre uma performance boa (Classe 0: 0.78) e uma performance ruim (Classe 1: 0.69).</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6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2"/>
              </a:buClr>
              <a:buSzPts val="1100"/>
              <a:buFont typeface="Arial"/>
              <a:buNone/>
            </a:pPr>
            <a:r>
              <a:rPr lang="pt-BR"/>
              <a:t>Análise de Resultados: Misoginia (Folds Originais)</a:t>
            </a:r>
            <a:endParaRPr/>
          </a:p>
          <a:p>
            <a:pPr indent="0" lvl="0" marL="0" rtl="0" algn="l">
              <a:spcBef>
                <a:spcPts val="0"/>
              </a:spcBef>
              <a:spcAft>
                <a:spcPts val="0"/>
              </a:spcAft>
              <a:buNone/>
            </a:pPr>
            <a:r>
              <a:t/>
            </a:r>
            <a:endParaRPr/>
          </a:p>
        </p:txBody>
      </p:sp>
      <p:sp>
        <p:nvSpPr>
          <p:cNvPr id="383" name="Google Shape;383;p6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pt-BR"/>
              <a:t>Os 5 folds de dados refletem a distribuição original do dataset:</a:t>
            </a:r>
            <a:endParaRPr/>
          </a:p>
          <a:p>
            <a:pPr indent="-311150" lvl="0" marL="914400" rtl="0" algn="l">
              <a:spcBef>
                <a:spcPts val="0"/>
              </a:spcBef>
              <a:spcAft>
                <a:spcPts val="0"/>
              </a:spcAft>
              <a:buSzPts val="1300"/>
              <a:buChar char="-"/>
            </a:pPr>
            <a:r>
              <a:rPr lang="pt-BR"/>
              <a:t>~73.3.3% são Classe 0 (Não-Misógino); </a:t>
            </a:r>
            <a:endParaRPr/>
          </a:p>
          <a:p>
            <a:pPr indent="-311150" lvl="0" marL="914400" rtl="0" algn="l">
              <a:spcBef>
                <a:spcPts val="0"/>
              </a:spcBef>
              <a:spcAft>
                <a:spcPts val="0"/>
              </a:spcAft>
              <a:buSzPts val="1300"/>
              <a:buChar char="-"/>
            </a:pPr>
            <a:r>
              <a:rPr lang="pt-BR"/>
              <a:t>~26.7% são Classe 1 (Misógino); </a:t>
            </a:r>
            <a:endParaRPr/>
          </a:p>
          <a:p>
            <a:pPr indent="0" lvl="0" marL="0" marR="0" rtl="0" algn="l">
              <a:lnSpc>
                <a:spcPct val="115000"/>
              </a:lnSpc>
              <a:spcBef>
                <a:spcPts val="1200"/>
              </a:spcBef>
              <a:spcAft>
                <a:spcPts val="1200"/>
              </a:spcAft>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5"/>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2"/>
              </a:buClr>
              <a:buSzPts val="1100"/>
              <a:buFont typeface="Arial"/>
              <a:buNone/>
            </a:pPr>
            <a:r>
              <a:rPr lang="pt-BR"/>
              <a:t>Análise de Resultados: Misoginia (Folds Originais)</a:t>
            </a:r>
            <a:endParaRPr/>
          </a:p>
          <a:p>
            <a:pPr indent="0" lvl="0" marL="0" rtl="0" algn="l">
              <a:spcBef>
                <a:spcPts val="0"/>
              </a:spcBef>
              <a:spcAft>
                <a:spcPts val="0"/>
              </a:spcAft>
              <a:buNone/>
            </a:pPr>
            <a:r>
              <a:t/>
            </a:r>
            <a:endParaRPr/>
          </a:p>
        </p:txBody>
      </p:sp>
      <p:pic>
        <p:nvPicPr>
          <p:cNvPr id="389" name="Google Shape;389;p65"/>
          <p:cNvPicPr preferRelativeResize="0"/>
          <p:nvPr/>
        </p:nvPicPr>
        <p:blipFill rotWithShape="1">
          <a:blip r:embed="rId3">
            <a:alphaModFix/>
          </a:blip>
          <a:srcRect b="-3149" l="0" r="0" t="3150"/>
          <a:stretch/>
        </p:blipFill>
        <p:spPr>
          <a:xfrm>
            <a:off x="108550" y="2299925"/>
            <a:ext cx="9035450" cy="166527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66"/>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Análise Estatística : Misoginia</a:t>
            </a:r>
            <a:endParaRPr/>
          </a:p>
          <a:p>
            <a:pPr indent="0" lvl="0" marL="0" rtl="0" algn="l">
              <a:spcBef>
                <a:spcPts val="0"/>
              </a:spcBef>
              <a:spcAft>
                <a:spcPts val="0"/>
              </a:spcAft>
              <a:buNone/>
            </a:pPr>
            <a:r>
              <a:t/>
            </a:r>
            <a:endParaRPr/>
          </a:p>
        </p:txBody>
      </p:sp>
      <p:sp>
        <p:nvSpPr>
          <p:cNvPr id="395" name="Google Shape;395;p66"/>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pt-BR"/>
              <a:t>Análise baseada nos 5 folds de Validação Cruzada (n=5) do dataset original; </a:t>
            </a:r>
            <a:endParaRPr/>
          </a:p>
          <a:p>
            <a:pPr indent="-311150" lvl="0" marL="457200" rtl="0" algn="l">
              <a:spcBef>
                <a:spcPts val="0"/>
              </a:spcBef>
              <a:spcAft>
                <a:spcPts val="0"/>
              </a:spcAft>
              <a:buSzPts val="1300"/>
              <a:buChar char="●"/>
            </a:pPr>
            <a:r>
              <a:rPr lang="pt-BR"/>
              <a:t>Intervalo de Confiança (IC) de 95% calculado usando a distribuição t de Student (com 4 graus de liberdade, tc​=2.776);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67"/>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Análise Estatística: Misoginia</a:t>
            </a:r>
            <a:endParaRPr/>
          </a:p>
        </p:txBody>
      </p:sp>
      <p:sp>
        <p:nvSpPr>
          <p:cNvPr id="401" name="Google Shape;401;p67"/>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11150" lvl="0" marL="457200" marR="0" rtl="0" algn="l">
              <a:lnSpc>
                <a:spcPct val="115000"/>
              </a:lnSpc>
              <a:spcBef>
                <a:spcPts val="0"/>
              </a:spcBef>
              <a:spcAft>
                <a:spcPts val="0"/>
              </a:spcAft>
              <a:buSzPts val="1300"/>
              <a:buChar char="●"/>
            </a:pPr>
            <a:r>
              <a:rPr lang="pt-BR"/>
              <a:t>Macro F1: </a:t>
            </a:r>
            <a:endParaRPr/>
          </a:p>
          <a:p>
            <a:pPr indent="-311150" lvl="0" marL="914400" marR="0" rtl="0" algn="l">
              <a:lnSpc>
                <a:spcPct val="115000"/>
              </a:lnSpc>
              <a:spcBef>
                <a:spcPts val="0"/>
              </a:spcBef>
              <a:spcAft>
                <a:spcPts val="0"/>
              </a:spcAft>
              <a:buSzPts val="1300"/>
              <a:buChar char="-"/>
            </a:pPr>
            <a:r>
              <a:rPr lang="pt-BR"/>
              <a:t>Média (μ): 0.7798; </a:t>
            </a:r>
            <a:endParaRPr/>
          </a:p>
          <a:p>
            <a:pPr indent="-311150" lvl="0" marL="914400" marR="0" rtl="0" algn="l">
              <a:lnSpc>
                <a:spcPct val="115000"/>
              </a:lnSpc>
              <a:spcBef>
                <a:spcPts val="0"/>
              </a:spcBef>
              <a:spcAft>
                <a:spcPts val="0"/>
              </a:spcAft>
              <a:buSzPts val="1300"/>
              <a:buChar char="-"/>
            </a:pPr>
            <a:r>
              <a:rPr lang="pt-BR"/>
              <a:t>Intervalo (95%): [0.7656,0.7940]</a:t>
            </a:r>
            <a:endParaRPr/>
          </a:p>
          <a:p>
            <a:pPr indent="-311150" lvl="0" marL="457200" marR="0" rtl="0" algn="l">
              <a:lnSpc>
                <a:spcPct val="115000"/>
              </a:lnSpc>
              <a:spcBef>
                <a:spcPts val="0"/>
              </a:spcBef>
              <a:spcAft>
                <a:spcPts val="0"/>
              </a:spcAft>
              <a:buSzPts val="1300"/>
              <a:buChar char="●"/>
            </a:pPr>
            <a:r>
              <a:rPr lang="pt-BR"/>
              <a:t>Macro Precision:</a:t>
            </a:r>
            <a:endParaRPr/>
          </a:p>
          <a:p>
            <a:pPr indent="-311150" lvl="0" marL="914400" marR="0" rtl="0" algn="l">
              <a:lnSpc>
                <a:spcPct val="115000"/>
              </a:lnSpc>
              <a:spcBef>
                <a:spcPts val="0"/>
              </a:spcBef>
              <a:spcAft>
                <a:spcPts val="0"/>
              </a:spcAft>
              <a:buSzPts val="1300"/>
              <a:buChar char="-"/>
            </a:pPr>
            <a:r>
              <a:rPr lang="pt-BR"/>
              <a:t>Média (μ): 0.7832; </a:t>
            </a:r>
            <a:endParaRPr/>
          </a:p>
          <a:p>
            <a:pPr indent="-311150" lvl="0" marL="914400" marR="0" rtl="0" algn="l">
              <a:lnSpc>
                <a:spcPct val="115000"/>
              </a:lnSpc>
              <a:spcBef>
                <a:spcPts val="0"/>
              </a:spcBef>
              <a:spcAft>
                <a:spcPts val="0"/>
              </a:spcAft>
              <a:buSzPts val="1300"/>
              <a:buChar char="-"/>
            </a:pPr>
            <a:r>
              <a:rPr lang="pt-BR"/>
              <a:t>Intervalo (95%): [0.7613,0.8051]; </a:t>
            </a:r>
            <a:endParaRPr/>
          </a:p>
          <a:p>
            <a:pPr indent="-311150" lvl="0" marL="457200" marR="0" rtl="0" algn="l">
              <a:lnSpc>
                <a:spcPct val="115000"/>
              </a:lnSpc>
              <a:spcBef>
                <a:spcPts val="0"/>
              </a:spcBef>
              <a:spcAft>
                <a:spcPts val="0"/>
              </a:spcAft>
              <a:buSzPts val="1300"/>
              <a:buChar char="●"/>
            </a:pPr>
            <a:r>
              <a:rPr lang="pt-BR"/>
              <a:t>Macro Recall:</a:t>
            </a:r>
            <a:endParaRPr/>
          </a:p>
          <a:p>
            <a:pPr indent="-311150" lvl="0" marL="914400" marR="0" rtl="0" algn="l">
              <a:lnSpc>
                <a:spcPct val="115000"/>
              </a:lnSpc>
              <a:spcBef>
                <a:spcPts val="0"/>
              </a:spcBef>
              <a:spcAft>
                <a:spcPts val="0"/>
              </a:spcAft>
              <a:buSzPts val="1300"/>
              <a:buChar char="-"/>
            </a:pPr>
            <a:r>
              <a:rPr lang="pt-BR"/>
              <a:t>Média (μ): 0.7794; </a:t>
            </a:r>
            <a:endParaRPr/>
          </a:p>
          <a:p>
            <a:pPr indent="-311150" lvl="0" marL="914400" marR="0" rtl="0" algn="l">
              <a:lnSpc>
                <a:spcPct val="115000"/>
              </a:lnSpc>
              <a:spcBef>
                <a:spcPts val="0"/>
              </a:spcBef>
              <a:spcAft>
                <a:spcPts val="0"/>
              </a:spcAft>
              <a:buSzPts val="1300"/>
              <a:buChar char="-"/>
            </a:pPr>
            <a:r>
              <a:rPr lang="pt-BR"/>
              <a:t>Intervalo (95%): [0.7594,0.7994]; </a:t>
            </a:r>
            <a:endParaRPr/>
          </a:p>
          <a:p>
            <a:pPr indent="-311150" lvl="0" marL="457200" marR="0" rtl="0" algn="l">
              <a:lnSpc>
                <a:spcPct val="115000"/>
              </a:lnSpc>
              <a:spcBef>
                <a:spcPts val="0"/>
              </a:spcBef>
              <a:spcAft>
                <a:spcPts val="0"/>
              </a:spcAft>
              <a:buSzPts val="1300"/>
              <a:buChar char="●"/>
            </a:pPr>
            <a:r>
              <a:rPr lang="pt-BR"/>
              <a:t>F1 Classe 0 (Não-Misógino / Majoritária):</a:t>
            </a:r>
            <a:endParaRPr/>
          </a:p>
          <a:p>
            <a:pPr indent="-311150" lvl="0" marL="914400" marR="0" rtl="0" algn="l">
              <a:lnSpc>
                <a:spcPct val="115000"/>
              </a:lnSpc>
              <a:spcBef>
                <a:spcPts val="0"/>
              </a:spcBef>
              <a:spcAft>
                <a:spcPts val="0"/>
              </a:spcAft>
              <a:buSzPts val="1300"/>
              <a:buChar char="-"/>
            </a:pPr>
            <a:r>
              <a:rPr lang="pt-BR"/>
              <a:t>Média (μ): 0.8828; </a:t>
            </a:r>
            <a:endParaRPr/>
          </a:p>
          <a:p>
            <a:pPr indent="-311150" lvl="0" marL="914400" marR="0" rtl="0" algn="l">
              <a:lnSpc>
                <a:spcPct val="115000"/>
              </a:lnSpc>
              <a:spcBef>
                <a:spcPts val="0"/>
              </a:spcBef>
              <a:spcAft>
                <a:spcPts val="0"/>
              </a:spcAft>
              <a:buSzPts val="1300"/>
              <a:buChar char="-"/>
            </a:pPr>
            <a:r>
              <a:rPr lang="pt-BR"/>
              <a:t>Intervalo (95%): [0.8705,0.8951]; </a:t>
            </a:r>
            <a:endParaRPr/>
          </a:p>
          <a:p>
            <a:pPr indent="-311150" lvl="0" marL="457200" marR="0" rtl="0" algn="l">
              <a:lnSpc>
                <a:spcPct val="115000"/>
              </a:lnSpc>
              <a:spcBef>
                <a:spcPts val="0"/>
              </a:spcBef>
              <a:spcAft>
                <a:spcPts val="0"/>
              </a:spcAft>
              <a:buSzPts val="1300"/>
              <a:buChar char="●"/>
            </a:pPr>
            <a:r>
              <a:rPr lang="pt-BR"/>
              <a:t>F1 Classe 1 (Misógino / Alvo):</a:t>
            </a:r>
            <a:endParaRPr/>
          </a:p>
          <a:p>
            <a:pPr indent="-311150" lvl="0" marL="914400" marR="0" rtl="0" algn="l">
              <a:lnSpc>
                <a:spcPct val="115000"/>
              </a:lnSpc>
              <a:spcBef>
                <a:spcPts val="0"/>
              </a:spcBef>
              <a:spcAft>
                <a:spcPts val="0"/>
              </a:spcAft>
              <a:buSzPts val="1300"/>
              <a:buChar char="-"/>
            </a:pPr>
            <a:r>
              <a:rPr lang="pt-BR"/>
              <a:t>Média (μ): 0.6768;</a:t>
            </a:r>
            <a:endParaRPr/>
          </a:p>
          <a:p>
            <a:pPr indent="-311150" lvl="0" marL="914400" marR="0" rtl="0" algn="l">
              <a:lnSpc>
                <a:spcPct val="115000"/>
              </a:lnSpc>
              <a:spcBef>
                <a:spcPts val="0"/>
              </a:spcBef>
              <a:spcAft>
                <a:spcPts val="0"/>
              </a:spcAft>
              <a:buSzPts val="1300"/>
              <a:buChar char="-"/>
            </a:pPr>
            <a:r>
              <a:rPr lang="pt-BR"/>
              <a:t>Intervalo (95%): [0.6535,0.7000];</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68"/>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Análise Estatística: Misoginia</a:t>
            </a:r>
            <a:endParaRPr/>
          </a:p>
        </p:txBody>
      </p:sp>
      <p:sp>
        <p:nvSpPr>
          <p:cNvPr id="407" name="Google Shape;407;p68"/>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11150" lvl="0" marL="457200" marR="0" rtl="0" algn="l">
              <a:lnSpc>
                <a:spcPct val="115000"/>
              </a:lnSpc>
              <a:spcBef>
                <a:spcPts val="0"/>
              </a:spcBef>
              <a:spcAft>
                <a:spcPts val="0"/>
              </a:spcAft>
              <a:buSzPts val="1300"/>
              <a:buChar char="●"/>
            </a:pPr>
            <a:r>
              <a:rPr lang="pt-BR"/>
              <a:t>Os ICs de 95% para a Classe 0 (majoritária) e a Classe 1 (minoritária) não se sobrepõem de forma alguma.</a:t>
            </a:r>
            <a:endParaRPr/>
          </a:p>
          <a:p>
            <a:pPr indent="-311150" lvl="0" marL="457200" marR="0" rtl="0" algn="l">
              <a:lnSpc>
                <a:spcPct val="115000"/>
              </a:lnSpc>
              <a:spcBef>
                <a:spcPts val="0"/>
              </a:spcBef>
              <a:spcAft>
                <a:spcPts val="0"/>
              </a:spcAft>
              <a:buSzPts val="1300"/>
              <a:buChar char="●"/>
            </a:pPr>
            <a:r>
              <a:rPr lang="pt-BR"/>
              <a:t>A diferença é estatisticamente significativa: na pior das hipóteses, o modelo é pelo menos 17 pontos percentuais de F1 melhor em detectar a classe majoritária do que em detectar a classe-alvo.</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69"/>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2"/>
              </a:buClr>
              <a:buSzPts val="1100"/>
              <a:buFont typeface="Arial"/>
              <a:buNone/>
            </a:pPr>
            <a:r>
              <a:rPr lang="pt-BR"/>
              <a:t>Análise de Resultados: Misoginia (Folds Balanceados)</a:t>
            </a:r>
            <a:endParaRPr/>
          </a:p>
          <a:p>
            <a:pPr indent="0" lvl="0" marL="0" rtl="0" algn="l">
              <a:spcBef>
                <a:spcPts val="0"/>
              </a:spcBef>
              <a:spcAft>
                <a:spcPts val="0"/>
              </a:spcAft>
              <a:buNone/>
            </a:pPr>
            <a:r>
              <a:t/>
            </a:r>
            <a:endParaRPr/>
          </a:p>
        </p:txBody>
      </p:sp>
      <p:pic>
        <p:nvPicPr>
          <p:cNvPr id="413" name="Google Shape;413;p69"/>
          <p:cNvPicPr preferRelativeResize="0"/>
          <p:nvPr/>
        </p:nvPicPr>
        <p:blipFill rotWithShape="1">
          <a:blip r:embed="rId3">
            <a:alphaModFix/>
          </a:blip>
          <a:srcRect b="31750" l="-1200" r="1199" t="-31750"/>
          <a:stretch/>
        </p:blipFill>
        <p:spPr>
          <a:xfrm>
            <a:off x="50675" y="1919277"/>
            <a:ext cx="9144000" cy="2054724"/>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70"/>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Análise Estatística : Misoginia Balanceada</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19" name="Google Shape;419;p70"/>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pt-BR"/>
              <a:t>Macro F1:</a:t>
            </a:r>
            <a:endParaRPr/>
          </a:p>
          <a:p>
            <a:pPr indent="-311150" lvl="0" marL="914400" rtl="0" algn="l">
              <a:spcBef>
                <a:spcPts val="0"/>
              </a:spcBef>
              <a:spcAft>
                <a:spcPts val="0"/>
              </a:spcAft>
              <a:buSzPts val="1300"/>
              <a:buChar char="-"/>
            </a:pPr>
            <a:r>
              <a:rPr lang="pt-BR"/>
              <a:t>Média (μ): 0.7821;</a:t>
            </a:r>
            <a:endParaRPr/>
          </a:p>
          <a:p>
            <a:pPr indent="-311150" lvl="0" marL="914400" rtl="0" algn="l">
              <a:spcBef>
                <a:spcPts val="0"/>
              </a:spcBef>
              <a:spcAft>
                <a:spcPts val="0"/>
              </a:spcAft>
              <a:buSzPts val="1300"/>
              <a:buChar char="-"/>
            </a:pPr>
            <a:r>
              <a:rPr lang="pt-BR"/>
              <a:t>Intervalo: [0.7577, 0.8065]; </a:t>
            </a:r>
            <a:endParaRPr/>
          </a:p>
          <a:p>
            <a:pPr indent="-311150" lvl="0" marL="457200" rtl="0" algn="l">
              <a:spcBef>
                <a:spcPts val="0"/>
              </a:spcBef>
              <a:spcAft>
                <a:spcPts val="0"/>
              </a:spcAft>
              <a:buSzPts val="1300"/>
              <a:buChar char="●"/>
            </a:pPr>
            <a:r>
              <a:rPr lang="pt-BR"/>
              <a:t>Macro Precision:</a:t>
            </a:r>
            <a:endParaRPr/>
          </a:p>
          <a:p>
            <a:pPr indent="-311150" lvl="0" marL="914400" rtl="0" algn="l">
              <a:spcBef>
                <a:spcPts val="0"/>
              </a:spcBef>
              <a:spcAft>
                <a:spcPts val="0"/>
              </a:spcAft>
              <a:buSzPts val="1300"/>
              <a:buChar char="-"/>
            </a:pPr>
            <a:r>
              <a:rPr lang="pt-BR"/>
              <a:t>Média (μ): 0.7845;</a:t>
            </a:r>
            <a:endParaRPr/>
          </a:p>
          <a:p>
            <a:pPr indent="-311150" lvl="0" marL="914400" rtl="0" algn="l">
              <a:spcBef>
                <a:spcPts val="0"/>
              </a:spcBef>
              <a:spcAft>
                <a:spcPts val="0"/>
              </a:spcAft>
              <a:buSzPts val="1300"/>
              <a:buChar char="-"/>
            </a:pPr>
            <a:r>
              <a:rPr lang="pt-BR"/>
              <a:t>Intervalo: [0.7582, 0.8108]; </a:t>
            </a:r>
            <a:endParaRPr/>
          </a:p>
          <a:p>
            <a:pPr indent="-311150" lvl="0" marL="457200" rtl="0" algn="l">
              <a:spcBef>
                <a:spcPts val="0"/>
              </a:spcBef>
              <a:spcAft>
                <a:spcPts val="0"/>
              </a:spcAft>
              <a:buSzPts val="1300"/>
              <a:buChar char="●"/>
            </a:pPr>
            <a:r>
              <a:rPr lang="pt-BR"/>
              <a:t>Macro Recall:</a:t>
            </a:r>
            <a:endParaRPr/>
          </a:p>
          <a:p>
            <a:pPr indent="-311150" lvl="0" marL="914400" rtl="0" algn="l">
              <a:spcBef>
                <a:spcPts val="0"/>
              </a:spcBef>
              <a:spcAft>
                <a:spcPts val="0"/>
              </a:spcAft>
              <a:buSzPts val="1300"/>
              <a:buChar char="-"/>
            </a:pPr>
            <a:r>
              <a:rPr lang="pt-BR"/>
              <a:t>Média (μ): 0.7824</a:t>
            </a:r>
            <a:endParaRPr/>
          </a:p>
          <a:p>
            <a:pPr indent="-311150" lvl="0" marL="914400" rtl="0" algn="l">
              <a:spcBef>
                <a:spcPts val="0"/>
              </a:spcBef>
              <a:spcAft>
                <a:spcPts val="0"/>
              </a:spcAft>
              <a:buSzPts val="1300"/>
              <a:buChar char="-"/>
            </a:pPr>
            <a:r>
              <a:rPr lang="pt-BR"/>
              <a:t>Intervalo: [0.7579, 0.8070]; </a:t>
            </a:r>
            <a:endParaRPr/>
          </a:p>
          <a:p>
            <a:pPr indent="-311150" lvl="0" marL="457200" rtl="0" algn="l">
              <a:spcBef>
                <a:spcPts val="0"/>
              </a:spcBef>
              <a:spcAft>
                <a:spcPts val="0"/>
              </a:spcAft>
              <a:buSzPts val="1300"/>
              <a:buChar char="●"/>
            </a:pPr>
            <a:r>
              <a:rPr lang="pt-BR"/>
              <a:t>F1 Classe 0 (Não-Misógino / Majoritária):</a:t>
            </a:r>
            <a:endParaRPr/>
          </a:p>
          <a:p>
            <a:pPr indent="-311150" lvl="0" marL="914400" rtl="0" algn="l">
              <a:spcBef>
                <a:spcPts val="0"/>
              </a:spcBef>
              <a:spcAft>
                <a:spcPts val="0"/>
              </a:spcAft>
              <a:buSzPts val="1300"/>
              <a:buChar char="-"/>
            </a:pPr>
            <a:r>
              <a:rPr lang="pt-BR"/>
              <a:t>Média (μ): 0.7815;</a:t>
            </a:r>
            <a:endParaRPr/>
          </a:p>
          <a:p>
            <a:pPr indent="-311150" lvl="0" marL="914400" rtl="0" algn="l">
              <a:spcBef>
                <a:spcPts val="0"/>
              </a:spcBef>
              <a:spcAft>
                <a:spcPts val="0"/>
              </a:spcAft>
              <a:buSzPts val="1300"/>
              <a:buChar char="-"/>
            </a:pPr>
            <a:r>
              <a:rPr lang="pt-BR"/>
              <a:t>Intervalo: [0.7514, 0.8117]; </a:t>
            </a:r>
            <a:endParaRPr/>
          </a:p>
          <a:p>
            <a:pPr indent="-311150" lvl="0" marL="457200" rtl="0" algn="l">
              <a:spcBef>
                <a:spcPts val="0"/>
              </a:spcBef>
              <a:spcAft>
                <a:spcPts val="0"/>
              </a:spcAft>
              <a:buSzPts val="1300"/>
              <a:buChar char="●"/>
            </a:pPr>
            <a:r>
              <a:rPr lang="pt-BR"/>
              <a:t>F1 Classe 1 (Misógino / Alvo):</a:t>
            </a:r>
            <a:endParaRPr/>
          </a:p>
          <a:p>
            <a:pPr indent="-311150" lvl="0" marL="914400" rtl="0" algn="l">
              <a:spcBef>
                <a:spcPts val="0"/>
              </a:spcBef>
              <a:spcAft>
                <a:spcPts val="0"/>
              </a:spcAft>
              <a:buSzPts val="1300"/>
              <a:buChar char="-"/>
            </a:pPr>
            <a:r>
              <a:rPr lang="pt-BR"/>
              <a:t>Média (μ): 0.7828; </a:t>
            </a:r>
            <a:endParaRPr/>
          </a:p>
          <a:p>
            <a:pPr indent="-311150" lvl="0" marL="914400" rtl="0" algn="l">
              <a:spcBef>
                <a:spcPts val="0"/>
              </a:spcBef>
              <a:spcAft>
                <a:spcPts val="0"/>
              </a:spcAft>
              <a:buSzPts val="1300"/>
              <a:buChar char="-"/>
            </a:pPr>
            <a:r>
              <a:rPr lang="pt-BR"/>
              <a:t>Intervalo: [0.7584, 0.8071];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71"/>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Análise Estatística : Misoginia Balanceada</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25" name="Google Shape;425;p71"/>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11150" lvl="0" marL="457200" marR="0" rtl="0" algn="l">
              <a:lnSpc>
                <a:spcPct val="115000"/>
              </a:lnSpc>
              <a:spcBef>
                <a:spcPts val="0"/>
              </a:spcBef>
              <a:spcAft>
                <a:spcPts val="0"/>
              </a:spcAft>
              <a:buSzPts val="1300"/>
              <a:buChar char="●"/>
            </a:pPr>
            <a:r>
              <a:rPr lang="pt-BR"/>
              <a:t>Antes (Desbalanceado): Havia uma lacuna de 17 pontos entre os intervalos de confiança das duas classes.</a:t>
            </a:r>
            <a:endParaRPr/>
          </a:p>
          <a:p>
            <a:pPr indent="-311150" lvl="0" marL="457200" marR="0" rtl="0" algn="l">
              <a:lnSpc>
                <a:spcPct val="115000"/>
              </a:lnSpc>
              <a:spcBef>
                <a:spcPts val="0"/>
              </a:spcBef>
              <a:spcAft>
                <a:spcPts val="0"/>
              </a:spcAft>
              <a:buSzPts val="1300"/>
              <a:buChar char="●"/>
            </a:pPr>
            <a:r>
              <a:rPr lang="pt-BR"/>
              <a:t>Agora (Balanceado 50/50): Os intervalos de confiança da Classe 0 [0.75, 0.81] e da Classe 1 [0.76, 0.81] se sobrepõem quase perfeitamente.</a:t>
            </a:r>
            <a:endParaRPr/>
          </a:p>
          <a:p>
            <a:pPr indent="-311150" lvl="0" marL="457200" marR="0" rtl="0" algn="l">
              <a:lnSpc>
                <a:spcPct val="115000"/>
              </a:lnSpc>
              <a:spcBef>
                <a:spcPts val="0"/>
              </a:spcBef>
              <a:spcAft>
                <a:spcPts val="0"/>
              </a:spcAft>
              <a:buSzPts val="1300"/>
              <a:buChar char="●"/>
            </a:pPr>
            <a:r>
              <a:rPr lang="pt-BR"/>
              <a:t>O F1 da classe majoritária caiu de aprox. 0.88 para aprox. 0.78.</a:t>
            </a:r>
            <a:endParaRPr/>
          </a:p>
          <a:p>
            <a:pPr indent="-311150" lvl="0" marL="457200" marR="0" rtl="0" algn="l">
              <a:lnSpc>
                <a:spcPct val="115000"/>
              </a:lnSpc>
              <a:spcBef>
                <a:spcPts val="0"/>
              </a:spcBef>
              <a:spcAft>
                <a:spcPts val="0"/>
              </a:spcAft>
              <a:buSzPts val="1300"/>
              <a:buChar char="●"/>
            </a:pPr>
            <a:r>
              <a:rPr lang="pt-BR"/>
              <a:t>O F1 da classe-alvo subiu de aprox. 0.68 para aprox. 0.78.</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