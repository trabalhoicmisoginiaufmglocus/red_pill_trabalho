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Raleway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.fntdata"/><Relationship Id="rId20" Type="http://schemas.openxmlformats.org/officeDocument/2006/relationships/slide" Target="slides/slide15.xml"/><Relationship Id="rId42" Type="http://schemas.openxmlformats.org/officeDocument/2006/relationships/font" Target="fonts/Raleway-boldItalic.fntdata"/><Relationship Id="rId41" Type="http://schemas.openxmlformats.org/officeDocument/2006/relationships/font" Target="fonts/Raleway-italic.fntdata"/><Relationship Id="rId22" Type="http://schemas.openxmlformats.org/officeDocument/2006/relationships/slide" Target="slides/slide17.xml"/><Relationship Id="rId44" Type="http://schemas.openxmlformats.org/officeDocument/2006/relationships/font" Target="fonts/Lato-bold.fntdata"/><Relationship Id="rId21" Type="http://schemas.openxmlformats.org/officeDocument/2006/relationships/slide" Target="slides/slide16.xml"/><Relationship Id="rId43" Type="http://schemas.openxmlformats.org/officeDocument/2006/relationships/font" Target="fonts/Lato-regular.fntdata"/><Relationship Id="rId24" Type="http://schemas.openxmlformats.org/officeDocument/2006/relationships/slide" Target="slides/slide19.xml"/><Relationship Id="rId46" Type="http://schemas.openxmlformats.org/officeDocument/2006/relationships/font" Target="fonts/Lato-boldItalic.fntdata"/><Relationship Id="rId23" Type="http://schemas.openxmlformats.org/officeDocument/2006/relationships/slide" Target="slides/slide18.xml"/><Relationship Id="rId45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aleway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8d77c77e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8d77c77e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c9c2458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c9c2458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acecde7e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acecde7e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8d77c77e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8d77c77e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d77c77e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8d77c77e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8d77c77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8d77c77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8d77c77e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68d77c77e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d77c77e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8d77c77e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9b53423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9b53423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b534239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b534239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acecde7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acecde7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acecde7e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acecde7e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cecde7e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acecde7e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acecde7e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acecde7e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acecde7e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acecde7e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acecde7e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acecde7e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c9c2458f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c9c2458f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6be586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6be586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c6be586d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c6be586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6be586d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c6be586d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c6be586d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c6be586d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c92c02a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cc92c02a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cc92c02a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cc92c02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cc92c02a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cc92c02a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cc92c02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cc92c02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cc92c02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cc92c02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cc92c02a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cc92c02a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cc92c02a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cc92c02a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cc92c02a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cc92c02a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cc92c02a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cc92c02a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cc92c02a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cc92c02a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cd2e9c4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cd2e9c4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Classificador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1: Llama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2400250" y="575950"/>
            <a:ext cx="6321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Relat</a:t>
            </a:r>
            <a:r>
              <a:rPr lang="pt-BR"/>
              <a:t>ório de momento - 09/10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27050" y="1141175"/>
            <a:ext cx="8289900" cy="34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</a:t>
            </a:r>
            <a:r>
              <a:rPr lang="pt-BR"/>
              <a:t> folds foram criados de forma a refletir a % de </a:t>
            </a:r>
            <a:r>
              <a:rPr lang="pt-BR"/>
              <a:t>misóginos</a:t>
            </a:r>
            <a:r>
              <a:rPr lang="pt-BR"/>
              <a:t> e t</a:t>
            </a:r>
            <a:r>
              <a:rPr lang="pt-BR"/>
              <a:t>óxicos nos comentários totais. Assim sendo, temos 5 folds de misoginia e 5 folds de toxicidade (separados), com as devidas proporções (26,7% misóginos nos de misoginia e 41,7% tóxicos nos de toxicidade).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Foram realizados todos os testes (prompts com e sem conceituaç</a:t>
            </a:r>
            <a:r>
              <a:rPr lang="pt-BR"/>
              <a:t>ão</a:t>
            </a:r>
            <a:r>
              <a:rPr lang="pt-BR"/>
              <a:t>) para o zero shot, sem exemplos. Foi usado o macro-F1 para a avaliaç</a:t>
            </a:r>
            <a:r>
              <a:rPr lang="pt-BR"/>
              <a:t>ão. </a:t>
            </a:r>
            <a:r>
              <a:rPr lang="pt-BR"/>
              <a:t>O que me chamou mais a atenç</a:t>
            </a:r>
            <a:r>
              <a:rPr lang="pt-BR"/>
              <a:t>ão foi o pulo de aumento do F1 quando apenas alteramos o prompt de port -&gt; ing. De resto, os resultados parecem fazer sentido, com os prompts de conceituação demonstrando melhor desempenho. O melhor F1 de misoginia ficou com o T4 (conceituação - ing) e o melhor F1 de toxicidade ficou com o T3 (conceituação - port)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Os testes para Few Shot foram esquematizados da seguinte forma: 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pt-BR"/>
              <a:t>Crio 5 amostras de 5 exemplos retirados de 4 folds de  forma aleatória, mas com 3 misoginos/toxicos e 2 não. (exemplo: retiro dos folds 2, 3, 4 e 5)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BR"/>
              <a:t>Com cada uma dessas amostras, crio um novo prompt: o comando inicial é o mesmo, mas os exemplos diferem. 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BR"/>
              <a:t>Os 5 prompts são rodados para o fold não usado na amostragem (ex: fold 1) - repito para cada fold</a:t>
            </a:r>
            <a:endParaRPr/>
          </a:p>
          <a:p>
            <a:pPr indent="-29146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t-BR"/>
              <a:t>Avaliação: Para cada fold, a média dos 5 prompts. Para o resultado geral, a média dos 25 resultados.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Realizei esse procedimento em todos os folds para o Teste 1 - sem conceituação. A avaliação teve uma melhora em relação ao zero shot, sendo essa mais perceptível para a toxicidade. Porém, ao plotar as matrizes de confusão, achei estranho que não estavam dando falso-negativos em vários dos casos. Portanto, antes de prosseguir para o outro teste de few shot, estamos investigando se realmente está tudo ok.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Zero Shot</a:t>
            </a:r>
            <a:endParaRPr/>
          </a:p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Sem exemplos. Comando para responder com apenas 0 ou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tóxico.\n"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tóxico.\n"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2400250" y="575950"/>
            <a:ext cx="6321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1 - O texto abaixo é tóxico/mis</a:t>
            </a:r>
            <a:r>
              <a:rPr lang="pt-BR"/>
              <a:t>ógino</a:t>
            </a:r>
            <a:r>
              <a:rPr lang="pt-BR"/>
              <a:t>? 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5" y="1878399"/>
            <a:ext cx="4392325" cy="30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6775" y="1878400"/>
            <a:ext cx="4392325" cy="30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400250" y="575950"/>
            <a:ext cx="6321600" cy="9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2 - Is the text below toxic/misogynistic?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0000"/>
            <a:ext cx="4419600" cy="3066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625" y="1980000"/>
            <a:ext cx="4175025" cy="289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400250" y="575950"/>
            <a:ext cx="63216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3 - Framework de Análise (Conceituaç</a:t>
            </a:r>
            <a:r>
              <a:rPr lang="pt-BR"/>
              <a:t>ão em tópicos</a:t>
            </a:r>
            <a:r>
              <a:rPr lang="pt-BR"/>
              <a:t>)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75" y="1620150"/>
            <a:ext cx="4560607" cy="31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882" y="1723750"/>
            <a:ext cx="4105718" cy="284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400250" y="575950"/>
            <a:ext cx="63216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 4 - </a:t>
            </a:r>
            <a:r>
              <a:rPr lang="pt-BR"/>
              <a:t>Analysis Framework</a:t>
            </a:r>
            <a:r>
              <a:rPr lang="pt-BR"/>
              <a:t> 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75" y="1723750"/>
            <a:ext cx="4560607" cy="311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082" y="1723750"/>
            <a:ext cx="4105718" cy="284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 gerais (macro)</a:t>
            </a:r>
            <a:endParaRPr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7827"/>
            <a:ext cx="9143999" cy="141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Few Shot</a:t>
            </a:r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 exemplos. Comando para responder com apenas 0 ou 1.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"1. Responda apenas com 1 se o texto é tóxico.\n"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       "2. Responda apenas com 0 se o texto não é tóxico.\n"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5 amostras de 5 exemplos para cada um dos 5 folds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Exemplo de procedimento: Amostras com exemplos retirados dos folds 1, 2, 3 e 4 -&gt; Prompt usado para o Fold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Resultados: m</a:t>
            </a:r>
            <a:r>
              <a:rPr lang="pt-BR"/>
              <a:t>édia dos 5 experimentos, para cada fold. Para o resultado geral, média de todos os resultados (25 prompts no total)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7850"/>
            <a:ext cx="8839200" cy="139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7625" y="2328475"/>
            <a:ext cx="4266875" cy="21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00" y="694138"/>
            <a:ext cx="8839201" cy="375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5" y="626025"/>
            <a:ext cx="8839201" cy="375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25" y="650975"/>
            <a:ext cx="8839201" cy="375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00" y="650950"/>
            <a:ext cx="8839201" cy="375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5" y="659275"/>
            <a:ext cx="8839201" cy="375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2: RoBERTa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o Código Funciona - Confiabilidade do  Método (Fase 1)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Objetivo: Nosso objetivo não </a:t>
            </a:r>
            <a:r>
              <a:rPr lang="pt-BR"/>
              <a:t>é criar o modelo final, mas verificar se o método é confiável.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 pipeline executa um loop de 5 rounds (K-Fold 3:1:1);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Grid Search: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learning_rate: [1e-5, 2e-5, 3e-5, 5e-5];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weight_decay: [0.0, 0.01, 0.1];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dropout: [0.1, 0.2, 0.3];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Treino Monitorado com Early Stopping baseado na F1 Macro, se após duas épocas o modelo não melhorar, o treinamento com aqueles hiperparâmetros é parado;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Thresholding: Ajuste do limiar de decisão por classe para melhorar a tomada de decisão.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Avaliação Cega e Log;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o c</a:t>
            </a:r>
            <a:r>
              <a:rPr lang="pt-BR"/>
              <a:t>ódigo funciona - Treinamento do Modelo Final (Fase 2)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Objetivo: </a:t>
            </a:r>
            <a:r>
              <a:rPr lang="pt-BR"/>
              <a:t>Treinamento e salvamento do modelo final, com base em uma divisão fixa dos dados (T1 V2);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Grid Search: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É executado inteiramente de novo;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Mesmo método de limiar otimizado usado na fase 1;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Os 36 modelos temporários são descartados;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Avaliação Final: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Os Limiares Otimizados finais são calculados usando o fold de Validação (Fold 2)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O modelo é avaliado uma única vez no fold de Teste (Fold 1) usando esses limiares; </a:t>
            </a:r>
            <a:endParaRPr/>
          </a:p>
          <a:p>
            <a:pPr indent="-317182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A performance é salva como a linha Final-Model(T1_V2) no arquivo .csv;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de Resultados: Toxicidade (Folds Originais)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5 folds de dados refletem a distribuição original do dataset:</a:t>
            </a:r>
            <a:endParaRPr/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~58.3% são Classe 0 (Não-Tóxico); </a:t>
            </a:r>
            <a:endParaRPr/>
          </a:p>
          <a:p>
            <a:pPr indent="-34290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~41.7% são Classe 1 (Tóxico);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Análise de Resultados: Toxicidade (Folds Originais)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84425"/>
            <a:ext cx="9144001" cy="1662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Estatística: Toxicidade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 baseada nos 5 folds de Validação Cruzada (n=5) do dataset original;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Intervalo de Confiança (IC) de 95% calculado usando a distribuição t de Student (com 4 graus de liberdade, tc​=2.776);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Estatística: Toxicidade</a:t>
            </a:r>
            <a:endParaRPr/>
          </a:p>
        </p:txBody>
      </p:sp>
      <p:sp>
        <p:nvSpPr>
          <p:cNvPr id="207" name="Google Shape;207;p3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Precision: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0.7377;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[0.7069,0.7685];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Recall: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0.7351;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[0.7049,0.7653];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F1 (Geral):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0.7351;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[0.7043,0.7659];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0 (Não-Tóxico / Majoritária):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0.7804;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[0.7484,0.8123];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1 (Tóxico / Alvo):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0.6899;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[0.6532,0.7266];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Estatística: Toxicidade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</a:t>
            </a:r>
            <a:r>
              <a:rPr lang="pt-BR"/>
              <a:t> lim. inferior de performance na classe 0 (0.7484) excede o lim. superior de performance na classe 1 (0.7266), o que demonstra uma diferença estatisticamente significativa na capacidade do modelo em detectar as 2 classes.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As métricas "Macro" (Precision, Recall e F1), com médias em torno de 0.735, passam uma impressão de performance "Ok".</a:t>
            </a:r>
            <a:endParaRPr/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No entanto, a análise por classe mostra que essa média é enganosa: ela é apenas a média entre uma performance boa (Classe 0: 0.78) e uma performance ruim (Classe 1: 0.69).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Análise de Resultados: Misoginia (Folds Originais)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5 folds de dados refletem a distribuição original do dataset: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~73.3.3% são Classe 0 (Não-Misógino); 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~26.7% são Classe 1 (Misógino);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Análise de Resultados: Misoginia (Folds Originais)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5" y="1580500"/>
            <a:ext cx="9035450" cy="16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</a:t>
            </a:r>
            <a:r>
              <a:rPr lang="pt-BR"/>
              <a:t>álise Estatística : Misoginia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 baseada nos 5 folds de Validação Cruzada (n=5) do dataset original;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Intervalo de Confiança (IC) de 95% calculado usando a distribuição t de Student (com 4 graus de liberdade, tc​=2.776);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Estatística: Misoginia</a:t>
            </a:r>
            <a:endParaRPr/>
          </a:p>
        </p:txBody>
      </p:sp>
      <p:sp>
        <p:nvSpPr>
          <p:cNvPr id="237" name="Google Shape;237;p4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F1: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0.7798;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[0.7656,0.7940]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Precision: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0.7832;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[0.7613,0.8051];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Recall: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0.7794;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[0.7594,0.7994];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0 (Não-Misógino / Majoritária):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0.8828; 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[0.8705,0.8951]; </a:t>
            </a:r>
            <a:endParaRPr/>
          </a:p>
          <a:p>
            <a:pPr indent="-30861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1 (Misógino / Alvo):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0.6768;</a:t>
            </a:r>
            <a:endParaRPr/>
          </a:p>
          <a:p>
            <a:pPr indent="-30861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 (95%): [0.6535,0.7000];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Estatística: Misoginia</a:t>
            </a:r>
            <a:endParaRPr/>
          </a:p>
        </p:txBody>
      </p:sp>
      <p:sp>
        <p:nvSpPr>
          <p:cNvPr id="243" name="Google Shape;243;p4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ICs de 95% para a Classe 0 (majoritária) e a Classe 1 (minoritária) não se sobrepõem de forma alguma.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diferença é estatisticamente significativa: na pior das hipóteses, o modelo é pelo menos 17 pontos percentuais de F1 melhor em detectar a classe majoritária do que em detectar a classe-alvo.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Análise de Resultados: Misoginia (Folds Balanceados)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4377"/>
            <a:ext cx="9144000" cy="205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pt-BR"/>
              <a:t>Análise Estatística : Misoginia Balanceada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F1: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0.7821;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Intervalo: [0.7577, 0.8065];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Precision: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0.7845;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Intervalo: [0.7582, 0.8108];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Macro Recall: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0.7824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Intervalo: [0.7579, 0.8070];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0 (Não-Misógino / Majoritária):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0.7815;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Intervalo: [0.7514, 0.8117];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F1 Classe 1 (Misógino / Alvo):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Média (μ): 0.7828; 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/>
              <a:t>Intervalo: [0.7584, 0.8071];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Estatística : Misoginia Balanceada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Antes (Desbalanceado): Havia uma lacuna de 17 pontos entre os intervalos de confiança das duas classes.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Agora (Balanceado 50/50): Os intervalos de confiança da Classe 0 [0.75, 0.81] e da Classe 1 [0.76, 0.81] se sobrepõem quase perfeitamente.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F1 da classe majoritária caiu de aprox. 0.88 para aprox. 0.78.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F1 da classe-alvo subiu de aprox. 0.68 para aprox. 0.78.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