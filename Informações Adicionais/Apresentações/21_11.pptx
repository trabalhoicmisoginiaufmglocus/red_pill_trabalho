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y="5143500" cx="9144000"/>
  <p:notesSz cx="6858000" cy="9144000"/>
  <p:embeddedFontLst>
    <p:embeddedFont>
      <p:font typeface="Economica"/>
      <p:regular r:id="rId115"/>
      <p:bold r:id="rId116"/>
      <p:italic r:id="rId117"/>
      <p:boldItalic r:id="rId118"/>
    </p:embeddedFont>
    <p:embeddedFont>
      <p:font typeface="Lato"/>
      <p:regular r:id="rId119"/>
      <p:bold r:id="rId120"/>
      <p:italic r:id="rId121"/>
      <p:boldItalic r:id="rId122"/>
    </p:embeddedFont>
    <p:embeddedFont>
      <p:font typeface="Open Sans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8D617B-9F3A-4E4A-8A61-AE3B64311CFD}">
  <a:tblStyle styleId="{FB8D617B-9F3A-4E4A-8A61-AE3B64311C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6" Type="http://schemas.openxmlformats.org/officeDocument/2006/relationships/font" Target="fonts/OpenSans-boldItalic.fntdata"/><Relationship Id="rId26" Type="http://schemas.openxmlformats.org/officeDocument/2006/relationships/slide" Target="slides/slide20.xml"/><Relationship Id="rId121" Type="http://schemas.openxmlformats.org/officeDocument/2006/relationships/font" Target="fonts/Lato-italic.fntdata"/><Relationship Id="rId25" Type="http://schemas.openxmlformats.org/officeDocument/2006/relationships/slide" Target="slides/slide19.xml"/><Relationship Id="rId120" Type="http://schemas.openxmlformats.org/officeDocument/2006/relationships/font" Target="fonts/Lato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OpenSans-italic.fntdata"/><Relationship Id="rId29" Type="http://schemas.openxmlformats.org/officeDocument/2006/relationships/slide" Target="slides/slide23.xml"/><Relationship Id="rId124" Type="http://schemas.openxmlformats.org/officeDocument/2006/relationships/font" Target="fonts/OpenSans-bold.fntdata"/><Relationship Id="rId123" Type="http://schemas.openxmlformats.org/officeDocument/2006/relationships/font" Target="fonts/OpenSans-regular.fntdata"/><Relationship Id="rId122" Type="http://schemas.openxmlformats.org/officeDocument/2006/relationships/font" Target="fonts/Lato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Economica-boldItalic.fntdata"/><Relationship Id="rId117" Type="http://schemas.openxmlformats.org/officeDocument/2006/relationships/font" Target="fonts/Economica-italic.fntdata"/><Relationship Id="rId116" Type="http://schemas.openxmlformats.org/officeDocument/2006/relationships/font" Target="fonts/Economica-bold.fntdata"/><Relationship Id="rId115" Type="http://schemas.openxmlformats.org/officeDocument/2006/relationships/font" Target="fonts/Economica-regular.fntdata"/><Relationship Id="rId119" Type="http://schemas.openxmlformats.org/officeDocument/2006/relationships/font" Target="fonts/Lato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a43f125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a43f125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5a43f125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5a43f125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46de2496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46de2496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46de2496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46de2496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46de2496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46de2496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5a43f125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5a43f12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7ada9569b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7ada9569b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46de2496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46de2496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7fd69bc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7fd69bc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7ada9569b_4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7ada9569b_4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46de2496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46de2496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5a43f125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5a43f125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5a43f125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5a43f125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5a43f12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5a43f12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5a43f125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a5a43f125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46de249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46de249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65b9288a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65b9288a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7fd69bcc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7fd69bcc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7fd69bcc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7fd69bcc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65b9288a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65b9288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789dc19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789dc19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789dc191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789dc191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65b9288a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65b9288a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789dc191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789dc191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789dc191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789dc19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789dc191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a789dc191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789dc191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789dc191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65b9288ae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65b9288ae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a574e8b5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a574e8b5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74e8b5f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a574e8b5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46de2496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46de2496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789dc191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789dc191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789dc191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789dc191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46de2496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a46de2496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789dc191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789dc191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789dc191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789dc191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789dc191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789dc191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789dc191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789dc191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46de2496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46de2496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574e8b5f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574e8b5f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574e8b5f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574e8b5f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7fd69bcc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7fd69bcc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65b9288a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865b9288a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574e8b5f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574e8b5f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682003cc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a682003cc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a682003cc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a682003cc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7ada9569b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a7ada9569b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682003cc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a682003cc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682003cc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a682003cc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a682003ccb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a682003ccb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682003ccb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a682003ccb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682003ccb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682003ccb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a682003cc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a682003cc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a682003cc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a682003cc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a7ada9569b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a7ada9569b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682003ccb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3a682003cc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a682003ccb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a682003cc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682003ccb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682003ccb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682003cc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682003cc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682003ccb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682003cc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682003ccb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682003ccb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682003ccb_0_3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682003ccb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7ada9569b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7ada9569b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789dc191d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789dc191d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789dc191d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789dc191d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a789dc191d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a789dc191d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789dc191d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789dc191d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a789dc191d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a789dc191d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a789dc191d_1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a789dc191d_1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7dcee1d9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7dcee1d9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a7dcee1d9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a7dcee1d9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a789dc191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a789dc191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a789dc191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a789dc191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789dc191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789dc191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789dc191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789dc191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789dc191d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a789dc191d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a789dc191d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a789dc191d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789dc191d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a789dc191d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a789dc191d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a789dc191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789dc191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789dc191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3a789dc191d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3a789dc191d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789dc191d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789dc191d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789dc191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a789dc191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789dc191d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a789dc191d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a789dc191d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a789dc191d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789dc191d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a789dc191d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789dc191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789dc191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789dc191d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a789dc191d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3a789dc191d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3a789dc191d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3a789dc191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3a789dc191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a789dc191d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3a789dc191d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a789dc191d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a789dc191d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a789dc191d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3a789dc191d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a789dc191d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a789dc191d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a789dc191d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a789dc191d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789dc191d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a789dc191d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7ada9569b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a7ada9569b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a7dcee1d9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a7dcee1d9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7dcee1d9a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3a7dcee1d9a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a46de2496e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a46de2496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a7ada9569b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3a7ada9569b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7ed86518b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3a7ed86518b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a5a43f125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a5a43f125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3a7fd69bcc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3a7fd69bcc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a7fd69bcc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a7fd69bcc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3a7fd69bcc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3a7fd69bcc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7fd69bcc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3a7fd69bcc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FoDSdPzwhjHmM3maUnfYz41-mRJRduLwuTcRyj6-5SM/edit?gid=1067108944#gid=106710894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itXIs6IHmV71cdKyfSXfDZcBMaHohIZruj839vvhDQA/edit?gid=1285255821#gid=1285255821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rive.google.com/file/d/1a15MJQAkpqFN8qGPRBp1IPgwVGO53vOD/view?usp=sharing" TargetMode="External"/><Relationship Id="rId4" Type="http://schemas.openxmlformats.org/officeDocument/2006/relationships/hyperlink" Target="https://blog.trifenol.com/lista-completa-das-stop-words-em-portugues/" TargetMode="External"/><Relationship Id="rId9" Type="http://schemas.openxmlformats.org/officeDocument/2006/relationships/hyperlink" Target="https://drive.google.com/file/d/1IYGUUapbfK2XY72CjDe5OtuUchNKSXNR/view?usp=sharing" TargetMode="External"/><Relationship Id="rId5" Type="http://schemas.openxmlformats.org/officeDocument/2006/relationships/hyperlink" Target="https://countwordsfree.com/stopwords/brazil" TargetMode="External"/><Relationship Id="rId6" Type="http://schemas.openxmlformats.org/officeDocument/2006/relationships/hyperlink" Target="https://www.ranks.nl/stopwords/portuguese" TargetMode="External"/><Relationship Id="rId7" Type="http://schemas.openxmlformats.org/officeDocument/2006/relationships/hyperlink" Target="https://drive.google.com/file/d/1IYGUUapbfK2XY72CjDe5OtuUchNKSXNR/view?usp=sharing" TargetMode="External"/><Relationship Id="rId8" Type="http://schemas.openxmlformats.org/officeDocument/2006/relationships/hyperlink" Target="https://drive.google.com/file/d/1IYGUUapbfK2XY72CjDe5OtuUchNKSXNR/view?usp=sharing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8.png"/><Relationship Id="rId4" Type="http://schemas.openxmlformats.org/officeDocument/2006/relationships/image" Target="../media/image3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45.png"/><Relationship Id="rId4" Type="http://schemas.openxmlformats.org/officeDocument/2006/relationships/image" Target="../media/image3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4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8.png"/><Relationship Id="rId4" Type="http://schemas.openxmlformats.org/officeDocument/2006/relationships/image" Target="../media/image40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7.png"/><Relationship Id="rId4" Type="http://schemas.openxmlformats.org/officeDocument/2006/relationships/image" Target="../media/image5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4.png"/><Relationship Id="rId4" Type="http://schemas.openxmlformats.org/officeDocument/2006/relationships/image" Target="../media/image4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6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3.png"/><Relationship Id="rId4" Type="http://schemas.openxmlformats.org/officeDocument/2006/relationships/image" Target="../media/image7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0.png"/><Relationship Id="rId4" Type="http://schemas.openxmlformats.org/officeDocument/2006/relationships/image" Target="../media/image6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6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67.png"/><Relationship Id="rId4" Type="http://schemas.openxmlformats.org/officeDocument/2006/relationships/image" Target="../media/image65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66.png"/><Relationship Id="rId4" Type="http://schemas.openxmlformats.org/officeDocument/2006/relationships/image" Target="../media/image6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68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59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8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hyperlink" Target="https://colab.research.google.com/drive/15ZEnw8XCxg9R8OGxPi6yOvxuEsEEsvg3#scrollTo=32T2ZoPm7kDc" TargetMode="Externa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55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60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Resultados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21/11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Misoginia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</a:t>
            </a:r>
            <a:r>
              <a:rPr lang="pt-BR"/>
              <a:t>ão de Misoginia - Kirk et al., SemEval 2023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b="12004" l="5553" r="12900" t="27670"/>
          <a:stretch/>
        </p:blipFill>
        <p:spPr>
          <a:xfrm>
            <a:off x="311700" y="1147221"/>
            <a:ext cx="8315726" cy="3460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267455"/>
            <a:ext cx="8520600" cy="12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200"/>
              <a:t>Dados Unificados (Misoginia)</a:t>
            </a:r>
            <a:endParaRPr sz="7200"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2571750"/>
            <a:ext cx="8520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b="1" lang="pt-BR" sz="2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 da Planilha completa com todos os dados</a:t>
            </a:r>
            <a:endParaRPr b="1" sz="2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0"/>
            <a:ext cx="8520600" cy="71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/>
              <a:t>Conclusões (Misoginia)</a:t>
            </a:r>
            <a:endParaRPr sz="3700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638325"/>
            <a:ext cx="8520600" cy="42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Melhor Modelo Geral: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RoBERTa - misoginia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apresentou o maior Macro F1-score (</a:t>
            </a: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0.770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b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Melhor Modelo Llama: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Llama Zero-Shot (Teste 4) 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foi o segundo melhor desempenho (considerando arquiteturas distintas), com Macro F1 de 0.743. Nota: As variações do RoBERTa ocupam tecnicamente o top 3.</a:t>
            </a:r>
            <a:b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Zero-Shot vs. Few-Shot: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A abordagem </a:t>
            </a: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Llama Zero-Shot (0.743)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superou todas as configurações de Llama Few-Shot (Macro F1 na faixa de 0.66 a 0.70).</a:t>
            </a:r>
            <a:b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Few-Shot (Com vs. Sem Dynamic Neighbors):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O uso de "Dynamic Neighbors" não trouxe melhoria. Em todos os 4 testes de Few-Shot, o desempenho (Macro F1) foi inferior ao dos modelos sem essa técnica.</a:t>
            </a:r>
            <a:b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Detecção de Classe 1 (Misoginia):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RoBERTa liderou o F1-score da Classe 1, atingindo 0.673 (nas versões balanceadas) e 0.664 (na versão desbalanceada), seguido pelo Llama Few-Shot teste 3 e Zero-Shot teste 4 (ambos 0.633).</a:t>
            </a:r>
            <a:b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Baseline (Regressão Logística):</a:t>
            </a:r>
            <a:r>
              <a:rPr lang="pt-BR" sz="13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O modelo de Regressão Logística (TF-IDF) teve desempenho baixo (Macro F1: 0.571), superando apenas o Detoxify, que obteve o pior resultado geral (0.526).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Toxicidade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de Toxicidade- </a:t>
            </a:r>
            <a:r>
              <a:rPr lang="pt-BR"/>
              <a:t>Banko et al., ALW 2020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9753" l="5927" r="22913" t="28123"/>
          <a:stretch/>
        </p:blipFill>
        <p:spPr>
          <a:xfrm>
            <a:off x="732600" y="1147225"/>
            <a:ext cx="7094069" cy="348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1267455"/>
            <a:ext cx="8520600" cy="127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100"/>
              <a:t>Dados Unificados (Toxicidade)</a:t>
            </a:r>
            <a:endParaRPr sz="71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2571750"/>
            <a:ext cx="8520600" cy="93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800"/>
              </a:spcAft>
              <a:buNone/>
            </a:pPr>
            <a:r>
              <a:rPr b="1" lang="pt-BR" sz="2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 da Planilha completa com todos os dados</a:t>
            </a:r>
            <a:endParaRPr b="1" sz="2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Conclusões (Toxicidade)</a:t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138900" y="745800"/>
            <a:ext cx="8866200" cy="41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Baselines (Regressão, TabPFN):</a:t>
            </a: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Estatisticamente inferiores.</a:t>
            </a: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Seus ICs de Macro F1 (ex: 0.551-0.625) não se sobrepõem aos demais modelos.</a:t>
            </a:r>
            <a:b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Performance Geral (Macro F1):</a:t>
            </a:r>
            <a:endParaRPr b="1"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○"/>
            </a:pP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RoBERTa (0.735) e Llama Few-Shot - testes 3 e 4 (com conceito) - (0.723) são estatisticamente equivalentes. Seus ICs de 95% apresentam grande sobreposição.</a:t>
            </a:r>
            <a:b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"Dynamic Neighbors":</a:t>
            </a: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A técnica causou degradação de performance. Em todos os testes o F1 caiu, sendo a diferença </a:t>
            </a: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estatisticamente significativa no Teste 3 </a:t>
            </a: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(sem sobreposição de ICs).</a:t>
            </a:r>
            <a:b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●"/>
            </a:pP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Diferença Significativa (Recall Classe 1):</a:t>
            </a:r>
            <a:endParaRPr b="1"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just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500"/>
              <a:buFont typeface="Arial"/>
              <a:buChar char="○"/>
            </a:pP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Este é o grande diferencial do Llama. Os modelos Few-Shot são </a:t>
            </a:r>
            <a:r>
              <a:rPr b="1"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estatisticamente superiores</a:t>
            </a:r>
            <a:r>
              <a:rPr lang="pt-BR" sz="15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ao RoBERTa na detecção da classe tóxica. O IC do RoBERTa (0.597-0.754) não alcança o IC do Llama Teste 4 (0.808-0.858), evidenciando que o Llama é mais sensível, embora menos preciso.</a:t>
            </a:r>
            <a:endParaRPr b="1" sz="15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ctrTitle"/>
          </p:nvPr>
        </p:nvSpPr>
        <p:spPr>
          <a:xfrm>
            <a:off x="3044700" y="1596599"/>
            <a:ext cx="3054600" cy="195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Misoginia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x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Toxicidade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Conclusões Gerais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217350" y="697625"/>
            <a:ext cx="8709300" cy="4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Performance dos modelos (F1-Score)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Misoginia: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Dominância do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RoBERTa (Fine-tuned Desbalanceado)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(Macro F1: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0.770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), superando todas as demais abordagens.</a:t>
            </a:r>
            <a:endParaRPr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Toxicidade: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Equivalência estatística entre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Macro F1: 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0.735) e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Llama Few-Shot - Teste 4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Macro F1: 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0.723).</a:t>
            </a:r>
            <a:b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Matriz de Decisão (Trade-off)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Para Automação (Alta Precisão):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RoBERTa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 A arquitetura discriminativa minimiza Falsos Positivos, garantindo segurança operacional.</a:t>
            </a:r>
            <a:endParaRPr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Para Triagem Humana (Alto Recall):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Llama Few-Shot (Teste 4)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 A alta sensibilidade (Recall &gt; 0.80) maximiza a varredura de ameaças.</a:t>
            </a:r>
            <a:b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●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Insights de Arquitetura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Anomalia Zero-Shot (Misoginia):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 inferência sem exemplos superou o Few-Shot, evidenciando que a injeção de </a:t>
            </a:r>
            <a:r>
              <a:rPr i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demonstrations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introduziu ruído semântico.</a:t>
            </a:r>
            <a:endParaRPr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300"/>
              <a:buFont typeface="Arial"/>
              <a:buChar char="○"/>
            </a:pP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Falha do Retrieval via Similaridade: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 seleção de </a:t>
            </a:r>
            <a:r>
              <a:rPr i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Dynamic Neighbors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via </a:t>
            </a:r>
            <a:r>
              <a:rPr b="1"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similaridade de cosseno dos embeddings</a:t>
            </a:r>
            <a:r>
              <a:rPr lang="pt-BR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— teoricamente ideal para maximizar a relevância semântica — falhou na prática, degradando o desempenho frente aos prompts estáticos.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</a:t>
            </a:r>
            <a:r>
              <a:rPr lang="pt-BR"/>
              <a:t>étodo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Teste 1: Port sem conceito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311700" y="1102750"/>
            <a:ext cx="8356500" cy="3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"name": "teste1_pt_sem_conceito",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"system_prompt_base": (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"Você é um classificador de texto altamente preciso de comentários do Youtube. 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"Sua única função é analisar o comentário do usuário e responder estritamente com '0' ou '1'.\n"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"A pergunta que você deve responder é: O texto é {task_definition}?"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"1: O texto É {task_definition}\n"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"0: O texto NÃO é {task_definition}\n"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"Não forneça nenhuma explicação, apenas o número."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),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"task_definitions":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"TÓXICO",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"MISÓGINO"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"few_shot_config":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{"examples": [], "output_prefix": "results_toxic"},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{"examples": [], "output_prefix": "results_mysogyny"}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Teste 2: Eng sem conceito</a:t>
            </a:r>
            <a:endParaRPr/>
          </a:p>
        </p:txBody>
      </p:sp>
      <p:sp>
        <p:nvSpPr>
          <p:cNvPr id="137" name="Google Shape;137;p26"/>
          <p:cNvSpPr txBox="1"/>
          <p:nvPr/>
        </p:nvSpPr>
        <p:spPr>
          <a:xfrm>
            <a:off x="311700" y="1102750"/>
            <a:ext cx="8356500" cy="3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"name": "teste2_en_sem_conceito",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"system_prompt_base": (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"You are a highly accurate text classifier for Youtube comments. 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"Your sole function is to analyze the user's comment and respond strictly with '0' or '1'.\n"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"The question you must answer is: Is the text {task_definition}?\n"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"1: The text IS {task_definition}\n"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"0: The text is NOT {task_definition}\n"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"Do not provide any explanation, just the number."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),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"task_definitions":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"TOXIC",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"MISOGYNISTIC"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"few_shot_config": {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{"examples": [], "output_prefix": "results_toxic"},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{"examples": [], "output_prefix": "results_mysogyny"}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Teste 3: Port com conceito</a:t>
            </a:r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311700" y="1102750"/>
            <a:ext cx="8356500" cy="41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pt-B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"system_prompt_base": (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"Você é um classificador de texto altamente preciso de comentários do Youtube. 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"Sua única função é analisar o comentário do usuário e responder estritamente com '0' ou '1'.\n"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"Você deve analisar se o texto contém {task_definition}. Assim, responda:"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"1: Se o texto se encaixa em qualquer uma das categorias de conceito listadas 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"0: Se o texto NÃO se encaixa em qualquer uma das categorias de conceito listadas\n"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"Não forneça nenhuma explicação, apenas o número."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),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"task_definitions": {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"TOXICIDADE - Utilize as seguintes definições para guiar sua classificação: \n1. Ódio e Assédio:\n1.1 Doxing: Divulgação de informações pessoais de um alvo para o público em geral, com o objetivo de prejudicá-lo.\n1.2 Ataque à identidade: Consiste em ataques severos a indivíduos ou grupos com base em sua afiliação a um grupo protegido ou vulnerável.\n1.3 Falsa representação de identidade: É a disseminação de declarações que comunicam deturpações pejorativas, estereótipos e outras generalizações insultuosas sobre populações protegidas ou vulneráveis.\n1.4 Insulto: Ataque pessoal direcionado, como xingamentos, comentários negativos, depreciativos e inflamatórios sobre o indivíduo.\n1.5 Agressão Sexual: Inclui avanços sexuais indesejados, sexualização indesejável e compartilhamento não consensual de conteúdo sexual, entre outras formas de conversas sexuais não solicitadas.\n1.6 Ameaça de Violência: Refere-se a conteúdo que expressa o desejo de matar ou infligir dano físico, celebra atos violentos ou incita outros a cometerem violência.\n2. Dano autoinfligido:\n2.1 Promoção de transtorno alimentar: Abrange conteúdo que promove transtornos alimentares como escolhas de estilo de vida legítimas ou glorifica corpos excessivamente magros.\n2.2 Autolesão: Ideação de se machucar fisicamente de propósito para lidar com o sofrimento emocional, incluindo também a ideação suicida.\n3. Dano ideológico:\n3.1 Extremismo, terrorismo e crime organizado: Inclui conteúdo relacionado ao recrutamento, elogio ou assistência a grupos extremistas, terroristas ou de crime organizado.\n3.2 Desinformação: É a informação falsa ou enganosa, que pode ser disseminada com ou sem a intenção deliberada de prejudicar.\n4. Exploração:\n4.1 Serviços sexuais adultos: Refere-se à promoção ou solicitação de serviços sexuais ilegais que exploram participantes frequentemente vulneráveis.\n4.2 Material de abuso sexual infantil: É definido como conteúdo que envolve o abuso e a exploração sexual de qualquer pessoa menor de dezoito anos.\n4.3 Golpes: São tentativas de enganar uma pessoa para que ela forneça fundos ou informações sensíveis usando técnicas fraudulentas ou invasivas.\n",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"MISOGINIA - Utilize as seguintes definições para guiar sua classificação: \n1. Ameaças, planos para prejudicar e incitamento:\n1.1 Ameaças de danos: Expressar desejo de prejudicar física, sexual ou emocionalmente uma mulher ou grupo de mulheres.\n1.2 Incitamento e incentivo ao dano: Encorajar ou justificar que outros prejudiquem uma mulher ou grupo de mulheres.\n2. Depreciação:\n2.1 Ataques descritivos: Fazer generalizações negativas sobre as habilidades, aparência, intelecto ou caráter das mulheres.\n2.2 Ataques agressivos e emotivos: Expressar ódio ou nojo contra as mulheres, usando insultos de gênero ou acusações infundadas.\n2.3 Ataques desumanizantes e objetificação sexual explícita: Comparar mulheres a animais/objetos ou reduzi-las a objetos sexuais.\n3. Animosidade:\n3.1 Uso casual de gírias de gênero, profanidades e insultos: Usar termos pejorativos para mulheres de forma casual, não como um ataque direto.\n3.2 Diferenças imutáveis de gênero e estereótipos de gênero: Afirmar diferenças 'naturais' entre homens e mulheres para implicar inferioridade ou limitar papéis (inclui a maioria das piadas sexistas).\n3.3 Elogios de gênero ambíguos: Elogiar mulheres de forma que reforce estereótipos de fragilidade, ou que reduza seu valor à sua atratividade.\n3.4 Explicações condescendentes ou conselhos indesejados: Oferecer conselhos paternalistas a mulheres sobre assuntos que elas dominam ('mansplaining').\n4. Discussão Preconceituosa:\n4.1 Apoio ao mau tratamento de mulheres individuais: Justificar, negar ou subestimar o mau tratamento de uma mulher.\n4.2 Apoio à discriminação sistêmica contra mulheres como grupo: Justificar, negar ou subestimar a discriminação contra as mulheres como um grupo.\n"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Teste 4: Eng com conceito</a:t>
            </a:r>
            <a:endParaRPr/>
          </a:p>
        </p:txBody>
      </p:sp>
      <p:sp>
        <p:nvSpPr>
          <p:cNvPr id="149" name="Google Shape;149;p28"/>
          <p:cNvSpPr txBox="1"/>
          <p:nvPr/>
        </p:nvSpPr>
        <p:spPr>
          <a:xfrm>
            <a:off x="311700" y="1102750"/>
            <a:ext cx="8356500" cy="4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"system_prompt_base": (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"You are a highly accurate text classifier for Youtube comments. 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"Your sole function is to analyze the user's message and respond strictly with '0' or '1'.\n"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"You must analyze if the text contains {task_definition}. Accordingly, respond:\n"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"1: If the text fits into any of the listed concept categories\n"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"0: If the text does NOT fit into any of the listed concept categories\n"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"Do not provide any explanation, just the number."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),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"task_definitions": {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"toxicidade": "TOXICITY - Use the following definitions to guide your classification: \n1. Hate and Harassment:\n1.1 Doxing: Disclosure of a target's personal information to the general public with the intent to harm them.\n1.2 Identity Attack: Consists of severe attacks on individuals or groups based on their affiliation with a protected or vulnerable group.\n1.3 Misrepresentation of Identity: Is the dissemination of statements that communicate pejorative misrepresentations, stereotypes, and other insulting generalizations about protected or vulnerable populations.\n1.4 Insult: A directed personal attack, such as name-calling, negative, derogatory, and inflammatory comments about the individual.\n1.5 Sexual Aggression: Includes unwanted sexual advances, unwelcome sexualization, and non-consensual sharing of sexual content, among other forms of unsolicited sexual conversations.\n1.6 Threat of Violence: Refers to content that expresses the desire to kill or inflict physical harm, celebrates violent acts, or incites others to commit violence.\n2. Self-Harm:\n2.1 Promotion of Eating Disorders: Covers content that promotes eating disorders as legitimate lifestyle choices or glorifies excessively thin bodies.\n2.2 Self-Injury: Ideation of purposely physically hurting oneself to cope with emotional distress, including suicidal ideation.\n3. Ideological Harm:\n3.1 Extremism, Terrorism, and Organized Crime: Includes content related to the recruitment, praise, or assistance of extremist, terrorist, or organized crime groups.\n3.2 Disinformation: Is false or misleading information, which can be disseminated with or without the deliberate intention to cause harm.\n4. Exploitation:\n4.1 Adult Sexual Services: Refers to the promotion or solicitation of illegal sexual services that exploit often-vulnerable participants.\n4.2 Child Sexual Abuse Material: Is defined as content that involves the sexual abuse and exploitation of any person under the age of eighteen.\n4.3 Scams: Are attempts to deceive a person into providing funds or sensitive information using fraudulent or invasive techniques.\n",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"misoginia": "MISOGYNY - Use the following definitions to guide your classification: \n1. Threats, plans to harm, and incitement:\n1.1 Threats of harm: Expressing a desire to physically, sexually, or emotionally harm a woman or group of women.\n1.2 Incitement and encouragement of harm: Encouraging or justifying others to harm a woman or group of women.\n2. Derogation:\n2.1 Descriptive attacks: Making negative generalizations about women's skills, appearance, intellect, or character.\n2.2 Aggressive and emotive attacks: Expressing hatred or disgust against women, using gendered slurs or baseless accusations.\n2.3 Dehumanizing attacks and explicit sexual objectification: Comparing women to animals/objects or reducing them to sexual objects.\n3. Animosity:\n3.1 Casual use of gendered slurs, profanity, and insults: Using derogatory terms for women casually, not as a direct attack.\n3.2 Immutable gender differences and gender stereotypes: Asserting 'natural' differences between men and women to imply inferiority or limit roles (includes most sexist jokes).\n3.3 Ambiguous gendered praise: Praising women in a way that reinforces stereotypes of fragility, or that reduces their value to their attractiveness.\n3.4 Condescending explanations or unsolicited advice: Offering paternalistic advice to women on subjects they are knowledgeable about ('mansplaining').\n4. Prejudiced Discussion:\n4.1 Support for the mistreatment of individual women: Justifying, denying, or understating the mistreatment of a woman.\n4.2 Support for systemic discrimination against women as a group: Justifying, denying, or understating discrimination against women as a group.\n"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Cálculo de embeddings e vizinhos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O processo foi realizado em duas etapas principais para garantir que os exemplos (vizinhos) nunca fossem do mesmo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do comentário a ser analisado. Primeiro, para o 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cálculo dos embeddings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, utilizou-se uma metodologia de validação cruzada K-Fold (K=5): Para cada um dos 5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folds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, um modelo RoBERTa (</a:t>
            </a:r>
            <a:r>
              <a:rPr lang="pt-BR" sz="1708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xlm-roberta-base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) foi 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treinado (fine-tuned) do zero usando os outros 4 </a:t>
            </a:r>
            <a:r>
              <a:rPr b="1"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folds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como dados de treino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. Após o treino, esse modelo foi usado para gerar os vetores de embedding apenas para o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de teste que ele nunca viu. </a:t>
            </a:r>
            <a:endParaRPr sz="1708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398"/>
              <a:buFont typeface="Arial"/>
              <a:buNone/>
            </a:pP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Em seguida, para o 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cálculo dos vizinhos próximos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, o segundo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carregou esses arquivos de embeddings e, para cada comentário (ex: no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 1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), ele calculou a 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Similaridade de Cosseno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contra os embeddings de todos os comentários dos 4 </a:t>
            </a:r>
            <a:r>
              <a:rPr i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folds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restantes (o "corpus de treino"). Ao fazer isso, ele identificou e salvou os IDs dos </a:t>
            </a:r>
            <a:r>
              <a:rPr b="1"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3 comentários positivos (label 1) e 2 comentários negativos (label 0)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com a maior similaridade desse corpus, criando os arquivos </a:t>
            </a:r>
            <a:r>
              <a:rPr lang="pt-BR" sz="1708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nearest_neighbors_...csv</a:t>
            </a:r>
            <a:r>
              <a:rPr lang="pt-BR" sz="1708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8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-1250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/>
              <a:t>TF-IDF: Regressão Logística</a:t>
            </a:r>
            <a:endParaRPr sz="3600"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282900" y="629600"/>
            <a:ext cx="8578200" cy="43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Preparação dos Dados:</a:t>
            </a:r>
            <a:endParaRPr b="1"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Carregamento de 5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folds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pré-divididos (Tarefas: Toxicidade e Misoginia).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Criação de lista de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stopwords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combinada (NLTK + </a:t>
            </a:r>
            <a:r>
              <a:rPr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customizada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Fontes de referência das stop words: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https://blog.trifenol.com/lista-completa-das-stop-words-em-portugues/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https://countwordsfree.com/stopwords/brazil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https://www.ranks.nl/stopwords/portuguese</a:t>
            </a:r>
            <a:b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Metodologia (Validação Cruzada 5-Fold):</a:t>
            </a:r>
            <a:endParaRPr b="1"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Execução de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manual: Treino em 4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folds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(concatenados) e Teste em 1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restante.</a:t>
            </a:r>
            <a:b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AutoNum type="arabicPeriod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Pipeline de Classificação (por </a:t>
            </a:r>
            <a:r>
              <a:rPr b="1"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fold</a:t>
            </a: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):</a:t>
            </a:r>
            <a:endParaRPr b="1"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Vetorização (TfidfVectorizer):</a:t>
            </a:r>
            <a:endParaRPr b="1"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Tokenização: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2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token_pattern=r"(?u)\b\w+\b"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(mantém palavras, remove pontuação).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Normalização: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Lowercase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(implícito no TF-IDF).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Limpeza: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Remoção de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stopwords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(lista combinada).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Seleção: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Limite de </a:t>
            </a:r>
            <a:r>
              <a:rPr b="1"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10.000 </a:t>
            </a:r>
            <a:r>
              <a:rPr b="1" i="1"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features</a:t>
            </a:r>
            <a:r>
              <a:rPr lang="pt-BR" sz="12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 (palavras) mais frequentes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Ponderação: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Cálculo do </a:t>
            </a:r>
            <a:r>
              <a:rPr i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score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TF-IDF.</a:t>
            </a:r>
            <a:endParaRPr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○"/>
            </a:pPr>
            <a:r>
              <a:rPr b="1"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Modelo (LogisticRegression):</a:t>
            </a:r>
            <a:endParaRPr b="1" sz="1200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1B1C1D"/>
              </a:buClr>
              <a:buSzPts val="1200"/>
              <a:buFont typeface="Arial"/>
              <a:buChar char="■"/>
            </a:pP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Classificação binária com </a:t>
            </a:r>
            <a:r>
              <a:rPr lang="pt-BR" sz="12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max_iter=1000</a:t>
            </a:r>
            <a:r>
              <a:rPr lang="pt-BR" sz="1200">
                <a:solidFill>
                  <a:srgbClr val="1B1C1D"/>
                </a:solidFill>
                <a:latin typeface="Arial"/>
                <a:ea typeface="Arial"/>
                <a:cs typeface="Arial"/>
                <a:sym typeface="Arial"/>
              </a:rPr>
              <a:t> (para garantir convergência).</a:t>
            </a:r>
            <a:endParaRPr b="1" sz="1808">
              <a:solidFill>
                <a:srgbClr val="1B1C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ctrTitle"/>
          </p:nvPr>
        </p:nvSpPr>
        <p:spPr>
          <a:xfrm>
            <a:off x="3044700" y="1738880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Mais detalhes sobre os resultados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(Misoginia)</a:t>
            </a:r>
            <a:endParaRPr/>
          </a:p>
        </p:txBody>
      </p:sp>
      <p:pic>
        <p:nvPicPr>
          <p:cNvPr id="177" name="Google Shape;17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41896"/>
            <a:ext cx="9143999" cy="105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17225"/>
            <a:ext cx="8520600" cy="6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(Misoginia): Matriz de confusão</a:t>
            </a:r>
            <a:endParaRPr/>
          </a:p>
        </p:txBody>
      </p:sp>
      <p:pic>
        <p:nvPicPr>
          <p:cNvPr id="183" name="Google Shape;183;p34" title="download.png"/>
          <p:cNvPicPr preferRelativeResize="0"/>
          <p:nvPr/>
        </p:nvPicPr>
        <p:blipFill rotWithShape="1">
          <a:blip r:embed="rId3">
            <a:alphaModFix/>
          </a:blip>
          <a:srcRect b="1876" l="0" r="0" t="1886"/>
          <a:stretch/>
        </p:blipFill>
        <p:spPr>
          <a:xfrm>
            <a:off x="0" y="1736371"/>
            <a:ext cx="4572001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4" title="download.png"/>
          <p:cNvPicPr preferRelativeResize="0"/>
          <p:nvPr/>
        </p:nvPicPr>
        <p:blipFill rotWithShape="1">
          <a:blip r:embed="rId4">
            <a:alphaModFix/>
          </a:blip>
          <a:srcRect b="1876" l="0" r="0" t="1886"/>
          <a:stretch/>
        </p:blipFill>
        <p:spPr>
          <a:xfrm>
            <a:off x="4572000" y="1736371"/>
            <a:ext cx="4572001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5"/>
          <p:cNvSpPr txBox="1"/>
          <p:nvPr>
            <p:ph type="title"/>
          </p:nvPr>
        </p:nvSpPr>
        <p:spPr>
          <a:xfrm>
            <a:off x="311700" y="417225"/>
            <a:ext cx="8520600" cy="6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(Misoginia): Matriz de confusão</a:t>
            </a:r>
            <a:endParaRPr/>
          </a:p>
        </p:txBody>
      </p:sp>
      <p:pic>
        <p:nvPicPr>
          <p:cNvPr id="190" name="Google Shape;190;p35" title="download.png"/>
          <p:cNvPicPr preferRelativeResize="0"/>
          <p:nvPr/>
        </p:nvPicPr>
        <p:blipFill rotWithShape="1">
          <a:blip r:embed="rId3">
            <a:alphaModFix/>
          </a:blip>
          <a:srcRect b="1876" l="0" r="0" t="1886"/>
          <a:stretch/>
        </p:blipFill>
        <p:spPr>
          <a:xfrm>
            <a:off x="0" y="1736371"/>
            <a:ext cx="4572001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5" title="download.png"/>
          <p:cNvPicPr preferRelativeResize="0"/>
          <p:nvPr/>
        </p:nvPicPr>
        <p:blipFill rotWithShape="1">
          <a:blip r:embed="rId4">
            <a:alphaModFix/>
          </a:blip>
          <a:srcRect b="1114" l="0" r="0" t="1114"/>
          <a:stretch/>
        </p:blipFill>
        <p:spPr>
          <a:xfrm>
            <a:off x="4572000" y="1736371"/>
            <a:ext cx="4572001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311700" y="456575"/>
            <a:ext cx="8520600" cy="124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</a:t>
            </a:r>
            <a:endParaRPr/>
          </a:p>
        </p:txBody>
      </p:sp>
      <p:pic>
        <p:nvPicPr>
          <p:cNvPr id="197" name="Google Shape;19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31488"/>
            <a:ext cx="9144001" cy="880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190"/>
              <a:buFont typeface="Arial"/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</a:t>
            </a:r>
            <a:r>
              <a:rPr lang="pt-BR"/>
              <a:t>: Matriz de confusão</a:t>
            </a:r>
            <a:endParaRPr/>
          </a:p>
        </p:txBody>
      </p:sp>
      <p:pic>
        <p:nvPicPr>
          <p:cNvPr id="203" name="Google Shape;203;p37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(Misoginia): Matriz de confusão</a:t>
            </a:r>
            <a:endParaRPr/>
          </a:p>
        </p:txBody>
      </p:sp>
      <p:pic>
        <p:nvPicPr>
          <p:cNvPr id="209" name="Google Shape;209;p38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(Misoginia): Matriz de confusão</a:t>
            </a:r>
            <a:endParaRPr/>
          </a:p>
        </p:txBody>
      </p:sp>
      <p:pic>
        <p:nvPicPr>
          <p:cNvPr id="215" name="Google Shape;215;p3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(Misoginia): Matriz de confusão</a:t>
            </a:r>
            <a:endParaRPr/>
          </a:p>
        </p:txBody>
      </p:sp>
      <p:pic>
        <p:nvPicPr>
          <p:cNvPr id="221" name="Google Shape;221;p40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1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</a:t>
            </a:r>
            <a:r>
              <a:rPr lang="pt-BR"/>
              <a:t>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</a:t>
            </a:r>
            <a:endParaRPr/>
          </a:p>
        </p:txBody>
      </p:sp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21257"/>
            <a:ext cx="9144001" cy="12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2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(Misoginia): Matriz de confusão</a:t>
            </a:r>
            <a:endParaRPr/>
          </a:p>
        </p:txBody>
      </p:sp>
      <p:pic>
        <p:nvPicPr>
          <p:cNvPr id="233" name="Google Shape;233;p42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36371"/>
            <a:ext cx="4572000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736371"/>
            <a:ext cx="4572000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(Misoginia): Matriz de confusão</a:t>
            </a:r>
            <a:endParaRPr/>
          </a:p>
        </p:txBody>
      </p:sp>
      <p:pic>
        <p:nvPicPr>
          <p:cNvPr id="240" name="Google Shape;240;p43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36371"/>
            <a:ext cx="4572000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3" title="download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736371"/>
            <a:ext cx="4572000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(Toxicidade)</a:t>
            </a:r>
            <a:endParaRPr/>
          </a:p>
        </p:txBody>
      </p:sp>
      <p:pic>
        <p:nvPicPr>
          <p:cNvPr id="247" name="Google Shape;24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17550"/>
            <a:ext cx="9143999" cy="982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/>
          <p:nvPr>
            <p:ph type="title"/>
          </p:nvPr>
        </p:nvSpPr>
        <p:spPr>
          <a:xfrm>
            <a:off x="311700" y="417225"/>
            <a:ext cx="8520600" cy="6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(Toxicidade): Matriz de confusão</a:t>
            </a:r>
            <a:endParaRPr/>
          </a:p>
        </p:txBody>
      </p:sp>
      <p:pic>
        <p:nvPicPr>
          <p:cNvPr id="253" name="Google Shape;253;p45" title="download.png"/>
          <p:cNvPicPr preferRelativeResize="0"/>
          <p:nvPr/>
        </p:nvPicPr>
        <p:blipFill rotWithShape="1">
          <a:blip r:embed="rId3">
            <a:alphaModFix/>
          </a:blip>
          <a:srcRect b="1876" l="0" r="0" t="1886"/>
          <a:stretch/>
        </p:blipFill>
        <p:spPr>
          <a:xfrm>
            <a:off x="0" y="1736371"/>
            <a:ext cx="4572001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5" title="download.png"/>
          <p:cNvPicPr preferRelativeResize="0"/>
          <p:nvPr/>
        </p:nvPicPr>
        <p:blipFill rotWithShape="1">
          <a:blip r:embed="rId4">
            <a:alphaModFix/>
          </a:blip>
          <a:srcRect b="1876" l="0" r="0" t="1886"/>
          <a:stretch/>
        </p:blipFill>
        <p:spPr>
          <a:xfrm>
            <a:off x="4572000" y="1736371"/>
            <a:ext cx="4572001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417225"/>
            <a:ext cx="8520600" cy="636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Zero Shot (Toxicidade): Matriz de confusão</a:t>
            </a:r>
            <a:endParaRPr/>
          </a:p>
        </p:txBody>
      </p:sp>
      <p:pic>
        <p:nvPicPr>
          <p:cNvPr id="260" name="Google Shape;260;p46" title="download.png"/>
          <p:cNvPicPr preferRelativeResize="0"/>
          <p:nvPr/>
        </p:nvPicPr>
        <p:blipFill rotWithShape="1">
          <a:blip r:embed="rId3">
            <a:alphaModFix/>
          </a:blip>
          <a:srcRect b="1876" l="0" r="0" t="1886"/>
          <a:stretch/>
        </p:blipFill>
        <p:spPr>
          <a:xfrm>
            <a:off x="0" y="1736371"/>
            <a:ext cx="4572001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6" title="download.png"/>
          <p:cNvPicPr preferRelativeResize="0"/>
          <p:nvPr/>
        </p:nvPicPr>
        <p:blipFill rotWithShape="1">
          <a:blip r:embed="rId4">
            <a:alphaModFix/>
          </a:blip>
          <a:srcRect b="1114" l="0" r="0" t="1114"/>
          <a:stretch/>
        </p:blipFill>
        <p:spPr>
          <a:xfrm>
            <a:off x="4572000" y="1736371"/>
            <a:ext cx="4572001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7"/>
          <p:cNvSpPr txBox="1"/>
          <p:nvPr>
            <p:ph type="title"/>
          </p:nvPr>
        </p:nvSpPr>
        <p:spPr>
          <a:xfrm>
            <a:off x="311700" y="456575"/>
            <a:ext cx="8520600" cy="124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</a:t>
            </a:r>
            <a:endParaRPr/>
          </a:p>
        </p:txBody>
      </p:sp>
      <p:pic>
        <p:nvPicPr>
          <p:cNvPr id="267" name="Google Shape;2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26389"/>
            <a:ext cx="9144001" cy="890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273" name="Google Shape;273;p48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9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279" name="Google Shape;279;p49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0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285" name="Google Shape;285;p50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1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Shot: sem considerar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291" name="Google Shape;291;p51" title="download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953075"/>
            <a:ext cx="9144003" cy="183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</a:t>
            </a:r>
            <a:endParaRPr/>
          </a:p>
        </p:txBody>
      </p:sp>
      <p:pic>
        <p:nvPicPr>
          <p:cNvPr id="297" name="Google Shape;29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02261"/>
            <a:ext cx="9144000" cy="127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3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303" name="Google Shape;303;p53" title="download.png"/>
          <p:cNvPicPr preferRelativeResize="0"/>
          <p:nvPr/>
        </p:nvPicPr>
        <p:blipFill rotWithShape="1">
          <a:blip r:embed="rId3">
            <a:alphaModFix/>
          </a:blip>
          <a:srcRect b="0" l="337" r="347" t="0"/>
          <a:stretch/>
        </p:blipFill>
        <p:spPr>
          <a:xfrm>
            <a:off x="0" y="1736371"/>
            <a:ext cx="4572000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53" title="download.png"/>
          <p:cNvPicPr preferRelativeResize="0"/>
          <p:nvPr/>
        </p:nvPicPr>
        <p:blipFill rotWithShape="1">
          <a:blip r:embed="rId4">
            <a:alphaModFix/>
          </a:blip>
          <a:srcRect b="0" l="337" r="347" t="0"/>
          <a:stretch/>
        </p:blipFill>
        <p:spPr>
          <a:xfrm>
            <a:off x="4572000" y="1736371"/>
            <a:ext cx="4572000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4"/>
          <p:cNvSpPr txBox="1"/>
          <p:nvPr>
            <p:ph type="title"/>
          </p:nvPr>
        </p:nvSpPr>
        <p:spPr>
          <a:xfrm>
            <a:off x="311700" y="417225"/>
            <a:ext cx="8520600" cy="121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Llama - Few shot com exemplos por vizinhos próximos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(Toxicidade): Matriz de confusão</a:t>
            </a:r>
            <a:endParaRPr/>
          </a:p>
        </p:txBody>
      </p:sp>
      <p:pic>
        <p:nvPicPr>
          <p:cNvPr id="310" name="Google Shape;310;p54" title="download.png"/>
          <p:cNvPicPr preferRelativeResize="0"/>
          <p:nvPr/>
        </p:nvPicPr>
        <p:blipFill rotWithShape="1">
          <a:blip r:embed="rId3">
            <a:alphaModFix/>
          </a:blip>
          <a:srcRect b="0" l="337" r="347" t="0"/>
          <a:stretch/>
        </p:blipFill>
        <p:spPr>
          <a:xfrm>
            <a:off x="0" y="1736371"/>
            <a:ext cx="4572000" cy="305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4" title="download.png"/>
          <p:cNvPicPr preferRelativeResize="0"/>
          <p:nvPr/>
        </p:nvPicPr>
        <p:blipFill rotWithShape="1">
          <a:blip r:embed="rId4">
            <a:alphaModFix/>
          </a:blip>
          <a:srcRect b="0" l="337" r="347" t="0"/>
          <a:stretch/>
        </p:blipFill>
        <p:spPr>
          <a:xfrm>
            <a:off x="4572000" y="1736371"/>
            <a:ext cx="4572000" cy="3053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5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TF - IDF </a:t>
            </a:r>
            <a:endParaRPr/>
          </a:p>
        </p:txBody>
      </p:sp>
      <p:sp>
        <p:nvSpPr>
          <p:cNvPr id="317" name="Google Shape;317;p55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Regress</a:t>
            </a:r>
            <a:r>
              <a:rPr lang="pt-BR"/>
              <a:t>ão Logística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TF-IDF: Regress</a:t>
            </a:r>
            <a:r>
              <a:rPr lang="pt-BR"/>
              <a:t>ão Logística - Resultados</a:t>
            </a:r>
            <a:endParaRPr/>
          </a:p>
        </p:txBody>
      </p:sp>
      <p:pic>
        <p:nvPicPr>
          <p:cNvPr id="323" name="Google Shape;32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86302"/>
            <a:ext cx="9144001" cy="770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TF-IDF: Regressão Logística - Matriz de Confusão</a:t>
            </a:r>
            <a:endParaRPr/>
          </a:p>
        </p:txBody>
      </p:sp>
      <p:pic>
        <p:nvPicPr>
          <p:cNvPr id="329" name="Google Shape;329;p57" title="download.png"/>
          <p:cNvPicPr preferRelativeResize="0"/>
          <p:nvPr/>
        </p:nvPicPr>
        <p:blipFill rotWithShape="1">
          <a:blip r:embed="rId3">
            <a:alphaModFix/>
          </a:blip>
          <a:srcRect b="1616" l="0" r="0" t="1606"/>
          <a:stretch/>
        </p:blipFill>
        <p:spPr>
          <a:xfrm>
            <a:off x="0" y="1563311"/>
            <a:ext cx="4572000" cy="302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7" title="download.png"/>
          <p:cNvPicPr preferRelativeResize="0"/>
          <p:nvPr/>
        </p:nvPicPr>
        <p:blipFill rotWithShape="1">
          <a:blip r:embed="rId4">
            <a:alphaModFix/>
          </a:blip>
          <a:srcRect b="1616" l="0" r="0" t="1606"/>
          <a:stretch/>
        </p:blipFill>
        <p:spPr>
          <a:xfrm>
            <a:off x="4572000" y="1563292"/>
            <a:ext cx="4572000" cy="3022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8"/>
          <p:cNvSpPr txBox="1"/>
          <p:nvPr>
            <p:ph type="ctrTitle"/>
          </p:nvPr>
        </p:nvSpPr>
        <p:spPr>
          <a:xfrm>
            <a:off x="3044700" y="1596599"/>
            <a:ext cx="3054600" cy="19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RoBERTa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9"/>
          <p:cNvSpPr txBox="1"/>
          <p:nvPr>
            <p:ph type="ctrTitle"/>
          </p:nvPr>
        </p:nvSpPr>
        <p:spPr>
          <a:xfrm>
            <a:off x="3044700" y="1832999"/>
            <a:ext cx="30546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MISOGINIA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ROBERTA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0"/>
          <p:cNvSpPr txBox="1"/>
          <p:nvPr>
            <p:ph type="ctrTitle"/>
          </p:nvPr>
        </p:nvSpPr>
        <p:spPr>
          <a:xfrm>
            <a:off x="2880900" y="1833000"/>
            <a:ext cx="33822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DESBALANCEADOS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1"/>
          <p:cNvSpPr txBox="1"/>
          <p:nvPr>
            <p:ph type="title"/>
          </p:nvPr>
        </p:nvSpPr>
        <p:spPr>
          <a:xfrm>
            <a:off x="311700" y="260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Macro (Misoginia)</a:t>
            </a:r>
            <a:endParaRPr/>
          </a:p>
        </p:txBody>
      </p:sp>
      <p:graphicFrame>
        <p:nvGraphicFramePr>
          <p:cNvPr id="351" name="Google Shape;351;p61"/>
          <p:cNvGraphicFramePr/>
          <p:nvPr/>
        </p:nvGraphicFramePr>
        <p:xfrm>
          <a:off x="1766400" y="127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0.7567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0.7521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0.7543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0.7721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0.7753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0.7736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>
                        <a:solidFill>
                          <a:srgbClr val="A61C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0.7820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0.7803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0.7812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0.7833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0.8135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0.7953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0.7520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0.7427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0.7471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2" name="Google Shape;352;p61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2"/>
          <p:cNvSpPr txBox="1"/>
          <p:nvPr>
            <p:ph type="title"/>
          </p:nvPr>
        </p:nvSpPr>
        <p:spPr>
          <a:xfrm>
            <a:off x="311700" y="4730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Por Classe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358" name="Google Shape;358;p62"/>
          <p:cNvGraphicFramePr/>
          <p:nvPr/>
        </p:nvGraphicFramePr>
        <p:xfrm>
          <a:off x="1139250" y="146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</a:t>
                      </a:r>
                      <a:r>
                        <a:rPr b="1" lang="pt-BR"/>
                        <a:t>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0.8658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0.8746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0.8702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0.6476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0.6296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0.6385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0.8805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0.8746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0.8776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0.6636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0.6759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0.6697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0.8818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0.8847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0.8832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0.6822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0.6759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0.6791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0.9130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0.8514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0.8811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0.6535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0.7757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0.7094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0.8605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0.8780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0.8691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0.6436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0.6075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0.6250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62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/>
          <p:nvPr>
            <p:ph type="title"/>
          </p:nvPr>
        </p:nvSpPr>
        <p:spPr>
          <a:xfrm>
            <a:off x="311700" y="4494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IC (95%)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365" name="Google Shape;365;p63"/>
          <p:cNvGraphicFramePr/>
          <p:nvPr/>
        </p:nvGraphicFramePr>
        <p:xfrm>
          <a:off x="1133800" y="1707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0.7692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0.0178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0.7514 – 0.7870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0.7728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0.0343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0.7385 – 0.8071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0.7703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0.0244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0.7459 – 0.7947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66" name="Google Shape;366;p63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4"/>
          <p:cNvSpPr txBox="1"/>
          <p:nvPr>
            <p:ph type="title"/>
          </p:nvPr>
        </p:nvSpPr>
        <p:spPr>
          <a:xfrm>
            <a:off x="311700" y="2293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IC (95%)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372" name="Google Shape;372;p64"/>
          <p:cNvGraphicFramePr/>
          <p:nvPr/>
        </p:nvGraphicFramePr>
        <p:xfrm>
          <a:off x="1133800" y="123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0.8803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0.0254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0.8549 – 0.9057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0.8727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0.0156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0.8570 – 0.8883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0.8762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0.0079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0.8684 – 0.8841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0.6581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0.0192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0.6389 – 0.6773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0.6729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0.0803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0.5926 – 0.7532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0.6643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0.0416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0.6227 – 0.7060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64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5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</a:t>
            </a:r>
            <a:r>
              <a:rPr lang="pt-BR" sz="3680"/>
              <a:t>(Misoginia)</a:t>
            </a:r>
            <a:endParaRPr sz="3680"/>
          </a:p>
        </p:txBody>
      </p:sp>
      <p:sp>
        <p:nvSpPr>
          <p:cNvPr id="379" name="Google Shape;379;p65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80" name="Google Shape;38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6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(Misoginia)</a:t>
            </a:r>
            <a:endParaRPr sz="368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500" y="1058625"/>
            <a:ext cx="4035000" cy="302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67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(Misoginia)</a:t>
            </a:r>
            <a:endParaRPr sz="368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8"/>
          <p:cNvSpPr txBox="1"/>
          <p:nvPr>
            <p:ph type="ctrTitle"/>
          </p:nvPr>
        </p:nvSpPr>
        <p:spPr>
          <a:xfrm>
            <a:off x="2880900" y="1645800"/>
            <a:ext cx="3382200" cy="18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BALANCEADOS 50/50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9"/>
          <p:cNvSpPr txBox="1"/>
          <p:nvPr>
            <p:ph type="title"/>
          </p:nvPr>
        </p:nvSpPr>
        <p:spPr>
          <a:xfrm>
            <a:off x="311700" y="4652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Macro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05" name="Google Shape;405;p69"/>
          <p:cNvGraphicFramePr/>
          <p:nvPr/>
        </p:nvGraphicFramePr>
        <p:xfrm>
          <a:off x="1766400" y="154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0.7400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0.7850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0.7466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0.7860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0.7588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>
                        <a:solidFill>
                          <a:srgbClr val="A61C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0.7539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0.7981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0.7667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0.7524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0.8130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0.7614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0.7555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0.7874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0.7672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6" name="Google Shape;406;p69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70"/>
          <p:cNvSpPr txBox="1"/>
          <p:nvPr>
            <p:ph type="title"/>
          </p:nvPr>
        </p:nvSpPr>
        <p:spPr>
          <a:xfrm>
            <a:off x="311700" y="245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Por Classe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12" name="Google Shape;412;p70"/>
          <p:cNvGraphicFramePr/>
          <p:nvPr/>
        </p:nvGraphicFramePr>
        <p:xfrm>
          <a:off x="1139250" y="121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0.9094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0.7831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0.8415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0.5705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0.7870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0.6615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0.9046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0.8034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0.8510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0.5887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0.7685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0.6667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0.9147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0.8000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0.8535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0.5931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0.7963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0.6798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0.9412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0.7568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0.8390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0.5636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0.8692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0.6838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0.9004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0.8271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0.8622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0.6107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0.7477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0.6723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70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4" name="Google Shape;414;p70"/>
          <p:cNvSpPr txBox="1"/>
          <p:nvPr/>
        </p:nvSpPr>
        <p:spPr>
          <a:xfrm>
            <a:off x="123000" y="4168113"/>
            <a:ext cx="8898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1"/>
          <p:cNvSpPr txBox="1"/>
          <p:nvPr>
            <p:ph type="title"/>
          </p:nvPr>
        </p:nvSpPr>
        <p:spPr>
          <a:xfrm>
            <a:off x="311700" y="771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IC (95%)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20" name="Google Shape;420;p71"/>
          <p:cNvGraphicFramePr/>
          <p:nvPr/>
        </p:nvGraphicFramePr>
        <p:xfrm>
          <a:off x="1133800" y="19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0.7497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0.0079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0.7418 - 0.7576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0.7939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0.0148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0.7791 - 0.8087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0.7611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0.0080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0.7531 - 0.7691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1" name="Google Shape;421;p71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2"/>
          <p:cNvSpPr txBox="1"/>
          <p:nvPr>
            <p:ph type="title"/>
          </p:nvPr>
        </p:nvSpPr>
        <p:spPr>
          <a:xfrm>
            <a:off x="311700" y="2528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IC (95%)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27" name="Google Shape;427;p72"/>
          <p:cNvGraphicFramePr/>
          <p:nvPr/>
        </p:nvGraphicFramePr>
        <p:xfrm>
          <a:off x="1044400" y="123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0.9141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0.0200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0.8941 - 0.9340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0.7941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0.0324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0.7617 - 0.8265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0.8494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0.0117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0.8378 - 0.8611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0.5853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0.0233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0.5620 - 0.6086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0.7937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0.0572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0.7365 - 0.8510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0.6728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0.0114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0.6615 - 0.6842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28" name="Google Shape;428;p72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3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34" name="Google Shape;434;p73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35" name="Google Shape;43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74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42" name="Google Shape;442;p74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43" name="Google Shape;44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5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50" name="Google Shape;450;p75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51" name="Google Shape;45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500" y="105862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76"/>
          <p:cNvSpPr txBox="1"/>
          <p:nvPr>
            <p:ph type="ctrTitle"/>
          </p:nvPr>
        </p:nvSpPr>
        <p:spPr>
          <a:xfrm>
            <a:off x="2880900" y="1645800"/>
            <a:ext cx="3382200" cy="18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BALANCEADOS 60/40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7"/>
          <p:cNvSpPr txBox="1"/>
          <p:nvPr>
            <p:ph type="title"/>
          </p:nvPr>
        </p:nvSpPr>
        <p:spPr>
          <a:xfrm>
            <a:off x="311700" y="480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Macro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62" name="Google Shape;462;p77"/>
          <p:cNvGraphicFramePr/>
          <p:nvPr/>
        </p:nvGraphicFramePr>
        <p:xfrm>
          <a:off x="1766400" y="15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0.7421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0.7826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0.7541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0.7559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0.8040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0.7686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0.7621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0.7919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0.7734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0.7893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0.7960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0.7925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0.7287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0.7658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0.7399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3" name="Google Shape;463;p77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8"/>
          <p:cNvSpPr txBox="1"/>
          <p:nvPr>
            <p:ph type="title"/>
          </p:nvPr>
        </p:nvSpPr>
        <p:spPr>
          <a:xfrm>
            <a:off x="311700" y="3865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Por Classe </a:t>
            </a:r>
            <a:r>
              <a:rPr lang="pt-BR"/>
              <a:t>(Misoginia)</a:t>
            </a:r>
            <a:endParaRPr/>
          </a:p>
        </p:txBody>
      </p:sp>
      <p:graphicFrame>
        <p:nvGraphicFramePr>
          <p:cNvPr id="469" name="Google Shape;469;p78"/>
          <p:cNvGraphicFramePr/>
          <p:nvPr/>
        </p:nvGraphicFramePr>
        <p:xfrm>
          <a:off x="1139250" y="137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</a:t>
                      </a:r>
                      <a:r>
                        <a:rPr b="1" lang="pt-BR"/>
                        <a:t> </a:t>
                      </a:r>
                      <a:r>
                        <a:rPr b="1" lang="pt-BR"/>
                        <a:t>Precision 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0.9038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0.7966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0.8468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0.5804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0.7685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0.6614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0.9213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0.7932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0.8525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0.5906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0.8148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0.6848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0.9011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0.8339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0.8662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0.6231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0.7500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0.6807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0.8938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0.8818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0.8878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0.6847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0.7103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0.6972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0.8931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0.7932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0.8402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0.5643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0.7383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0.6397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70" name="Google Shape;470;p78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76" name="Google Shape;476;p79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77" name="Google Shape;47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84" name="Google Shape;484;p80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85" name="Google Shape;48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9800" y="110287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1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</a:t>
            </a:r>
            <a:r>
              <a:rPr lang="pt-BR"/>
              <a:t>(Misoginia)</a:t>
            </a:r>
            <a:endParaRPr/>
          </a:p>
        </p:txBody>
      </p:sp>
      <p:sp>
        <p:nvSpPr>
          <p:cNvPr id="492" name="Google Shape;492;p81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93" name="Google Shape;49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4500" y="1058625"/>
            <a:ext cx="4035000" cy="30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2"/>
          <p:cNvSpPr txBox="1"/>
          <p:nvPr>
            <p:ph type="title"/>
          </p:nvPr>
        </p:nvSpPr>
        <p:spPr>
          <a:xfrm>
            <a:off x="311700" y="252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Misoginia</a:t>
            </a:r>
            <a:endParaRPr/>
          </a:p>
        </p:txBody>
      </p:sp>
      <p:graphicFrame>
        <p:nvGraphicFramePr>
          <p:cNvPr id="499" name="Google Shape;499;p82"/>
          <p:cNvGraphicFramePr/>
          <p:nvPr/>
        </p:nvGraphicFramePr>
        <p:xfrm>
          <a:off x="1766400" y="108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0.7937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0.6581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0.5853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0.6086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0" name="Google Shape;500;p82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Macro F1 inflada pela Classe 0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●"/>
            </a:pP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Altos</a:t>
            </a: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índices de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Falsos Negativos</a:t>
            </a: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Gera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menos falsos positivos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01" name="Google Shape;501;p82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2" name="Google Shape;502;p82"/>
          <p:cNvSpPr txBox="1"/>
          <p:nvPr/>
        </p:nvSpPr>
        <p:spPr>
          <a:xfrm>
            <a:off x="5014975" y="38421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Conservador -&gt;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Estamos perdendo comentários misóginos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83"/>
          <p:cNvSpPr txBox="1"/>
          <p:nvPr>
            <p:ph type="title"/>
          </p:nvPr>
        </p:nvSpPr>
        <p:spPr>
          <a:xfrm>
            <a:off x="311700" y="252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Misoginia</a:t>
            </a:r>
            <a:endParaRPr/>
          </a:p>
        </p:txBody>
      </p:sp>
      <p:graphicFrame>
        <p:nvGraphicFramePr>
          <p:cNvPr id="508" name="Google Shape;508;p83"/>
          <p:cNvGraphicFramePr/>
          <p:nvPr/>
        </p:nvGraphicFramePr>
        <p:xfrm>
          <a:off x="1766400" y="108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0.7937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0.6581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0.5853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0.6086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9" name="Google Shape;509;p83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Piora na F1 Class 0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Gera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MAIS</a:t>
            </a: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falsos positivos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0" name="Google Shape;510;p83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1" name="Google Shape;511;p83"/>
          <p:cNvSpPr txBox="1"/>
          <p:nvPr/>
        </p:nvSpPr>
        <p:spPr>
          <a:xfrm>
            <a:off x="5076000" y="38856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Identifica 80% dos comentários misóginos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4"/>
          <p:cNvSpPr txBox="1"/>
          <p:nvPr>
            <p:ph type="title"/>
          </p:nvPr>
        </p:nvSpPr>
        <p:spPr>
          <a:xfrm>
            <a:off x="311700" y="2521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Misoginia</a:t>
            </a:r>
            <a:endParaRPr/>
          </a:p>
        </p:txBody>
      </p:sp>
      <p:graphicFrame>
        <p:nvGraphicFramePr>
          <p:cNvPr id="517" name="Google Shape;517;p84"/>
          <p:cNvGraphicFramePr/>
          <p:nvPr/>
        </p:nvGraphicFramePr>
        <p:xfrm>
          <a:off x="1766400" y="1083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  <a:highlight>
                            <a:srgbClr val="FF0000"/>
                          </a:highlight>
                        </a:rPr>
                        <a:t>0.6728</a:t>
                      </a:r>
                      <a:endParaRPr b="1">
                        <a:solidFill>
                          <a:schemeClr val="dk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0.7937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0.6581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0.5853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0.6086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8" name="Google Shape;518;p84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Perda de 25% de conteúdo misógino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Nossa precisão aumentou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519" name="Google Shape;519;p84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0" name="Google Shape;520;p84"/>
          <p:cNvSpPr txBox="1"/>
          <p:nvPr/>
        </p:nvSpPr>
        <p:spPr>
          <a:xfrm>
            <a:off x="5076000" y="38856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Estável -&gt; Performance </a:t>
            </a: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similar</a:t>
            </a: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 ao 50/50,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mas com mais equilíbrio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cxnSp>
        <p:nvCxnSpPr>
          <p:cNvPr id="521" name="Google Shape;521;p84"/>
          <p:cNvCxnSpPr/>
          <p:nvPr/>
        </p:nvCxnSpPr>
        <p:spPr>
          <a:xfrm>
            <a:off x="7235775" y="2292775"/>
            <a:ext cx="1046100" cy="906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84"/>
          <p:cNvCxnSpPr/>
          <p:nvPr/>
        </p:nvCxnSpPr>
        <p:spPr>
          <a:xfrm>
            <a:off x="8281875" y="3181925"/>
            <a:ext cx="0" cy="514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3" name="Google Shape;523;p84"/>
          <p:cNvSpPr txBox="1"/>
          <p:nvPr/>
        </p:nvSpPr>
        <p:spPr>
          <a:xfrm>
            <a:off x="7448475" y="3842175"/>
            <a:ext cx="1666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Empate!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5"/>
          <p:cNvSpPr txBox="1"/>
          <p:nvPr>
            <p:ph type="ctrTitle"/>
          </p:nvPr>
        </p:nvSpPr>
        <p:spPr>
          <a:xfrm>
            <a:off x="3044700" y="1832999"/>
            <a:ext cx="30546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TOXICIDADE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ROBERTA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6"/>
          <p:cNvSpPr txBox="1"/>
          <p:nvPr>
            <p:ph type="ctrTitle"/>
          </p:nvPr>
        </p:nvSpPr>
        <p:spPr>
          <a:xfrm>
            <a:off x="2880900" y="1833000"/>
            <a:ext cx="3382200" cy="147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DESBALANCEADOS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7"/>
          <p:cNvSpPr txBox="1"/>
          <p:nvPr>
            <p:ph type="title"/>
          </p:nvPr>
        </p:nvSpPr>
        <p:spPr>
          <a:xfrm>
            <a:off x="311700" y="260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Macro (Toxicidade)</a:t>
            </a:r>
            <a:endParaRPr/>
          </a:p>
        </p:txBody>
      </p:sp>
      <p:graphicFrame>
        <p:nvGraphicFramePr>
          <p:cNvPr id="539" name="Google Shape;539;p87"/>
          <p:cNvGraphicFramePr/>
          <p:nvPr/>
        </p:nvGraphicFramePr>
        <p:xfrm>
          <a:off x="1766400" y="127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0.7269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0.7262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0.7496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0.7393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0.7426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>
                        <a:solidFill>
                          <a:srgbClr val="A61C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</a:t>
                      </a:r>
                      <a:r>
                        <a:rPr b="1" lang="pt-BR">
                          <a:solidFill>
                            <a:schemeClr val="dk1"/>
                          </a:solidFill>
                        </a:rPr>
                        <a:t>.7457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0.7520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0.7218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0.7083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0.7117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0.7497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0.7469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0.7481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0" name="Google Shape;540;p87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88"/>
          <p:cNvSpPr txBox="1"/>
          <p:nvPr>
            <p:ph type="title"/>
          </p:nvPr>
        </p:nvSpPr>
        <p:spPr>
          <a:xfrm>
            <a:off x="311700" y="4730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Por Classe </a:t>
            </a:r>
            <a:r>
              <a:rPr lang="pt-BR"/>
              <a:t>(Toxicidade)</a:t>
            </a:r>
            <a:endParaRPr/>
          </a:p>
        </p:txBody>
      </p:sp>
      <p:graphicFrame>
        <p:nvGraphicFramePr>
          <p:cNvPr id="546" name="Google Shape;546;p88"/>
          <p:cNvGraphicFramePr/>
          <p:nvPr/>
        </p:nvGraphicFramePr>
        <p:xfrm>
          <a:off x="1139250" y="1466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0.7689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0.7787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0.7738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0.6848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0.6726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0.6787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0.7677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0.8298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0.7975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0.7315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0.6488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0.6877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0.8160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0.7362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0.7740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0.6754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0.7679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0.7187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0.7395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0.8213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0.7782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0.7042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0.5952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0.6452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0.7833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0.8034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0.7932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0.7160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0.6905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2400" marR="152400" rtl="0" algn="ctr">
                        <a:lnSpc>
                          <a:spcPct val="115000"/>
                        </a:lnSpc>
                        <a:spcBef>
                          <a:spcPts val="35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200">
                          <a:solidFill>
                            <a:schemeClr val="dk1"/>
                          </a:solidFill>
                        </a:rPr>
                        <a:t>0.7030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89"/>
          <p:cNvSpPr txBox="1"/>
          <p:nvPr>
            <p:ph type="title"/>
          </p:nvPr>
        </p:nvSpPr>
        <p:spPr>
          <a:xfrm>
            <a:off x="311700" y="4494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IC (95%) </a:t>
            </a:r>
            <a:r>
              <a:rPr lang="pt-BR"/>
              <a:t>(Toxicidade)</a:t>
            </a:r>
            <a:endParaRPr/>
          </a:p>
        </p:txBody>
      </p:sp>
      <p:graphicFrame>
        <p:nvGraphicFramePr>
          <p:cNvPr id="552" name="Google Shape;552;p89"/>
          <p:cNvGraphicFramePr/>
          <p:nvPr/>
        </p:nvGraphicFramePr>
        <p:xfrm>
          <a:off x="1133800" y="1707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0.7387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0.0166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0.7222 – 0.7553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0.7344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0.0219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0.7125 – 0.7564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0.0194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0.7156 – 0.7544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553" name="Google Shape;553;p89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0"/>
          <p:cNvSpPr txBox="1"/>
          <p:nvPr>
            <p:ph type="title"/>
          </p:nvPr>
        </p:nvSpPr>
        <p:spPr>
          <a:xfrm>
            <a:off x="311700" y="2293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Desbalanceados - IC (95%) </a:t>
            </a:r>
            <a:r>
              <a:rPr lang="pt-BR"/>
              <a:t>(Toxicidade)</a:t>
            </a:r>
            <a:endParaRPr/>
          </a:p>
        </p:txBody>
      </p:sp>
      <p:graphicFrame>
        <p:nvGraphicFramePr>
          <p:cNvPr id="559" name="Google Shape;559;p90"/>
          <p:cNvGraphicFramePr/>
          <p:nvPr/>
        </p:nvGraphicFramePr>
        <p:xfrm>
          <a:off x="1133800" y="1238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0.7751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0.0346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0.7405 – 0.8096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0.7939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0.0468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0.7470 – 0.8407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0.7833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0.0139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0.7694 – 0.7973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0.0283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0.6741 – 0.7307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0.0784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</a:t>
                      </a:r>
                      <a:r>
                        <a:rPr b="1" lang="pt-BR"/>
                        <a:t>5966</a:t>
                      </a:r>
                      <a:r>
                        <a:rPr b="1" lang="pt-BR"/>
                        <a:t> – 0.7534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0.6867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0.0344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0.6522 – 0.7211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1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(Toxicidade)</a:t>
            </a:r>
            <a:endParaRPr sz="3680"/>
          </a:p>
        </p:txBody>
      </p:sp>
      <p:sp>
        <p:nvSpPr>
          <p:cNvPr id="565" name="Google Shape;565;p91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66" name="Google Shape;566;p91" title="matriz_confusao_CV-Round(T1_V2).png"/>
          <p:cNvPicPr preferRelativeResize="0"/>
          <p:nvPr/>
        </p:nvPicPr>
        <p:blipFill rotWithShape="1">
          <a:blip r:embed="rId3">
            <a:alphaModFix/>
          </a:blip>
          <a:srcRect b="0" l="0" r="11300" t="0"/>
          <a:stretch/>
        </p:blipFill>
        <p:spPr>
          <a:xfrm>
            <a:off x="76975" y="1040575"/>
            <a:ext cx="4406526" cy="36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91" title="matriz_confusao_CV-Round(T2_V3).png"/>
          <p:cNvPicPr preferRelativeResize="0"/>
          <p:nvPr/>
        </p:nvPicPr>
        <p:blipFill rotWithShape="1">
          <a:blip r:embed="rId4">
            <a:alphaModFix/>
          </a:blip>
          <a:srcRect b="0" l="0" r="11047" t="0"/>
          <a:stretch/>
        </p:blipFill>
        <p:spPr>
          <a:xfrm>
            <a:off x="4571996" y="1076863"/>
            <a:ext cx="4333054" cy="36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92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(Toxicidade)</a:t>
            </a:r>
            <a:endParaRPr sz="3680"/>
          </a:p>
        </p:txBody>
      </p:sp>
      <p:sp>
        <p:nvSpPr>
          <p:cNvPr id="573" name="Google Shape;573;p92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74" name="Google Shape;574;p92" title="matriz_confusao_CV-Round(T3_V4).png"/>
          <p:cNvPicPr preferRelativeResize="0"/>
          <p:nvPr/>
        </p:nvPicPr>
        <p:blipFill rotWithShape="1">
          <a:blip r:embed="rId3">
            <a:alphaModFix/>
          </a:blip>
          <a:srcRect b="0" l="0" r="8850" t="0"/>
          <a:stretch/>
        </p:blipFill>
        <p:spPr>
          <a:xfrm>
            <a:off x="0" y="1016350"/>
            <a:ext cx="4440728" cy="36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92" title="matriz_confusao_CV-Round(T4_V5).png"/>
          <p:cNvPicPr preferRelativeResize="0"/>
          <p:nvPr/>
        </p:nvPicPr>
        <p:blipFill rotWithShape="1">
          <a:blip r:embed="rId4">
            <a:alphaModFix/>
          </a:blip>
          <a:srcRect b="0" l="0" r="10418" t="0"/>
          <a:stretch/>
        </p:blipFill>
        <p:spPr>
          <a:xfrm>
            <a:off x="4527317" y="1016350"/>
            <a:ext cx="4364408" cy="36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3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3680"/>
              <a:t>Folds Desbalanceados - Matrizes de Confusão (Toxicidade)</a:t>
            </a:r>
            <a:endParaRPr sz="3680"/>
          </a:p>
        </p:txBody>
      </p:sp>
      <p:sp>
        <p:nvSpPr>
          <p:cNvPr id="581" name="Google Shape;581;p93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82" name="Google Shape;582;p93" title="matriz_confusao_CV-Round(T5_V1).png"/>
          <p:cNvPicPr preferRelativeResize="0"/>
          <p:nvPr/>
        </p:nvPicPr>
        <p:blipFill rotWithShape="1">
          <a:blip r:embed="rId3">
            <a:alphaModFix/>
          </a:blip>
          <a:srcRect b="0" l="0" r="11260" t="0"/>
          <a:stretch/>
        </p:blipFill>
        <p:spPr>
          <a:xfrm>
            <a:off x="2228450" y="950475"/>
            <a:ext cx="4687076" cy="39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4"/>
          <p:cNvSpPr txBox="1"/>
          <p:nvPr>
            <p:ph type="ctrTitle"/>
          </p:nvPr>
        </p:nvSpPr>
        <p:spPr>
          <a:xfrm>
            <a:off x="2880900" y="1645800"/>
            <a:ext cx="3382200" cy="18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BALANCEADOS 50/50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95"/>
          <p:cNvSpPr txBox="1"/>
          <p:nvPr>
            <p:ph type="title"/>
          </p:nvPr>
        </p:nvSpPr>
        <p:spPr>
          <a:xfrm>
            <a:off x="311700" y="4652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Macro (Toxicidade)</a:t>
            </a:r>
            <a:endParaRPr/>
          </a:p>
        </p:txBody>
      </p:sp>
      <p:graphicFrame>
        <p:nvGraphicFramePr>
          <p:cNvPr id="593" name="Google Shape;593;p95"/>
          <p:cNvGraphicFramePr/>
          <p:nvPr/>
        </p:nvGraphicFramePr>
        <p:xfrm>
          <a:off x="1766400" y="154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0.7022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0.7073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0.6963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0.7536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0.7469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0.7494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>
                        <a:solidFill>
                          <a:srgbClr val="A61C00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0.7188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0.7152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0.6979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0.7010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0.6989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0.7212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0.7253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94" name="Google Shape;594;p95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96"/>
          <p:cNvSpPr txBox="1"/>
          <p:nvPr>
            <p:ph type="title"/>
          </p:nvPr>
        </p:nvSpPr>
        <p:spPr>
          <a:xfrm>
            <a:off x="311700" y="245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Por Classe (Toxicidade)</a:t>
            </a:r>
            <a:endParaRPr/>
          </a:p>
        </p:txBody>
      </p:sp>
      <p:graphicFrame>
        <p:nvGraphicFramePr>
          <p:cNvPr id="600" name="Google Shape;600;p96"/>
          <p:cNvGraphicFramePr/>
          <p:nvPr/>
        </p:nvGraphicFramePr>
        <p:xfrm>
          <a:off x="1139250" y="121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0.7958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0.6468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0.7136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0.6085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0.7679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0.6789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0.8213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0.7992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0.7290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0.6997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0.7798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0.7234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0.7506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0.6799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0.7589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0.7234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0.7407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0.6369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0.6571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0.8242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0.6410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0.7212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0.6182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0.8095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0.7010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1" name="Google Shape;601;p96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2" name="Google Shape;602;p96"/>
          <p:cNvSpPr txBox="1"/>
          <p:nvPr/>
        </p:nvSpPr>
        <p:spPr>
          <a:xfrm>
            <a:off x="123000" y="4168113"/>
            <a:ext cx="88980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98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7"/>
          <p:cNvSpPr txBox="1"/>
          <p:nvPr>
            <p:ph type="title"/>
          </p:nvPr>
        </p:nvSpPr>
        <p:spPr>
          <a:xfrm>
            <a:off x="311700" y="771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IC (95%) (Toxicidade)</a:t>
            </a:r>
            <a:endParaRPr/>
          </a:p>
        </p:txBody>
      </p:sp>
      <p:graphicFrame>
        <p:nvGraphicFramePr>
          <p:cNvPr id="608" name="Google Shape;608;p97"/>
          <p:cNvGraphicFramePr/>
          <p:nvPr/>
        </p:nvGraphicFramePr>
        <p:xfrm>
          <a:off x="1133800" y="19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0.7178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0.0274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0.6904 - 0.7452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0.7199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0.0222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0.6977 - 0.7420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0.0264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0.6878 - 0.7406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09" name="Google Shape;609;p97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98"/>
          <p:cNvSpPr txBox="1"/>
          <p:nvPr>
            <p:ph type="title"/>
          </p:nvPr>
        </p:nvSpPr>
        <p:spPr>
          <a:xfrm>
            <a:off x="311700" y="2528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IC (95%) (Toxicidade)</a:t>
            </a:r>
            <a:endParaRPr/>
          </a:p>
        </p:txBody>
      </p:sp>
      <p:graphicFrame>
        <p:nvGraphicFramePr>
          <p:cNvPr id="615" name="Google Shape;615;p98"/>
          <p:cNvGraphicFramePr/>
          <p:nvPr/>
        </p:nvGraphicFramePr>
        <p:xfrm>
          <a:off x="1044400" y="123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0.7874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0.0303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0.7571 - 0.8177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0.7112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0.0910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0.6202 - 0.8022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0.7451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0.0418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0.7032 - 0.7869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0.0593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0.5889 - 0.7076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0.0733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0.6553 - 0.8019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0.6609 - 0.7057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9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(Toxicidade)</a:t>
            </a:r>
            <a:endParaRPr/>
          </a:p>
        </p:txBody>
      </p:sp>
      <p:sp>
        <p:nvSpPr>
          <p:cNvPr id="621" name="Google Shape;621;p99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22" name="Google Shape;622;p99" title="matriz_confusao_CV-Round(T1_V2).png"/>
          <p:cNvPicPr preferRelativeResize="0"/>
          <p:nvPr/>
        </p:nvPicPr>
        <p:blipFill rotWithShape="1">
          <a:blip r:embed="rId3">
            <a:alphaModFix/>
          </a:blip>
          <a:srcRect b="0" l="1839" r="12205" t="0"/>
          <a:stretch/>
        </p:blipFill>
        <p:spPr>
          <a:xfrm>
            <a:off x="0" y="978725"/>
            <a:ext cx="4501750" cy="39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99" title="matriz_confusao_CV-Round(T2_V3).png"/>
          <p:cNvPicPr preferRelativeResize="0"/>
          <p:nvPr/>
        </p:nvPicPr>
        <p:blipFill rotWithShape="1">
          <a:blip r:embed="rId4">
            <a:alphaModFix/>
          </a:blip>
          <a:srcRect b="0" l="0" r="12211" t="0"/>
          <a:stretch/>
        </p:blipFill>
        <p:spPr>
          <a:xfrm>
            <a:off x="4505809" y="950450"/>
            <a:ext cx="4598016" cy="39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0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(Toxicidade)</a:t>
            </a:r>
            <a:endParaRPr/>
          </a:p>
        </p:txBody>
      </p:sp>
      <p:sp>
        <p:nvSpPr>
          <p:cNvPr id="629" name="Google Shape;629;p100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30" name="Google Shape;630;p100" title="matriz_confusao_CV-Round(T3_V4).png"/>
          <p:cNvPicPr preferRelativeResize="0"/>
          <p:nvPr/>
        </p:nvPicPr>
        <p:blipFill rotWithShape="1">
          <a:blip r:embed="rId3">
            <a:alphaModFix/>
          </a:blip>
          <a:srcRect b="0" l="3009" r="11978" t="0"/>
          <a:stretch/>
        </p:blipFill>
        <p:spPr>
          <a:xfrm>
            <a:off x="78900" y="849412"/>
            <a:ext cx="4493100" cy="396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00" title="matriz_confusao_CV-Round(T4_V5).png"/>
          <p:cNvPicPr preferRelativeResize="0"/>
          <p:nvPr/>
        </p:nvPicPr>
        <p:blipFill rotWithShape="1">
          <a:blip r:embed="rId4">
            <a:alphaModFix/>
          </a:blip>
          <a:srcRect b="0" l="3344" r="11981" t="0"/>
          <a:stretch/>
        </p:blipFill>
        <p:spPr>
          <a:xfrm>
            <a:off x="4572000" y="841383"/>
            <a:ext cx="4493100" cy="3979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1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50/50 - Matrizes de Confusão (Toxicidade)</a:t>
            </a:r>
            <a:endParaRPr/>
          </a:p>
        </p:txBody>
      </p:sp>
      <p:pic>
        <p:nvPicPr>
          <p:cNvPr id="637" name="Google Shape;637;p101" title="matriz_confusao_CV-Round(T5_V1).png"/>
          <p:cNvPicPr preferRelativeResize="0"/>
          <p:nvPr/>
        </p:nvPicPr>
        <p:blipFill rotWithShape="1">
          <a:blip r:embed="rId3">
            <a:alphaModFix/>
          </a:blip>
          <a:srcRect b="0" l="3946" r="12448" t="0"/>
          <a:stretch/>
        </p:blipFill>
        <p:spPr>
          <a:xfrm>
            <a:off x="2402413" y="950475"/>
            <a:ext cx="4339174" cy="3892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02"/>
          <p:cNvSpPr txBox="1"/>
          <p:nvPr>
            <p:ph type="ctrTitle"/>
          </p:nvPr>
        </p:nvSpPr>
        <p:spPr>
          <a:xfrm>
            <a:off x="2880900" y="1645800"/>
            <a:ext cx="3382200" cy="18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DADOS BALANCEADOS </a:t>
            </a:r>
            <a:r>
              <a:rPr lang="pt-BR"/>
              <a:t>60/40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03"/>
          <p:cNvSpPr txBox="1"/>
          <p:nvPr>
            <p:ph type="title"/>
          </p:nvPr>
        </p:nvSpPr>
        <p:spPr>
          <a:xfrm>
            <a:off x="311700" y="480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Macro (Toxicidade)</a:t>
            </a:r>
            <a:endParaRPr/>
          </a:p>
        </p:txBody>
      </p:sp>
      <p:graphicFrame>
        <p:nvGraphicFramePr>
          <p:cNvPr id="648" name="Google Shape;648;p103"/>
          <p:cNvGraphicFramePr/>
          <p:nvPr/>
        </p:nvGraphicFramePr>
        <p:xfrm>
          <a:off x="1766400" y="15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0.7202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0.7117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0.7622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0.7470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0.7513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0.7559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0.7525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0.7167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0.7156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0.7532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0.7466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0.7490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9" name="Google Shape;649;p103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4"/>
          <p:cNvSpPr txBox="1"/>
          <p:nvPr>
            <p:ph type="title"/>
          </p:nvPr>
        </p:nvSpPr>
        <p:spPr>
          <a:xfrm>
            <a:off x="311700" y="3865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Por Classe (Toxicidade)</a:t>
            </a:r>
            <a:endParaRPr/>
          </a:p>
        </p:txBody>
      </p:sp>
      <p:graphicFrame>
        <p:nvGraphicFramePr>
          <p:cNvPr id="655" name="Google Shape;655;p104"/>
          <p:cNvGraphicFramePr/>
          <p:nvPr/>
        </p:nvGraphicFramePr>
        <p:xfrm>
          <a:off x="1139250" y="1376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998775"/>
                <a:gridCol w="998775"/>
                <a:gridCol w="1040750"/>
                <a:gridCol w="956800"/>
                <a:gridCol w="956800"/>
                <a:gridCol w="956800"/>
                <a:gridCol w="956800"/>
              </a:tblGrid>
              <a:tr h="900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Fold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  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T1_V2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0.7470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0.8043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0.7746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0.6190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0.6541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T2_V3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0.7692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0.8511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0.8081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0.7552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0.6429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0.6945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T3_V4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0.8100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0.7617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0.7851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0.6923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0.7500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0.7200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T4_V5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0.7489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0.7586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0.6609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0.6845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T5_V1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0.7773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0.8205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0.7983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0.7290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0.6726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0.6997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05"/>
          <p:cNvSpPr txBox="1"/>
          <p:nvPr>
            <p:ph type="title"/>
          </p:nvPr>
        </p:nvSpPr>
        <p:spPr>
          <a:xfrm>
            <a:off x="311700" y="77195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IC (95%) (Toxicidade)</a:t>
            </a:r>
            <a:endParaRPr/>
          </a:p>
        </p:txBody>
      </p:sp>
      <p:graphicFrame>
        <p:nvGraphicFramePr>
          <p:cNvPr id="661" name="Google Shape;661;p105"/>
          <p:cNvGraphicFramePr/>
          <p:nvPr/>
        </p:nvGraphicFramePr>
        <p:xfrm>
          <a:off x="1133800" y="19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0.0265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0.7138 - 0.7668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0.7356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0.0248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0.7108 - 0.7603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Macro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0.7365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0.0245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0.7120 - 0.7611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662" name="Google Shape;662;p105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06"/>
          <p:cNvSpPr txBox="1"/>
          <p:nvPr>
            <p:ph type="title"/>
          </p:nvPr>
        </p:nvSpPr>
        <p:spPr>
          <a:xfrm>
            <a:off x="311700" y="2528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IC (95%) (Toxicidade)</a:t>
            </a:r>
            <a:endParaRPr/>
          </a:p>
        </p:txBody>
      </p:sp>
      <p:graphicFrame>
        <p:nvGraphicFramePr>
          <p:cNvPr id="668" name="Google Shape;668;p106"/>
          <p:cNvGraphicFramePr/>
          <p:nvPr/>
        </p:nvGraphicFramePr>
        <p:xfrm>
          <a:off x="1044400" y="12335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719100"/>
                <a:gridCol w="1719100"/>
                <a:gridCol w="1791350"/>
                <a:gridCol w="1646850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Métrica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Média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Margem de Erro (±)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IC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0.7744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0.0284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0.7461 - 0.8028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0.7973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0.0523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0.7450 - 0.8496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0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0.7849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0.0242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0.7608 - 0.8091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Precision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0.7061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0.0453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0.6608 - 0.7515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Recall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0.6738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0.0617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0.6121 - 0.7355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33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/>
                        <a:t>Class 1 F1</a:t>
                      </a:r>
                      <a:endParaRPr b="1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0.0316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76200" marL="762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0.6565 - 0.7198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7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(Toxicidade)</a:t>
            </a:r>
            <a:endParaRPr/>
          </a:p>
        </p:txBody>
      </p:sp>
      <p:pic>
        <p:nvPicPr>
          <p:cNvPr id="674" name="Google Shape;674;p107" title="matriz_confusao_CV-Round(T1_V2).png"/>
          <p:cNvPicPr preferRelativeResize="0"/>
          <p:nvPr/>
        </p:nvPicPr>
        <p:blipFill rotWithShape="1">
          <a:blip r:embed="rId3">
            <a:alphaModFix/>
          </a:blip>
          <a:srcRect b="0" l="0" r="12211" t="0"/>
          <a:stretch/>
        </p:blipFill>
        <p:spPr>
          <a:xfrm>
            <a:off x="152400" y="997025"/>
            <a:ext cx="4419600" cy="3775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107" title="matriz_confusao_CV-Round(T2_V3).png"/>
          <p:cNvPicPr preferRelativeResize="0"/>
          <p:nvPr/>
        </p:nvPicPr>
        <p:blipFill rotWithShape="1">
          <a:blip r:embed="rId4">
            <a:alphaModFix/>
          </a:blip>
          <a:srcRect b="0" l="0" r="12211" t="0"/>
          <a:stretch/>
        </p:blipFill>
        <p:spPr>
          <a:xfrm>
            <a:off x="4572000" y="997022"/>
            <a:ext cx="4419600" cy="377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08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(Toxicidade)</a:t>
            </a:r>
            <a:endParaRPr/>
          </a:p>
        </p:txBody>
      </p:sp>
      <p:sp>
        <p:nvSpPr>
          <p:cNvPr id="681" name="Google Shape;681;p108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82" name="Google Shape;682;p108" title="matriz_confusao_CV-Round(T3_V4).png"/>
          <p:cNvPicPr preferRelativeResize="0"/>
          <p:nvPr/>
        </p:nvPicPr>
        <p:blipFill rotWithShape="1">
          <a:blip r:embed="rId3">
            <a:alphaModFix/>
          </a:blip>
          <a:srcRect b="0" l="0" r="12449" t="0"/>
          <a:stretch/>
        </p:blipFill>
        <p:spPr>
          <a:xfrm>
            <a:off x="176525" y="950476"/>
            <a:ext cx="4395476" cy="3765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108" title="matriz_confusao_CV-Round(T4_V5).png"/>
          <p:cNvPicPr preferRelativeResize="0"/>
          <p:nvPr/>
        </p:nvPicPr>
        <p:blipFill rotWithShape="1">
          <a:blip r:embed="rId4">
            <a:alphaModFix/>
          </a:blip>
          <a:srcRect b="0" l="0" r="12449" t="0"/>
          <a:stretch/>
        </p:blipFill>
        <p:spPr>
          <a:xfrm>
            <a:off x="4571998" y="950475"/>
            <a:ext cx="4395476" cy="37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09"/>
          <p:cNvSpPr txBox="1"/>
          <p:nvPr>
            <p:ph type="title"/>
          </p:nvPr>
        </p:nvSpPr>
        <p:spPr>
          <a:xfrm>
            <a:off x="311700" y="119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Folds 60/40 - Matrizes de Confusão (Toxicidade)</a:t>
            </a:r>
            <a:endParaRPr/>
          </a:p>
        </p:txBody>
      </p:sp>
      <p:sp>
        <p:nvSpPr>
          <p:cNvPr id="689" name="Google Shape;689;p109"/>
          <p:cNvSpPr txBox="1"/>
          <p:nvPr/>
        </p:nvSpPr>
        <p:spPr>
          <a:xfrm>
            <a:off x="311700" y="4281525"/>
            <a:ext cx="834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90" name="Google Shape;690;p109" title="matriz_confusao_CV-Round(T5_V1).png"/>
          <p:cNvPicPr preferRelativeResize="0"/>
          <p:nvPr/>
        </p:nvPicPr>
        <p:blipFill rotWithShape="1">
          <a:blip r:embed="rId3">
            <a:alphaModFix/>
          </a:blip>
          <a:srcRect b="0" l="0" r="11260" t="0"/>
          <a:stretch/>
        </p:blipFill>
        <p:spPr>
          <a:xfrm>
            <a:off x="2277101" y="950475"/>
            <a:ext cx="4589800" cy="387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10"/>
          <p:cNvSpPr txBox="1"/>
          <p:nvPr>
            <p:ph type="title"/>
          </p:nvPr>
        </p:nvSpPr>
        <p:spPr>
          <a:xfrm>
            <a:off x="311700" y="252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Toxicidade</a:t>
            </a:r>
            <a:endParaRPr/>
          </a:p>
        </p:txBody>
      </p:sp>
      <p:sp>
        <p:nvSpPr>
          <p:cNvPr id="696" name="Google Shape;696;p110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Perda de 25% de conteúdo misógino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Nossa precisão aumentou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697" name="Google Shape;697;p110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8" name="Google Shape;698;p110"/>
          <p:cNvSpPr txBox="1"/>
          <p:nvPr/>
        </p:nvSpPr>
        <p:spPr>
          <a:xfrm>
            <a:off x="5076000" y="38856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Estável -&gt; Performance similar ao 50/50,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mas com mais equilíbrio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699" name="Google Shape;699;p110"/>
          <p:cNvGraphicFramePr/>
          <p:nvPr/>
        </p:nvGraphicFramePr>
        <p:xfrm>
          <a:off x="1766400" y="1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0.7365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0.6867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0.6738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0.7061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1"/>
          <p:cNvSpPr txBox="1"/>
          <p:nvPr>
            <p:ph type="title"/>
          </p:nvPr>
        </p:nvSpPr>
        <p:spPr>
          <a:xfrm>
            <a:off x="311700" y="252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Toxicidade</a:t>
            </a:r>
            <a:endParaRPr/>
          </a:p>
        </p:txBody>
      </p:sp>
      <p:sp>
        <p:nvSpPr>
          <p:cNvPr id="705" name="Google Shape;705;p111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Perda de 25% de conteúdo misógino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Nossa precisão aumentou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06" name="Google Shape;706;p111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111"/>
          <p:cNvSpPr txBox="1"/>
          <p:nvPr/>
        </p:nvSpPr>
        <p:spPr>
          <a:xfrm>
            <a:off x="5076000" y="38856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Estável -&gt; Performance similar ao 50/50,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mas com mais equilíbrio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08" name="Google Shape;708;p111"/>
          <p:cNvGraphicFramePr/>
          <p:nvPr/>
        </p:nvGraphicFramePr>
        <p:xfrm>
          <a:off x="1766400" y="1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0.7365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0.6867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0.6738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0.7061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12"/>
          <p:cNvSpPr txBox="1"/>
          <p:nvPr>
            <p:ph type="title"/>
          </p:nvPr>
        </p:nvSpPr>
        <p:spPr>
          <a:xfrm>
            <a:off x="311700" y="252000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Geral - Toxicidade</a:t>
            </a:r>
            <a:endParaRPr/>
          </a:p>
        </p:txBody>
      </p:sp>
      <p:sp>
        <p:nvSpPr>
          <p:cNvPr id="714" name="Google Shape;714;p112"/>
          <p:cNvSpPr txBox="1"/>
          <p:nvPr/>
        </p:nvSpPr>
        <p:spPr>
          <a:xfrm>
            <a:off x="311700" y="3842175"/>
            <a:ext cx="8520600" cy="3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Perda de 25% de conteúdo misógino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Economica"/>
              <a:buChar char="●"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Nossa precisão aumentou</a:t>
            </a:r>
            <a:endParaRPr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5" name="Google Shape;715;p112"/>
          <p:cNvSpPr/>
          <p:nvPr/>
        </p:nvSpPr>
        <p:spPr>
          <a:xfrm>
            <a:off x="4266900" y="3842175"/>
            <a:ext cx="305100" cy="11769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6" name="Google Shape;716;p112"/>
          <p:cNvSpPr txBox="1"/>
          <p:nvPr/>
        </p:nvSpPr>
        <p:spPr>
          <a:xfrm>
            <a:off x="5076000" y="3885675"/>
            <a:ext cx="2301600" cy="6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Estável -&gt; Performance similar ao 50/50, </a:t>
            </a:r>
            <a:r>
              <a:rPr b="1" lang="pt-BR" sz="21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mas com mais equilíbrio</a:t>
            </a:r>
            <a:endParaRPr b="1" sz="21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graphicFrame>
        <p:nvGraphicFramePr>
          <p:cNvPr id="717" name="Google Shape;717;p112"/>
          <p:cNvGraphicFramePr/>
          <p:nvPr/>
        </p:nvGraphicFramePr>
        <p:xfrm>
          <a:off x="1766400" y="108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{FB8D617B-9F3A-4E4A-8A61-AE3B64311CFD}</a:tableStyleId>
              </a:tblPr>
              <a:tblGrid>
                <a:gridCol w="1402800"/>
                <a:gridCol w="1402800"/>
                <a:gridCol w="1461750"/>
                <a:gridCol w="1343850"/>
              </a:tblGrid>
              <a:tr h="609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Métrica (Média)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Original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50/50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60/40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Macro F1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0.7142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0.7365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F1 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0.6867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0.6833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0.6882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9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Recall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0.6750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0.7286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0.6738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Class 1 Precision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0.7024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0.6482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>
                          <a:solidFill>
                            <a:schemeClr val="dk1"/>
                          </a:solidFill>
                        </a:rPr>
                        <a:t>0.7061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3"/>
          <p:cNvSpPr txBox="1"/>
          <p:nvPr>
            <p:ph type="ctrTitle"/>
          </p:nvPr>
        </p:nvSpPr>
        <p:spPr>
          <a:xfrm>
            <a:off x="3044700" y="1871674"/>
            <a:ext cx="3054600" cy="110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Detoxify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114"/>
          <p:cNvSpPr txBox="1"/>
          <p:nvPr>
            <p:ph type="title"/>
          </p:nvPr>
        </p:nvSpPr>
        <p:spPr>
          <a:xfrm>
            <a:off x="311700" y="306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com os resultados do Detoxify MISOGINIA</a:t>
            </a:r>
            <a:endParaRPr/>
          </a:p>
        </p:txBody>
      </p:sp>
      <p:pic>
        <p:nvPicPr>
          <p:cNvPr id="728" name="Google Shape;728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0425"/>
            <a:ext cx="8839201" cy="339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5"/>
          <p:cNvSpPr txBox="1"/>
          <p:nvPr>
            <p:ph type="title"/>
          </p:nvPr>
        </p:nvSpPr>
        <p:spPr>
          <a:xfrm>
            <a:off x="311700" y="3067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com os resultados do Detoxify TOXICIDADE</a:t>
            </a:r>
            <a:endParaRPr/>
          </a:p>
        </p:txBody>
      </p:sp>
      <p:pic>
        <p:nvPicPr>
          <p:cNvPr id="734" name="Google Shape;734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90425"/>
            <a:ext cx="8839201" cy="3399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16"/>
          <p:cNvSpPr txBox="1"/>
          <p:nvPr>
            <p:ph type="ctrTitle"/>
          </p:nvPr>
        </p:nvSpPr>
        <p:spPr>
          <a:xfrm>
            <a:off x="2654150" y="1477500"/>
            <a:ext cx="40029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EXTRA: An</a:t>
            </a:r>
            <a:r>
              <a:rPr lang="pt-BR"/>
              <a:t>álise de Autores Comentadores</a:t>
            </a:r>
            <a:endParaRPr/>
          </a:p>
        </p:txBody>
      </p:sp>
      <p:sp>
        <p:nvSpPr>
          <p:cNvPr id="740" name="Google Shape;740;p116"/>
          <p:cNvSpPr txBox="1"/>
          <p:nvPr>
            <p:ph idx="1" type="subTitle"/>
          </p:nvPr>
        </p:nvSpPr>
        <p:spPr>
          <a:xfrm>
            <a:off x="2654150" y="3116575"/>
            <a:ext cx="37452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Link para o notebook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5" name="Google Shape;745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25" y="1085625"/>
            <a:ext cx="5186299" cy="257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3099" y="1085625"/>
            <a:ext cx="3509076" cy="2391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3" name="Google Shape;753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887" y="315925"/>
            <a:ext cx="8612224" cy="42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1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0" name="Google Shape;76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03054"/>
            <a:ext cx="9143999" cy="4537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1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Para saber quando o autor </a:t>
            </a:r>
            <a:r>
              <a:rPr lang="pt-BR"/>
              <a:t>é chamado para conversa</a:t>
            </a:r>
            <a:endParaRPr/>
          </a:p>
        </p:txBody>
      </p:sp>
      <p:sp>
        <p:nvSpPr>
          <p:cNvPr id="766" name="Google Shape;766;p1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 identificação precisa de menções diretas aos proprietários dos canais nos comentários (uso de tags com '@') apresenta limitações técnicas devido à estrutura dos dados coletados. A tabela de canais disponível fornece apenas o atributo </a:t>
            </a:r>
            <a:r>
              <a:rPr lang="pt-BR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`title`</a:t>
            </a:r>
            <a:r>
              <a:rPr lang="pt-BR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(nome de exibição pública), ausentando o campo </a:t>
            </a:r>
            <a:r>
              <a:rPr lang="pt-BR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`handle`</a:t>
            </a:r>
            <a:r>
              <a:rPr lang="pt-BR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(o identificador único e imutável do YouTube, ex: </a:t>
            </a:r>
            <a:r>
              <a:rPr lang="pt-BR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`@nome_do_usuario`</a:t>
            </a:r>
            <a:r>
              <a:rPr lang="pt-BR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). Visto que o </a:t>
            </a:r>
            <a:r>
              <a:rPr lang="pt-BR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`handle`</a:t>
            </a:r>
            <a:r>
              <a:rPr lang="pt-BR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frequentemente difere do título do canal — seja pela remoção de espaços, uso de abreviações ou escolha de nomes distintos pelo criador —, torna-se inviável realizar um cruzamento determinístico entre o texto do comentário e o canal alvo. Consequentemente, a análise de menções baseada apenas na manipulação de strings do título (ex: remoção de espaços) opera como uma estimativa heurística, sujeita a falsos negativos nos casos em que o identificador técnico não possui correlação léxica direta com o nome de exibição.</a:t>
            </a:r>
            <a:endParaRPr sz="1050"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