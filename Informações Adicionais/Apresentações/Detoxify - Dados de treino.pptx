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99bad107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99bad107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954e00c4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954e00c4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954e00c4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954e00c4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54e00c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54e00c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954e00c4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954e00c4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954e00c4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954e00c4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954e00c4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954e00c4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954e00c4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954e00c4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97b594408_1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a97b594408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97b594408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97b594408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a97b594408_1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a97b594408_1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97b594408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a97b594408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97b594408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97b594408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99bad10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a99bad10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97b594408_1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a97b594408_1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3.png"/><Relationship Id="rId11" Type="http://schemas.openxmlformats.org/officeDocument/2006/relationships/image" Target="../media/image13.png"/><Relationship Id="rId10" Type="http://schemas.openxmlformats.org/officeDocument/2006/relationships/image" Target="../media/image14.png"/><Relationship Id="rId12" Type="http://schemas.openxmlformats.org/officeDocument/2006/relationships/image" Target="../media/image9.png"/><Relationship Id="rId9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7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2.png"/><Relationship Id="rId11" Type="http://schemas.openxmlformats.org/officeDocument/2006/relationships/image" Target="../media/image17.png"/><Relationship Id="rId10" Type="http://schemas.openxmlformats.org/officeDocument/2006/relationships/image" Target="../media/image8.png"/><Relationship Id="rId12" Type="http://schemas.openxmlformats.org/officeDocument/2006/relationships/image" Target="../media/image15.png"/><Relationship Id="rId9" Type="http://schemas.openxmlformats.org/officeDocument/2006/relationships/image" Target="../media/image18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4.png"/><Relationship Id="rId11" Type="http://schemas.openxmlformats.org/officeDocument/2006/relationships/image" Target="../media/image27.png"/><Relationship Id="rId10" Type="http://schemas.openxmlformats.org/officeDocument/2006/relationships/image" Target="../media/image23.png"/><Relationship Id="rId12" Type="http://schemas.openxmlformats.org/officeDocument/2006/relationships/image" Target="../media/image28.png"/><Relationship Id="rId9" Type="http://schemas.openxmlformats.org/officeDocument/2006/relationships/image" Target="../media/image26.png"/><Relationship Id="rId5" Type="http://schemas.openxmlformats.org/officeDocument/2006/relationships/image" Target="../media/image22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5.png"/><Relationship Id="rId4" Type="http://schemas.openxmlformats.org/officeDocument/2006/relationships/image" Target="../media/image37.png"/><Relationship Id="rId11" Type="http://schemas.openxmlformats.org/officeDocument/2006/relationships/image" Target="../media/image33.png"/><Relationship Id="rId10" Type="http://schemas.openxmlformats.org/officeDocument/2006/relationships/image" Target="../media/image45.png"/><Relationship Id="rId12" Type="http://schemas.openxmlformats.org/officeDocument/2006/relationships/image" Target="../media/image29.png"/><Relationship Id="rId9" Type="http://schemas.openxmlformats.org/officeDocument/2006/relationships/image" Target="../media/image44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47.png"/><Relationship Id="rId8" Type="http://schemas.openxmlformats.org/officeDocument/2006/relationships/image" Target="../media/image3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Relationship Id="rId4" Type="http://schemas.openxmlformats.org/officeDocument/2006/relationships/image" Target="../media/image46.png"/><Relationship Id="rId11" Type="http://schemas.openxmlformats.org/officeDocument/2006/relationships/image" Target="../media/image65.png"/><Relationship Id="rId10" Type="http://schemas.openxmlformats.org/officeDocument/2006/relationships/image" Target="../media/image48.png"/><Relationship Id="rId12" Type="http://schemas.openxmlformats.org/officeDocument/2006/relationships/image" Target="../media/image42.png"/><Relationship Id="rId9" Type="http://schemas.openxmlformats.org/officeDocument/2006/relationships/image" Target="../media/image52.png"/><Relationship Id="rId5" Type="http://schemas.openxmlformats.org/officeDocument/2006/relationships/image" Target="../media/image36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6.png"/><Relationship Id="rId4" Type="http://schemas.openxmlformats.org/officeDocument/2006/relationships/image" Target="../media/image43.png"/><Relationship Id="rId11" Type="http://schemas.openxmlformats.org/officeDocument/2006/relationships/image" Target="../media/image62.png"/><Relationship Id="rId10" Type="http://schemas.openxmlformats.org/officeDocument/2006/relationships/image" Target="../media/image60.png"/><Relationship Id="rId12" Type="http://schemas.openxmlformats.org/officeDocument/2006/relationships/image" Target="../media/image51.png"/><Relationship Id="rId9" Type="http://schemas.openxmlformats.org/officeDocument/2006/relationships/image" Target="../media/image54.png"/><Relationship Id="rId5" Type="http://schemas.openxmlformats.org/officeDocument/2006/relationships/image" Target="../media/image53.png"/><Relationship Id="rId6" Type="http://schemas.openxmlformats.org/officeDocument/2006/relationships/image" Target="../media/image50.png"/><Relationship Id="rId7" Type="http://schemas.openxmlformats.org/officeDocument/2006/relationships/image" Target="../media/image59.png"/><Relationship Id="rId8" Type="http://schemas.openxmlformats.org/officeDocument/2006/relationships/image" Target="../media/image5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8.png"/><Relationship Id="rId4" Type="http://schemas.openxmlformats.org/officeDocument/2006/relationships/image" Target="../media/image58.png"/><Relationship Id="rId11" Type="http://schemas.openxmlformats.org/officeDocument/2006/relationships/image" Target="../media/image96.png"/><Relationship Id="rId10" Type="http://schemas.openxmlformats.org/officeDocument/2006/relationships/image" Target="../media/image61.png"/><Relationship Id="rId12" Type="http://schemas.openxmlformats.org/officeDocument/2006/relationships/image" Target="../media/image72.png"/><Relationship Id="rId9" Type="http://schemas.openxmlformats.org/officeDocument/2006/relationships/image" Target="../media/image66.png"/><Relationship Id="rId5" Type="http://schemas.openxmlformats.org/officeDocument/2006/relationships/image" Target="../media/image75.png"/><Relationship Id="rId6" Type="http://schemas.openxmlformats.org/officeDocument/2006/relationships/image" Target="../media/image69.png"/><Relationship Id="rId7" Type="http://schemas.openxmlformats.org/officeDocument/2006/relationships/image" Target="../media/image57.png"/><Relationship Id="rId8" Type="http://schemas.openxmlformats.org/officeDocument/2006/relationships/image" Target="../media/image7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4.png"/><Relationship Id="rId4" Type="http://schemas.openxmlformats.org/officeDocument/2006/relationships/image" Target="../media/image64.png"/><Relationship Id="rId11" Type="http://schemas.openxmlformats.org/officeDocument/2006/relationships/image" Target="../media/image81.png"/><Relationship Id="rId10" Type="http://schemas.openxmlformats.org/officeDocument/2006/relationships/image" Target="../media/image79.png"/><Relationship Id="rId12" Type="http://schemas.openxmlformats.org/officeDocument/2006/relationships/image" Target="../media/image78.png"/><Relationship Id="rId9" Type="http://schemas.openxmlformats.org/officeDocument/2006/relationships/image" Target="../media/image83.png"/><Relationship Id="rId5" Type="http://schemas.openxmlformats.org/officeDocument/2006/relationships/image" Target="../media/image71.png"/><Relationship Id="rId6" Type="http://schemas.openxmlformats.org/officeDocument/2006/relationships/image" Target="../media/image63.png"/><Relationship Id="rId7" Type="http://schemas.openxmlformats.org/officeDocument/2006/relationships/image" Target="../media/image67.png"/><Relationship Id="rId8" Type="http://schemas.openxmlformats.org/officeDocument/2006/relationships/image" Target="../media/image9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6.png"/><Relationship Id="rId4" Type="http://schemas.openxmlformats.org/officeDocument/2006/relationships/image" Target="../media/image73.png"/><Relationship Id="rId11" Type="http://schemas.openxmlformats.org/officeDocument/2006/relationships/image" Target="../media/image85.png"/><Relationship Id="rId10" Type="http://schemas.openxmlformats.org/officeDocument/2006/relationships/image" Target="../media/image77.png"/><Relationship Id="rId12" Type="http://schemas.openxmlformats.org/officeDocument/2006/relationships/image" Target="../media/image95.png"/><Relationship Id="rId9" Type="http://schemas.openxmlformats.org/officeDocument/2006/relationships/image" Target="../media/image84.png"/><Relationship Id="rId5" Type="http://schemas.openxmlformats.org/officeDocument/2006/relationships/image" Target="../media/image82.png"/><Relationship Id="rId6" Type="http://schemas.openxmlformats.org/officeDocument/2006/relationships/image" Target="../media/image91.png"/><Relationship Id="rId7" Type="http://schemas.openxmlformats.org/officeDocument/2006/relationships/image" Target="../media/image80.png"/><Relationship Id="rId8" Type="http://schemas.openxmlformats.org/officeDocument/2006/relationships/image" Target="../media/image9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8.png"/><Relationship Id="rId4" Type="http://schemas.openxmlformats.org/officeDocument/2006/relationships/image" Target="../media/image86.png"/><Relationship Id="rId11" Type="http://schemas.openxmlformats.org/officeDocument/2006/relationships/image" Target="../media/image100.png"/><Relationship Id="rId10" Type="http://schemas.openxmlformats.org/officeDocument/2006/relationships/image" Target="../media/image98.png"/><Relationship Id="rId12" Type="http://schemas.openxmlformats.org/officeDocument/2006/relationships/image" Target="../media/image94.png"/><Relationship Id="rId9" Type="http://schemas.openxmlformats.org/officeDocument/2006/relationships/image" Target="../media/image93.png"/><Relationship Id="rId5" Type="http://schemas.openxmlformats.org/officeDocument/2006/relationships/image" Target="../media/image101.png"/><Relationship Id="rId6" Type="http://schemas.openxmlformats.org/officeDocument/2006/relationships/image" Target="../media/image87.png"/><Relationship Id="rId7" Type="http://schemas.openxmlformats.org/officeDocument/2006/relationships/image" Target="../media/image92.png"/><Relationship Id="rId8" Type="http://schemas.openxmlformats.org/officeDocument/2006/relationships/image" Target="../media/image9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Detoxify - Dados de treino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277500" y="720150"/>
            <a:ext cx="8589000" cy="29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2"/>
                </a:solidFill>
              </a:rPr>
              <a:t>Os slides a seguir mostram os experimentos realizados nos treinos.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pt-BR" sz="2000">
                <a:solidFill>
                  <a:schemeClr val="dk2"/>
                </a:solidFill>
              </a:rPr>
              <a:t>A cada rodada, usamos um fold diferente como teste, os outros como treino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pt-BR" sz="2000">
                <a:solidFill>
                  <a:schemeClr val="dk2"/>
                </a:solidFill>
              </a:rPr>
              <a:t>Primeiro apresentamos os resultados para misoginia, depois para toxicidade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pt-BR" sz="2000">
                <a:solidFill>
                  <a:schemeClr val="dk2"/>
                </a:solidFill>
              </a:rPr>
              <a:t>Os F1 de cada threshold são apresentados no título do gráfico, que é estruturado da seguinte forma:</a:t>
            </a:r>
            <a:endParaRPr sz="20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TREINO: {TAREFA} | {Num do Fold de Teste} | Thresh | F1 | 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MISOGINIA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64568"/>
            <a:ext cx="1827130" cy="1454213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6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2, 3, 4 e 5 (Fold 1 é teste)</a:t>
            </a:r>
            <a:endParaRPr sz="2120"/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6502" y="1364565"/>
            <a:ext cx="1827130" cy="1454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4070" y="1364568"/>
            <a:ext cx="1827130" cy="1454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85570" y="1364553"/>
            <a:ext cx="1827130" cy="1454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6859" y="1364568"/>
            <a:ext cx="1827130" cy="1454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2818781"/>
            <a:ext cx="1827130" cy="1454233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1700" y="609650"/>
            <a:ext cx="86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73,3 % (1181) não misógino e 26,7 % (430) misógino - N = 1611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27141" y="2818781"/>
            <a:ext cx="1827130" cy="1454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58430" y="2818809"/>
            <a:ext cx="1827130" cy="1454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85570" y="2818811"/>
            <a:ext cx="1827130" cy="145424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66075" y="2818825"/>
            <a:ext cx="1777925" cy="1415091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6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1, 3, 4 e 5 (Fold 2 </a:t>
            </a:r>
            <a:r>
              <a:rPr lang="pt-BR" sz="2120"/>
              <a:t>é teste</a:t>
            </a:r>
            <a:r>
              <a:rPr lang="pt-BR" sz="2120"/>
              <a:t>)</a:t>
            </a:r>
            <a:endParaRPr sz="2120"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37" y="1294200"/>
            <a:ext cx="1828975" cy="14557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62916" y="1294211"/>
            <a:ext cx="1828975" cy="14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1695" y="1294200"/>
            <a:ext cx="1828975" cy="1455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0491" y="1294200"/>
            <a:ext cx="1738602" cy="138378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08916" y="1294200"/>
            <a:ext cx="1738602" cy="1383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3525" y="2838650"/>
            <a:ext cx="1828975" cy="1455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62925" y="2838650"/>
            <a:ext cx="1828975" cy="145572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7"/>
          <p:cNvSpPr txBox="1"/>
          <p:nvPr/>
        </p:nvSpPr>
        <p:spPr>
          <a:xfrm>
            <a:off x="311700" y="609650"/>
            <a:ext cx="86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73,3 % (1181) não misógino e 26,7 % (430) misógino - N = 1611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86888" y="2874616"/>
            <a:ext cx="1738600" cy="13837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20475" y="2838650"/>
            <a:ext cx="1738575" cy="1383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54050" y="2838650"/>
            <a:ext cx="1689950" cy="134504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1, 2, 4 e 5 (Fold 3 é teste)</a:t>
            </a:r>
            <a:endParaRPr sz="2120"/>
          </a:p>
        </p:txBody>
      </p:sp>
      <p:sp>
        <p:nvSpPr>
          <p:cNvPr id="104" name="Google Shape;104;p18"/>
          <p:cNvSpPr txBox="1"/>
          <p:nvPr/>
        </p:nvSpPr>
        <p:spPr>
          <a:xfrm>
            <a:off x="311700" y="609650"/>
            <a:ext cx="7628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73,3 % (1181) não misógino e 26,7 % (</a:t>
            </a:r>
            <a:r>
              <a:rPr lang="pt-BR" sz="1800">
                <a:solidFill>
                  <a:schemeClr val="dk2"/>
                </a:solidFill>
              </a:rPr>
              <a:t>430</a:t>
            </a:r>
            <a:r>
              <a:rPr lang="pt-BR" sz="1800">
                <a:solidFill>
                  <a:schemeClr val="dk2"/>
                </a:solidFill>
              </a:rPr>
              <a:t>) misógino - N = 1611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36863" y="1614388"/>
            <a:ext cx="1796378" cy="142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9763" y="1636450"/>
            <a:ext cx="1872550" cy="1490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47613" y="1666763"/>
            <a:ext cx="1796376" cy="142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46275" y="3228049"/>
            <a:ext cx="1796376" cy="14297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98450" y="3228049"/>
            <a:ext cx="1740950" cy="13856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6325" y="3228049"/>
            <a:ext cx="1740950" cy="13856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474200" y="3228049"/>
            <a:ext cx="1740950" cy="1385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075" y="1614387"/>
            <a:ext cx="1796376" cy="14297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312075" y="3231500"/>
            <a:ext cx="1796376" cy="142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67200" y="1614412"/>
            <a:ext cx="1796376" cy="1429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1, 2, 3 e 5 (Fold 4 é teste)</a:t>
            </a:r>
            <a:endParaRPr sz="2120"/>
          </a:p>
        </p:txBody>
      </p:sp>
      <p:sp>
        <p:nvSpPr>
          <p:cNvPr id="121" name="Google Shape;121;p19"/>
          <p:cNvSpPr txBox="1"/>
          <p:nvPr/>
        </p:nvSpPr>
        <p:spPr>
          <a:xfrm>
            <a:off x="311700" y="609650"/>
            <a:ext cx="729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73,25 % (1180) não misógino e 26,75 % (431) misógino </a:t>
            </a:r>
            <a:r>
              <a:rPr lang="pt-BR" sz="1800">
                <a:solidFill>
                  <a:schemeClr val="dk2"/>
                </a:solidFill>
              </a:rPr>
              <a:t>- N = 1611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2" name="Google Shape;12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0700"/>
            <a:ext cx="1774869" cy="1412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39877" y="1250000"/>
            <a:ext cx="1774869" cy="141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9754" y="1250700"/>
            <a:ext cx="1774869" cy="141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19631" y="1250700"/>
            <a:ext cx="1774869" cy="1412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59500" y="1250700"/>
            <a:ext cx="1774876" cy="1412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2841290"/>
            <a:ext cx="1782746" cy="1418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40806" y="2841290"/>
            <a:ext cx="1782746" cy="141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937398" y="2841290"/>
            <a:ext cx="1719779" cy="1368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704447" y="2841290"/>
            <a:ext cx="1719789" cy="1368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24235" y="2841300"/>
            <a:ext cx="1719764" cy="1368784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9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1, 2, 3 e 4 (Fold 5 é teste)</a:t>
            </a:r>
            <a:endParaRPr sz="2120"/>
          </a:p>
        </p:txBody>
      </p:sp>
      <p:sp>
        <p:nvSpPr>
          <p:cNvPr id="138" name="Google Shape;138;p20"/>
          <p:cNvSpPr txBox="1"/>
          <p:nvPr/>
        </p:nvSpPr>
        <p:spPr>
          <a:xfrm>
            <a:off x="311700" y="609650"/>
            <a:ext cx="751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73,3 % (1181) não misógino e 26,7 % (431) misógino -</a:t>
            </a:r>
            <a:r>
              <a:rPr lang="pt-BR" sz="1800">
                <a:solidFill>
                  <a:schemeClr val="dk2"/>
                </a:solidFill>
              </a:rPr>
              <a:t> N = 1612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9" name="Google Shape;13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08275"/>
            <a:ext cx="1770409" cy="1409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3398" y="1208275"/>
            <a:ext cx="1770409" cy="140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86795" y="1208275"/>
            <a:ext cx="1770409" cy="140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30193" y="1208275"/>
            <a:ext cx="1770409" cy="140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73591" y="1208275"/>
            <a:ext cx="1770409" cy="1409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2703225"/>
            <a:ext cx="1770399" cy="1409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43400" y="2703225"/>
            <a:ext cx="1770399" cy="140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86800" y="2703225"/>
            <a:ext cx="1770399" cy="1409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30200" y="2703225"/>
            <a:ext cx="1712300" cy="136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15500" y="2680113"/>
            <a:ext cx="1770399" cy="1409087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0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TOXICIDADE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2, 3, 4 e 5 (Fold 1 é teste)</a:t>
            </a:r>
            <a:endParaRPr sz="2120"/>
          </a:p>
        </p:txBody>
      </p:sp>
      <p:sp>
        <p:nvSpPr>
          <p:cNvPr id="160" name="Google Shape;160;p22"/>
          <p:cNvSpPr txBox="1"/>
          <p:nvPr/>
        </p:nvSpPr>
        <p:spPr>
          <a:xfrm>
            <a:off x="311700" y="609650"/>
            <a:ext cx="86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58</a:t>
            </a:r>
            <a:r>
              <a:rPr lang="pt-BR" sz="1800">
                <a:solidFill>
                  <a:schemeClr val="dk2"/>
                </a:solidFill>
              </a:rPr>
              <a:t>,29 % (939) não tóxico e 41,71 % (672) tóxico - N = 1611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85450"/>
            <a:ext cx="1799227" cy="1417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2376" y="1185450"/>
            <a:ext cx="1799227" cy="14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1617" y="1185450"/>
            <a:ext cx="1799227" cy="1417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40858" y="1185450"/>
            <a:ext cx="1799227" cy="1417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283250" y="1185450"/>
            <a:ext cx="1799225" cy="141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2717125"/>
            <a:ext cx="1799225" cy="1417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42375" y="2717125"/>
            <a:ext cx="1799225" cy="1417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70802" y="2717125"/>
            <a:ext cx="1716698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16700" y="2717127"/>
            <a:ext cx="1799225" cy="141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15924" y="2749638"/>
            <a:ext cx="1716700" cy="135254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1, 3, 4 e 5 (Fold 2 é teste)</a:t>
            </a:r>
            <a:endParaRPr sz="2120"/>
          </a:p>
        </p:txBody>
      </p:sp>
      <p:pic>
        <p:nvPicPr>
          <p:cNvPr id="177" name="Google Shape;17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50700"/>
            <a:ext cx="1778671" cy="140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21772" y="1250700"/>
            <a:ext cx="1778671" cy="140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59076" y="1250700"/>
            <a:ext cx="1778681" cy="140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540276" y="1250700"/>
            <a:ext cx="1778671" cy="1401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65328" y="1250700"/>
            <a:ext cx="1778671" cy="1401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2984250"/>
            <a:ext cx="1778675" cy="140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75625" y="2984250"/>
            <a:ext cx="1778675" cy="1401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1250" y="2984250"/>
            <a:ext cx="1778675" cy="1401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626875" y="2984250"/>
            <a:ext cx="1692075" cy="133314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311700" y="609650"/>
            <a:ext cx="86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58,29 % (939) não tóxico e 41,71 % (672) tóxico - N = 1611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87" name="Google Shape;187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65323" y="2831425"/>
            <a:ext cx="1778675" cy="140138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1, 2, 4 e 5 (Fold 3 é teste)</a:t>
            </a:r>
            <a:endParaRPr sz="2120"/>
          </a:p>
        </p:txBody>
      </p:sp>
      <p:pic>
        <p:nvPicPr>
          <p:cNvPr id="194" name="Google Shape;19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000" y="1583450"/>
            <a:ext cx="1792767" cy="1412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8221" y="1583450"/>
            <a:ext cx="1792767" cy="1412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29314" y="1583450"/>
            <a:ext cx="1792767" cy="14124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0402" y="1583450"/>
            <a:ext cx="1792767" cy="1412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11490" y="1596490"/>
            <a:ext cx="1759661" cy="1386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11000" y="3181700"/>
            <a:ext cx="1792787" cy="1412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781788" y="3181700"/>
            <a:ext cx="1792787" cy="141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20623" y="3181700"/>
            <a:ext cx="1792787" cy="14124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459458" y="3181700"/>
            <a:ext cx="1792787" cy="141249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4"/>
          <p:cNvSpPr txBox="1"/>
          <p:nvPr/>
        </p:nvSpPr>
        <p:spPr>
          <a:xfrm>
            <a:off x="311700" y="609650"/>
            <a:ext cx="86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58,29 % (939) não tóxico e 41,71 % (672) tóxico - N = 1611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04" name="Google Shape;204;p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298292" y="3083850"/>
            <a:ext cx="1856700" cy="146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1, 2, 3 e 5 (Fold 4 é teste)</a:t>
            </a:r>
            <a:endParaRPr sz="2120"/>
          </a:p>
        </p:txBody>
      </p:sp>
      <p:pic>
        <p:nvPicPr>
          <p:cNvPr id="211" name="Google Shape;2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6775"/>
            <a:ext cx="1795298" cy="14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2411" y="1546775"/>
            <a:ext cx="1795301" cy="14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7709" y="1546775"/>
            <a:ext cx="1795298" cy="1414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8205" y="1546775"/>
            <a:ext cx="1795298" cy="14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48701" y="1546775"/>
            <a:ext cx="1795298" cy="1414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3075325"/>
            <a:ext cx="1795303" cy="14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52401" y="3075325"/>
            <a:ext cx="1795299" cy="1414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0900" y="3075325"/>
            <a:ext cx="1795299" cy="1414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46200" y="3119300"/>
            <a:ext cx="1739476" cy="137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5"/>
          <p:cNvSpPr txBox="1"/>
          <p:nvPr/>
        </p:nvSpPr>
        <p:spPr>
          <a:xfrm>
            <a:off x="311700" y="609650"/>
            <a:ext cx="86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58,29 % (939) não tóxico e 41,71 % (672) tóxico - N = 1611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21" name="Google Shape;221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48702" y="3075325"/>
            <a:ext cx="1739475" cy="1370483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5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Treino =  1, 2, 3 e 4 (Fold 5 é teste)</a:t>
            </a:r>
            <a:endParaRPr sz="2120"/>
          </a:p>
        </p:txBody>
      </p:sp>
      <p:pic>
        <p:nvPicPr>
          <p:cNvPr id="228" name="Google Shape;22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42475"/>
            <a:ext cx="1791961" cy="14118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1966" y="1542475"/>
            <a:ext cx="1791961" cy="141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45322" y="1542475"/>
            <a:ext cx="1791961" cy="141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98678" y="1542475"/>
            <a:ext cx="1791961" cy="1411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52034" y="1542475"/>
            <a:ext cx="1791961" cy="141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3042875"/>
            <a:ext cx="1824180" cy="1437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2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54627" y="3042875"/>
            <a:ext cx="1764103" cy="138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49177" y="3042875"/>
            <a:ext cx="1764129" cy="13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514535" y="3042875"/>
            <a:ext cx="1764103" cy="138990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6"/>
          <p:cNvSpPr txBox="1"/>
          <p:nvPr/>
        </p:nvSpPr>
        <p:spPr>
          <a:xfrm>
            <a:off x="311700" y="609650"/>
            <a:ext cx="86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58,31 % (940) não tóxico e 41,68 % (672) tóxico - N = 1612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379869" y="3042875"/>
            <a:ext cx="1764129" cy="1389921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 txBox="1"/>
          <p:nvPr/>
        </p:nvSpPr>
        <p:spPr>
          <a:xfrm>
            <a:off x="4661800" y="4765950"/>
            <a:ext cx="3625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2"/>
                </a:solidFill>
              </a:rPr>
              <a:t>Threshold usado no Teste: 0.1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7"/>
          <p:cNvSpPr txBox="1"/>
          <p:nvPr>
            <p:ph type="ctrTitle"/>
          </p:nvPr>
        </p:nvSpPr>
        <p:spPr>
          <a:xfrm>
            <a:off x="311700" y="744575"/>
            <a:ext cx="8520600" cy="37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Detoxify - Dados de teste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/>
              <a:t>O slide a seguir apresenta o resumo dos resultados dos TESTES, usando o Threshold escolhido a cada rodada (de acordo com o que foi apresentado anteriormente). </a:t>
            </a:r>
            <a:endParaRPr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/>
          <p:nvPr>
            <p:ph idx="4294967295" type="ctrTitle"/>
          </p:nvPr>
        </p:nvSpPr>
        <p:spPr>
          <a:xfrm>
            <a:off x="311700" y="237925"/>
            <a:ext cx="8520600" cy="57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120"/>
              <a:t>Resumo dos Resultados nos TESTES</a:t>
            </a:r>
            <a:endParaRPr sz="2120"/>
          </a:p>
        </p:txBody>
      </p:sp>
      <p:pic>
        <p:nvPicPr>
          <p:cNvPr id="250" name="Google Shape;25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988" y="978375"/>
            <a:ext cx="4772025" cy="36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