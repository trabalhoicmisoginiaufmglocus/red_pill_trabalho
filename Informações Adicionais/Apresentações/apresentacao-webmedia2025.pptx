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5"/>
    <p:sldMasterId id="214748366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y="5143500" cx="9144000"/>
  <p:notesSz cx="6858000" cy="9144000"/>
  <p:embeddedFontLst>
    <p:embeddedFont>
      <p:font typeface="Raleway"/>
      <p:regular r:id="rId42"/>
      <p:bold r:id="rId43"/>
      <p:italic r:id="rId44"/>
      <p:boldItalic r:id="rId45"/>
    </p:embeddedFont>
    <p:embeddedFont>
      <p:font typeface="Lato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4503F5C-80F8-44D6-B35D-53C58740D66D}">
  <a:tblStyle styleId="{E4503F5C-80F8-44D6-B35D-53C58740D66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font" Target="fonts/Raleway-regular.fntdata"/><Relationship Id="rId41" Type="http://schemas.openxmlformats.org/officeDocument/2006/relationships/slide" Target="slides/slide34.xml"/><Relationship Id="rId44" Type="http://schemas.openxmlformats.org/officeDocument/2006/relationships/font" Target="fonts/Raleway-italic.fntdata"/><Relationship Id="rId43" Type="http://schemas.openxmlformats.org/officeDocument/2006/relationships/font" Target="fonts/Raleway-bold.fntdata"/><Relationship Id="rId46" Type="http://schemas.openxmlformats.org/officeDocument/2006/relationships/font" Target="fonts/Lato-regular.fntdata"/><Relationship Id="rId45" Type="http://schemas.openxmlformats.org/officeDocument/2006/relationships/font" Target="fonts/Raleway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Lato-italic.fntdata"/><Relationship Id="rId47" Type="http://schemas.openxmlformats.org/officeDocument/2006/relationships/font" Target="fonts/Lato-bold.fntdata"/><Relationship Id="rId49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lor.adobe.com/search?q=Plum%2C%20Orange%2C%20Teal%20%26%20Grey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48082068ab_1_9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48082068ab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</a:rPr>
              <a:t>Hello, everyone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</a:rPr>
              <a:t>First of all, I would like to thank all committee for accepting our invitation to be part of this process.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</a:rPr>
              <a:t>Also, my advisors. The Professors Jussara and Marco Mellia.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</a:rPr>
              <a:t>Well, our work is entitled of Modeling and Analyzing Collective Behavior Captured by Many-to-Many Networks. 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400"/>
              <a:t>https://www.shutterstock.com/search/complex+networks?pl=PPC_GOO_BR_IG-335434092719&amp;cr=ec&amp;kw=buy+images&amp;c3apidt=p52459908550&amp;gclid=EAIaIQobChMIjY7E9r3H7wIVgw2RCh0YiwboEAAYASAAEgLlW_D_BwE&amp;gclsrc=aw.ds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https://color.adobe.com/search?q=Plum%2C%20Orange%2C%20Teal%20%26%20Grey</a:t>
            </a:r>
            <a:r>
              <a:rPr lang="pt-BR"/>
              <a:t>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5b86eab86c_0_14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5b86eab86c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5b6b46e3c3_0_51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5b6b46e3c3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5b6b46e3c3_0_103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5b6b46e3c3_0_10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0acc5449a9_0_18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0acc5449a9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0acc5449a9_0_1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0acc5449a9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0acc5449a9_0_1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0acc5449a9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0acc5449a9_0_10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0acc5449a9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d438e6f5b8_0_4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d438e6f5b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d438e6f5b8_0_1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d438e6f5b8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d438e6f5b8_0_18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d438e6f5b8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0acc5449a9_0_28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0acc5449a9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0acc5449a9_0_29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0acc5449a9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0acc5449a9_0_3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0acc5449a9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0acc5449a9_0_32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0acc5449a9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d438e6f5b8_0_2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2d438e6f5b8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0acc5449a9_0_33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0acc5449a9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d438e6f5b8_0_2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2d438e6f5b8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d438e6f5b8_0_2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d438e6f5b8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d438e6f5b8_0_26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2d438e6f5b8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d438e6f5b8_0_27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2d438e6f5b8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0acc5449a9_0_50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0acc5449a9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Selecionar para uma data apenas, mostrar a distribuição,  uma CDF de volume e de tempo fazendo transições e colocando frases pontuais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</a:pPr>
            <a:r>
              <a:rPr lang="pt-BR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Fala que todas as análises estão no artigo de todos os cenários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0b4a6974ef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0b4a6974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Selecionar para uma data apenas, mostrar a distribuição,  uma CDF de volume e de tempo fazendo transições e colocando frases pontuais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</a:pPr>
            <a:r>
              <a:rPr lang="pt-BR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Fala que todas as análises estão no artigo de todos os cenários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d438e6f5b8_0_28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2d438e6f5b8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Selecionar para uma data apenas, mostrar a distribuição,  uma CDF de volume e de tempo fazendo transições e colocando frases pontuais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</a:pPr>
            <a:r>
              <a:rPr lang="pt-BR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Fala que todas as análises estão no artigo de todos os cenários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0acc5449a9_0_34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0acc5449a9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d438e6f5b8_0_30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2d438e6f5b8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d438e6f5b8_0_32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2d438e6f5b8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2d438e6f5b8_0_34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2d438e6f5b8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0acc5449a9_0_34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0acc5449a9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TO DO: 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Selecionar para uma data apenas, mostrar a distribuição,  uma CDF de volume e de tempo fazendo transições e colocando frases pontuais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ato"/>
              <a:buChar char="●"/>
            </a:pPr>
            <a:r>
              <a:rPr lang="pt-BR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Fala que todas as análises estão no artigo de todos os cenários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Tomar muito cuidado com print screen. Olhei na outra apresentação e está com qualidade baixa. Pegar o PDF do artigo, da um zoom máximo e tirar o print da tela cheia.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0b4a6974ef_0_1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0b4a6974e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TO DO: 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Selecionar para uma data apenas, mostrar a distribuição,  uma CDF de volume e de tempo fazendo transições e colocando frases pontuais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ato"/>
              <a:buChar char="●"/>
            </a:pPr>
            <a:r>
              <a:rPr lang="pt-BR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Fala que todas as análises estão no artigo de todos os cenários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Tomar muito cuidado com print screen. Olhei na outra apresentação e está com qualidade baixa. Pegar o PDF do artigo, da um zoom máximo e tirar o print da tela cheia.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d438e6f5b8_0_37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2d438e6f5b8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TO DO: 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Selecionar para uma data apenas, mostrar a distribuição,  uma CDF de volume e de tempo fazendo transições e colocando frases pontuais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Lato"/>
              <a:buChar char="●"/>
            </a:pPr>
            <a:r>
              <a:rPr lang="pt-BR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Fala que todas as análises estão no artigo de todos os cenários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Tomar muito cuidado com print screen. Olhei na outra apresentação e está com qualidade baixa. Pegar o PDF do artigo, da um zoom máximo e tirar o print da tela cheia.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0acc5449a9_0_51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0acc5449a9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0acc5449a9_0_5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0acc5449a9_0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25b86eab86c_0_1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25b86eab86c_0_1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721425" y="2838935"/>
            <a:ext cx="5216700" cy="1159800"/>
          </a:xfrm>
          <a:prstGeom prst="rect">
            <a:avLst/>
          </a:prstGeom>
          <a:ln cap="flat" cmpd="sng" w="9525">
            <a:solidFill>
              <a:srgbClr val="2641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64193"/>
              </a:buClr>
              <a:buSzPts val="4800"/>
              <a:buNone/>
              <a:defRPr sz="4800">
                <a:solidFill>
                  <a:srgbClr val="26419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None/>
              <a:defRPr sz="4800">
                <a:solidFill>
                  <a:srgbClr val="2185C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None/>
              <a:defRPr sz="4800">
                <a:solidFill>
                  <a:srgbClr val="2185C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None/>
              <a:defRPr sz="4800">
                <a:solidFill>
                  <a:srgbClr val="2185C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None/>
              <a:defRPr sz="4800">
                <a:solidFill>
                  <a:srgbClr val="2185C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None/>
              <a:defRPr sz="4800">
                <a:solidFill>
                  <a:srgbClr val="2185C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None/>
              <a:defRPr sz="4800">
                <a:solidFill>
                  <a:srgbClr val="2185C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None/>
              <a:defRPr sz="4800">
                <a:solidFill>
                  <a:srgbClr val="2185C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800"/>
              <a:buNone/>
              <a:defRPr sz="4800">
                <a:solidFill>
                  <a:srgbClr val="2185C5"/>
                </a:solidFill>
              </a:defRPr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>
            <a:off x="6142018" y="2533185"/>
            <a:ext cx="1889100" cy="77100"/>
          </a:xfrm>
          <a:prstGeom prst="rect">
            <a:avLst/>
          </a:prstGeom>
          <a:solidFill>
            <a:srgbClr val="2B6A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/>
          <p:nvPr/>
        </p:nvSpPr>
        <p:spPr>
          <a:xfrm>
            <a:off x="0" y="2533163"/>
            <a:ext cx="524700" cy="77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524700" y="2533175"/>
            <a:ext cx="5617200" cy="77100"/>
          </a:xfrm>
          <a:prstGeom prst="rect">
            <a:avLst/>
          </a:prstGeom>
          <a:solidFill>
            <a:srgbClr val="B80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/>
          <p:nvPr/>
        </p:nvSpPr>
        <p:spPr>
          <a:xfrm>
            <a:off x="0" y="0"/>
            <a:ext cx="9144000" cy="39930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5"/>
          <p:cNvSpPr txBox="1"/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3" name="Google Shape;63;p15"/>
          <p:cNvSpPr/>
          <p:nvPr/>
        </p:nvSpPr>
        <p:spPr>
          <a:xfrm>
            <a:off x="3047704" y="3992850"/>
            <a:ext cx="3047700" cy="771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6096271" y="3992850"/>
            <a:ext cx="3047700" cy="771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/>
          <p:nvPr/>
        </p:nvSpPr>
        <p:spPr>
          <a:xfrm>
            <a:off x="1" y="3992850"/>
            <a:ext cx="3047700" cy="771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-125" y="4830281"/>
            <a:ext cx="91440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/>
            </a:lvl1pPr>
            <a:lvl2pPr lvl="1" rtl="0" algn="ctr">
              <a:buNone/>
              <a:defRPr/>
            </a:lvl2pPr>
            <a:lvl3pPr lvl="2" rtl="0" algn="ctr">
              <a:buNone/>
              <a:defRPr/>
            </a:lvl3pPr>
            <a:lvl4pPr lvl="3" rtl="0" algn="ctr">
              <a:buNone/>
              <a:defRPr/>
            </a:lvl4pPr>
            <a:lvl5pPr lvl="4" rtl="0" algn="ctr">
              <a:buNone/>
              <a:defRPr/>
            </a:lvl5pPr>
            <a:lvl6pPr lvl="5" rtl="0" algn="ctr">
              <a:buNone/>
              <a:defRPr/>
            </a:lvl6pPr>
            <a:lvl7pPr lvl="6" rtl="0" algn="ctr">
              <a:buNone/>
              <a:defRPr/>
            </a:lvl7pPr>
            <a:lvl8pPr lvl="7" rtl="0" algn="ctr">
              <a:buNone/>
              <a:defRPr/>
            </a:lvl8pPr>
            <a:lvl9pPr lvl="8" rtl="0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1710425" y="2161800"/>
            <a:ext cx="5723700" cy="8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ctr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000"/>
              <a:buChar char="▷"/>
              <a:defRPr i="1">
                <a:solidFill>
                  <a:srgbClr val="000000"/>
                </a:solidFill>
              </a:defRPr>
            </a:lvl1pPr>
            <a:lvl2pPr indent="-381000" lvl="1" marL="9144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○"/>
              <a:defRPr i="1">
                <a:solidFill>
                  <a:srgbClr val="000000"/>
                </a:solidFill>
              </a:defRPr>
            </a:lvl2pPr>
            <a:lvl3pPr indent="-381000" lvl="2" marL="13716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■"/>
              <a:defRPr i="1">
                <a:solidFill>
                  <a:srgbClr val="000000"/>
                </a:solidFill>
              </a:defRPr>
            </a:lvl3pPr>
            <a:lvl4pPr indent="-342900" lvl="3" marL="18288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 i="1">
                <a:solidFill>
                  <a:srgbClr val="000000"/>
                </a:solidFill>
              </a:defRPr>
            </a:lvl4pPr>
            <a:lvl5pPr indent="-342900" lvl="4" marL="22860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 i="1">
                <a:solidFill>
                  <a:srgbClr val="000000"/>
                </a:solidFill>
              </a:defRPr>
            </a:lvl5pPr>
            <a:lvl6pPr indent="-342900" lvl="5" marL="27432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 i="1">
                <a:solidFill>
                  <a:srgbClr val="000000"/>
                </a:solidFill>
              </a:defRPr>
            </a:lvl6pPr>
            <a:lvl7pPr indent="-342900" lvl="6" marL="32004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 i="1">
                <a:solidFill>
                  <a:srgbClr val="000000"/>
                </a:solidFill>
              </a:defRPr>
            </a:lvl7pPr>
            <a:lvl8pPr indent="-342900" lvl="7" marL="36576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 i="1">
                <a:solidFill>
                  <a:srgbClr val="000000"/>
                </a:solidFill>
              </a:defRPr>
            </a:lvl8pPr>
            <a:lvl9pPr indent="-342900" lvl="8" marL="41148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 i="1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9" name="Google Shape;69;p16"/>
          <p:cNvSpPr txBox="1"/>
          <p:nvPr/>
        </p:nvSpPr>
        <p:spPr>
          <a:xfrm>
            <a:off x="3593400" y="118141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600">
                <a:solidFill>
                  <a:srgbClr val="97ABBC"/>
                </a:solidFill>
              </a:rPr>
              <a:t>“</a:t>
            </a:r>
            <a:endParaRPr b="1" sz="9600">
              <a:solidFill>
                <a:srgbClr val="97ABBC"/>
              </a:solidFill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5723283" y="1599675"/>
            <a:ext cx="1710300" cy="771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6"/>
          <p:cNvSpPr/>
          <p:nvPr/>
        </p:nvSpPr>
        <p:spPr>
          <a:xfrm>
            <a:off x="7434177" y="1599675"/>
            <a:ext cx="1710300" cy="77100"/>
          </a:xfrm>
          <a:prstGeom prst="rect">
            <a:avLst/>
          </a:prstGeom>
          <a:solidFill>
            <a:srgbClr val="F202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/>
          <p:nvPr/>
        </p:nvSpPr>
        <p:spPr>
          <a:xfrm>
            <a:off x="0" y="1599675"/>
            <a:ext cx="1710300" cy="77100"/>
          </a:xfrm>
          <a:prstGeom prst="rect">
            <a:avLst/>
          </a:prstGeom>
          <a:solidFill>
            <a:srgbClr val="7ECE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/>
          <p:nvPr/>
        </p:nvSpPr>
        <p:spPr>
          <a:xfrm>
            <a:off x="1710425" y="1599675"/>
            <a:ext cx="1710300" cy="77100"/>
          </a:xfrm>
          <a:prstGeom prst="rect">
            <a:avLst/>
          </a:prstGeom>
          <a:solidFill>
            <a:srgbClr val="2185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-125" y="4830281"/>
            <a:ext cx="91440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/>
            </a:lvl1pPr>
            <a:lvl2pPr lvl="1" rtl="0" algn="ctr">
              <a:buNone/>
              <a:defRPr/>
            </a:lvl2pPr>
            <a:lvl3pPr lvl="2" rtl="0" algn="ctr">
              <a:buNone/>
              <a:defRPr/>
            </a:lvl3pPr>
            <a:lvl4pPr lvl="3" rtl="0" algn="ctr">
              <a:buNone/>
              <a:defRPr/>
            </a:lvl4pPr>
            <a:lvl5pPr lvl="4" rtl="0" algn="ctr">
              <a:buNone/>
              <a:defRPr/>
            </a:lvl5pPr>
            <a:lvl6pPr lvl="5" rtl="0" algn="ctr">
              <a:buNone/>
              <a:defRPr/>
            </a:lvl6pPr>
            <a:lvl7pPr lvl="6" rtl="0" algn="ctr">
              <a:buNone/>
              <a:defRPr/>
            </a:lvl7pPr>
            <a:lvl8pPr lvl="7" rtl="0" algn="ctr">
              <a:buNone/>
              <a:defRPr/>
            </a:lvl8pPr>
            <a:lvl9pPr lvl="8" rtl="0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524700" y="205988"/>
            <a:ext cx="6831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1B62"/>
              </a:buClr>
              <a:buSzPts val="3600"/>
              <a:buNone/>
              <a:defRPr>
                <a:solidFill>
                  <a:srgbClr val="001B6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524700" y="1373588"/>
            <a:ext cx="6831600" cy="35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000"/>
              <a:buChar char="▷"/>
              <a:defRPr>
                <a:solidFill>
                  <a:srgbClr val="000000"/>
                </a:solidFill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○"/>
              <a:defRPr>
                <a:solidFill>
                  <a:srgbClr val="000000"/>
                </a:solidFill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■"/>
              <a:defRPr>
                <a:solidFill>
                  <a:srgbClr val="000000"/>
                </a:solidFill>
              </a:defRPr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>
                <a:solidFill>
                  <a:srgbClr val="000000"/>
                </a:solidFill>
              </a:defRPr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>
                <a:solidFill>
                  <a:srgbClr val="000000"/>
                </a:solidFill>
              </a:defRPr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>
                <a:solidFill>
                  <a:srgbClr val="000000"/>
                </a:solidFill>
              </a:defRPr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78" name="Google Shape;78;p17"/>
          <p:cNvSpPr/>
          <p:nvPr/>
        </p:nvSpPr>
        <p:spPr>
          <a:xfrm>
            <a:off x="7356374" y="5066325"/>
            <a:ext cx="1787700" cy="77100"/>
          </a:xfrm>
          <a:prstGeom prst="rect">
            <a:avLst/>
          </a:prstGeom>
          <a:solidFill>
            <a:srgbClr val="2B6A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/>
          <p:nvPr/>
        </p:nvSpPr>
        <p:spPr>
          <a:xfrm>
            <a:off x="0" y="5066325"/>
            <a:ext cx="524700" cy="77100"/>
          </a:xfrm>
          <a:prstGeom prst="rect">
            <a:avLst/>
          </a:prstGeom>
          <a:solidFill>
            <a:srgbClr val="6774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/>
          <p:nvPr/>
        </p:nvSpPr>
        <p:spPr>
          <a:xfrm>
            <a:off x="524700" y="5066325"/>
            <a:ext cx="6831600" cy="77100"/>
          </a:xfrm>
          <a:prstGeom prst="rect">
            <a:avLst/>
          </a:prstGeom>
          <a:solidFill>
            <a:srgbClr val="B80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434343"/>
                </a:solidFill>
              </a:defRPr>
            </a:lvl1pPr>
            <a:lvl2pPr lvl="1" rtl="0">
              <a:buNone/>
              <a:defRPr>
                <a:solidFill>
                  <a:srgbClr val="434343"/>
                </a:solidFill>
              </a:defRPr>
            </a:lvl2pPr>
            <a:lvl3pPr lvl="2" rtl="0">
              <a:buNone/>
              <a:defRPr>
                <a:solidFill>
                  <a:srgbClr val="434343"/>
                </a:solidFill>
              </a:defRPr>
            </a:lvl3pPr>
            <a:lvl4pPr lvl="3" rtl="0">
              <a:buNone/>
              <a:defRPr>
                <a:solidFill>
                  <a:srgbClr val="434343"/>
                </a:solidFill>
              </a:defRPr>
            </a:lvl4pPr>
            <a:lvl5pPr lvl="4" rtl="0">
              <a:buNone/>
              <a:defRPr>
                <a:solidFill>
                  <a:srgbClr val="434343"/>
                </a:solidFill>
              </a:defRPr>
            </a:lvl5pPr>
            <a:lvl6pPr lvl="5" rtl="0">
              <a:buNone/>
              <a:defRPr>
                <a:solidFill>
                  <a:srgbClr val="434343"/>
                </a:solidFill>
              </a:defRPr>
            </a:lvl6pPr>
            <a:lvl7pPr lvl="6" rtl="0">
              <a:buNone/>
              <a:defRPr>
                <a:solidFill>
                  <a:srgbClr val="434343"/>
                </a:solidFill>
              </a:defRPr>
            </a:lvl7pPr>
            <a:lvl8pPr lvl="7" rtl="0">
              <a:buNone/>
              <a:defRPr>
                <a:solidFill>
                  <a:srgbClr val="434343"/>
                </a:solidFill>
              </a:defRPr>
            </a:lvl8pPr>
            <a:lvl9pPr lvl="8" rtl="0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524700" y="205988"/>
            <a:ext cx="6831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1B62"/>
              </a:buClr>
              <a:buSzPts val="3600"/>
              <a:buNone/>
              <a:defRPr>
                <a:solidFill>
                  <a:srgbClr val="001B6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524700" y="1200150"/>
            <a:ext cx="40011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▷"/>
              <a:defRPr sz="1800">
                <a:solidFill>
                  <a:srgbClr val="000000"/>
                </a:solidFill>
              </a:defRPr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 sz="1800">
                <a:solidFill>
                  <a:srgbClr val="000000"/>
                </a:solidFill>
              </a:defRPr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 sz="1800">
                <a:solidFill>
                  <a:srgbClr val="000000"/>
                </a:solidFill>
              </a:defRPr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>
                <a:solidFill>
                  <a:srgbClr val="000000"/>
                </a:solidFill>
              </a:defRPr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>
                <a:solidFill>
                  <a:srgbClr val="000000"/>
                </a:solidFill>
              </a:defRPr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>
                <a:solidFill>
                  <a:srgbClr val="000000"/>
                </a:solidFill>
              </a:defRPr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85" name="Google Shape;85;p18"/>
          <p:cNvSpPr txBox="1"/>
          <p:nvPr>
            <p:ph idx="2" type="body"/>
          </p:nvPr>
        </p:nvSpPr>
        <p:spPr>
          <a:xfrm>
            <a:off x="4878900" y="1200150"/>
            <a:ext cx="37140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▷"/>
              <a:defRPr sz="1800">
                <a:solidFill>
                  <a:srgbClr val="000000"/>
                </a:solidFill>
              </a:defRPr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 sz="1800">
                <a:solidFill>
                  <a:srgbClr val="000000"/>
                </a:solidFill>
              </a:defRPr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 sz="1800">
                <a:solidFill>
                  <a:srgbClr val="000000"/>
                </a:solidFill>
              </a:defRPr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>
                <a:solidFill>
                  <a:srgbClr val="000000"/>
                </a:solidFill>
              </a:defRPr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>
                <a:solidFill>
                  <a:srgbClr val="000000"/>
                </a:solidFill>
              </a:defRPr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>
                <a:solidFill>
                  <a:srgbClr val="000000"/>
                </a:solidFill>
              </a:defRPr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86" name="Google Shape;86;p18"/>
          <p:cNvSpPr/>
          <p:nvPr/>
        </p:nvSpPr>
        <p:spPr>
          <a:xfrm>
            <a:off x="7356378" y="5066325"/>
            <a:ext cx="1263000" cy="77100"/>
          </a:xfrm>
          <a:prstGeom prst="rect">
            <a:avLst/>
          </a:prstGeom>
          <a:solidFill>
            <a:srgbClr val="4487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/>
          <p:nvPr/>
        </p:nvSpPr>
        <p:spPr>
          <a:xfrm>
            <a:off x="8619300" y="5066325"/>
            <a:ext cx="524700" cy="771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8"/>
          <p:cNvSpPr/>
          <p:nvPr/>
        </p:nvSpPr>
        <p:spPr>
          <a:xfrm>
            <a:off x="0" y="5066325"/>
            <a:ext cx="524700" cy="77100"/>
          </a:xfrm>
          <a:prstGeom prst="rect">
            <a:avLst/>
          </a:prstGeom>
          <a:solidFill>
            <a:srgbClr val="2641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/>
          <p:nvPr/>
        </p:nvSpPr>
        <p:spPr>
          <a:xfrm>
            <a:off x="524699" y="5066325"/>
            <a:ext cx="6831600" cy="771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524700" y="205988"/>
            <a:ext cx="6831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1B62"/>
              </a:buClr>
              <a:buSzPts val="3600"/>
              <a:buNone/>
              <a:defRPr>
                <a:solidFill>
                  <a:srgbClr val="001B6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893700" y="1200150"/>
            <a:ext cx="23712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▷"/>
              <a:defRPr sz="1400">
                <a:solidFill>
                  <a:srgbClr val="000000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sz="1400">
                <a:solidFill>
                  <a:srgbClr val="000000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 sz="1400">
                <a:solidFill>
                  <a:srgbClr val="000000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>
                <a:solidFill>
                  <a:srgbClr val="000000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sz="1400">
                <a:solidFill>
                  <a:srgbClr val="000000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 sz="1400">
                <a:solidFill>
                  <a:srgbClr val="000000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>
                <a:solidFill>
                  <a:srgbClr val="000000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sz="1400">
                <a:solidFill>
                  <a:srgbClr val="000000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 sz="14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94" name="Google Shape;94;p19"/>
          <p:cNvSpPr txBox="1"/>
          <p:nvPr>
            <p:ph idx="2" type="body"/>
          </p:nvPr>
        </p:nvSpPr>
        <p:spPr>
          <a:xfrm>
            <a:off x="3386404" y="1200150"/>
            <a:ext cx="23712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▷"/>
              <a:defRPr sz="1400">
                <a:solidFill>
                  <a:srgbClr val="000000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sz="1400">
                <a:solidFill>
                  <a:srgbClr val="000000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 sz="1400">
                <a:solidFill>
                  <a:srgbClr val="000000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>
                <a:solidFill>
                  <a:srgbClr val="000000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sz="1400">
                <a:solidFill>
                  <a:srgbClr val="000000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 sz="1400">
                <a:solidFill>
                  <a:srgbClr val="000000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>
                <a:solidFill>
                  <a:srgbClr val="000000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sz="1400">
                <a:solidFill>
                  <a:srgbClr val="000000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 sz="14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95" name="Google Shape;95;p19"/>
          <p:cNvSpPr txBox="1"/>
          <p:nvPr>
            <p:ph idx="3" type="body"/>
          </p:nvPr>
        </p:nvSpPr>
        <p:spPr>
          <a:xfrm>
            <a:off x="5879107" y="1200150"/>
            <a:ext cx="23712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▷"/>
              <a:defRPr sz="1400">
                <a:solidFill>
                  <a:srgbClr val="000000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sz="1400">
                <a:solidFill>
                  <a:srgbClr val="000000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 sz="1400">
                <a:solidFill>
                  <a:srgbClr val="000000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>
                <a:solidFill>
                  <a:srgbClr val="000000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sz="1400">
                <a:solidFill>
                  <a:srgbClr val="000000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 sz="1400">
                <a:solidFill>
                  <a:srgbClr val="000000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>
                <a:solidFill>
                  <a:srgbClr val="000000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sz="1400">
                <a:solidFill>
                  <a:srgbClr val="000000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 sz="14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96" name="Google Shape;96;p19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7" name="Google Shape;97;p19"/>
          <p:cNvSpPr/>
          <p:nvPr/>
        </p:nvSpPr>
        <p:spPr>
          <a:xfrm>
            <a:off x="7356378" y="5066325"/>
            <a:ext cx="1263000" cy="77100"/>
          </a:xfrm>
          <a:prstGeom prst="rect">
            <a:avLst/>
          </a:prstGeom>
          <a:solidFill>
            <a:srgbClr val="4487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9"/>
          <p:cNvSpPr/>
          <p:nvPr/>
        </p:nvSpPr>
        <p:spPr>
          <a:xfrm>
            <a:off x="8619300" y="5066325"/>
            <a:ext cx="524700" cy="771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/>
          <p:nvPr/>
        </p:nvSpPr>
        <p:spPr>
          <a:xfrm>
            <a:off x="0" y="5066325"/>
            <a:ext cx="524700" cy="77100"/>
          </a:xfrm>
          <a:prstGeom prst="rect">
            <a:avLst/>
          </a:prstGeom>
          <a:solidFill>
            <a:srgbClr val="2641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/>
          <p:nvPr/>
        </p:nvSpPr>
        <p:spPr>
          <a:xfrm>
            <a:off x="524699" y="5066325"/>
            <a:ext cx="6831600" cy="771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524700" y="205988"/>
            <a:ext cx="8094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1B62"/>
              </a:buClr>
              <a:buSzPts val="3600"/>
              <a:buNone/>
              <a:defRPr>
                <a:solidFill>
                  <a:srgbClr val="001B6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4" name="Google Shape;104;p20"/>
          <p:cNvSpPr/>
          <p:nvPr/>
        </p:nvSpPr>
        <p:spPr>
          <a:xfrm>
            <a:off x="7356378" y="5066325"/>
            <a:ext cx="1263000" cy="77100"/>
          </a:xfrm>
          <a:prstGeom prst="rect">
            <a:avLst/>
          </a:prstGeom>
          <a:solidFill>
            <a:srgbClr val="4487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0"/>
          <p:cNvSpPr/>
          <p:nvPr/>
        </p:nvSpPr>
        <p:spPr>
          <a:xfrm>
            <a:off x="8619300" y="5066325"/>
            <a:ext cx="524700" cy="771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0"/>
          <p:cNvSpPr/>
          <p:nvPr/>
        </p:nvSpPr>
        <p:spPr>
          <a:xfrm>
            <a:off x="0" y="5066325"/>
            <a:ext cx="524700" cy="77100"/>
          </a:xfrm>
          <a:prstGeom prst="rect">
            <a:avLst/>
          </a:prstGeom>
          <a:solidFill>
            <a:srgbClr val="2641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0"/>
          <p:cNvSpPr/>
          <p:nvPr/>
        </p:nvSpPr>
        <p:spPr>
          <a:xfrm>
            <a:off x="524699" y="5066325"/>
            <a:ext cx="6831600" cy="771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 background">
  <p:cSld name="BLANK_1">
    <p:bg>
      <p:bgPr>
        <a:solidFill>
          <a:srgbClr val="F3F3F3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0" name="Google Shape;110;p21"/>
          <p:cNvSpPr/>
          <p:nvPr/>
        </p:nvSpPr>
        <p:spPr>
          <a:xfrm>
            <a:off x="7356378" y="5066325"/>
            <a:ext cx="1263000" cy="77100"/>
          </a:xfrm>
          <a:prstGeom prst="rect">
            <a:avLst/>
          </a:prstGeom>
          <a:solidFill>
            <a:srgbClr val="4487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/>
          <p:nvPr/>
        </p:nvSpPr>
        <p:spPr>
          <a:xfrm>
            <a:off x="8619300" y="5066325"/>
            <a:ext cx="524700" cy="771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1"/>
          <p:cNvSpPr/>
          <p:nvPr/>
        </p:nvSpPr>
        <p:spPr>
          <a:xfrm>
            <a:off x="0" y="5066325"/>
            <a:ext cx="524700" cy="77100"/>
          </a:xfrm>
          <a:prstGeom prst="rect">
            <a:avLst/>
          </a:prstGeom>
          <a:solidFill>
            <a:srgbClr val="2641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1"/>
          <p:cNvSpPr/>
          <p:nvPr/>
        </p:nvSpPr>
        <p:spPr>
          <a:xfrm>
            <a:off x="524699" y="5066325"/>
            <a:ext cx="6831600" cy="77100"/>
          </a:xfrm>
          <a:prstGeom prst="rect">
            <a:avLst/>
          </a:prstGeom>
          <a:solidFill>
            <a:srgbClr val="FF97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893700" y="205988"/>
            <a:ext cx="646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Raleway"/>
              <a:buNone/>
              <a:defRPr sz="36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7ABBC"/>
              </a:buClr>
              <a:buSzPts val="3600"/>
              <a:buFont typeface="Raleway"/>
              <a:buNone/>
              <a:defRPr sz="3600">
                <a:solidFill>
                  <a:srgbClr val="97ABBC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893700" y="1373588"/>
            <a:ext cx="6462600" cy="3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Font typeface="Lato"/>
              <a:buChar char="▷"/>
              <a:defRPr sz="3000">
                <a:latin typeface="Lato"/>
                <a:ea typeface="Lato"/>
                <a:cs typeface="Lato"/>
                <a:sym typeface="Lat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○"/>
              <a:defRPr sz="2400">
                <a:latin typeface="Lato"/>
                <a:ea typeface="Lato"/>
                <a:cs typeface="Lato"/>
                <a:sym typeface="Lat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■"/>
              <a:defRPr sz="2400"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 sz="1800"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  <a:defRPr sz="1800"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■"/>
              <a:defRPr sz="1800">
                <a:latin typeface="Lato"/>
                <a:ea typeface="Lato"/>
                <a:cs typeface="Lato"/>
                <a:sym typeface="Lato"/>
              </a:defRPr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 sz="1800">
                <a:latin typeface="Lato"/>
                <a:ea typeface="Lato"/>
                <a:cs typeface="Lato"/>
                <a:sym typeface="Lato"/>
              </a:defRPr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  <a:defRPr sz="1800">
                <a:latin typeface="Lato"/>
                <a:ea typeface="Lato"/>
                <a:cs typeface="Lato"/>
                <a:sym typeface="Lato"/>
              </a:defRPr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■"/>
              <a:defRPr sz="18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buNone/>
              <a:defRPr sz="1300">
                <a:solidFill>
                  <a:srgbClr val="97ABBC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300">
                <a:solidFill>
                  <a:srgbClr val="97ABBC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300">
                <a:solidFill>
                  <a:srgbClr val="97ABBC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300">
                <a:solidFill>
                  <a:srgbClr val="97ABBC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300">
                <a:solidFill>
                  <a:srgbClr val="97ABBC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300">
                <a:solidFill>
                  <a:srgbClr val="97ABBC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300">
                <a:solidFill>
                  <a:srgbClr val="97ABBC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300">
                <a:solidFill>
                  <a:srgbClr val="97ABBC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300">
                <a:solidFill>
                  <a:srgbClr val="97ABBC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/>
        </p:nvSpPr>
        <p:spPr>
          <a:xfrm>
            <a:off x="204750" y="1977750"/>
            <a:ext cx="8734500" cy="13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pt-BR" sz="2600">
                <a:latin typeface="Lato"/>
                <a:ea typeface="Lato"/>
                <a:cs typeface="Lato"/>
                <a:sym typeface="Lato"/>
              </a:rPr>
              <a:t>Sophia Eduarda V. Serafim¹</a:t>
            </a:r>
            <a:endParaRPr b="1" sz="2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pt-BR" sz="2000">
                <a:latin typeface="Lato"/>
                <a:ea typeface="Lato"/>
                <a:cs typeface="Lato"/>
                <a:sym typeface="Lato"/>
              </a:rPr>
              <a:t>Victor Martins</a:t>
            </a:r>
            <a:r>
              <a:rPr b="1"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¹</a:t>
            </a:r>
            <a:r>
              <a:rPr b="1" lang="pt-BR" sz="2000">
                <a:latin typeface="Lato"/>
                <a:ea typeface="Lato"/>
                <a:cs typeface="Lato"/>
                <a:sym typeface="Lato"/>
              </a:rPr>
              <a:t>,    Lívia Caroline R. Pereira</a:t>
            </a:r>
            <a:r>
              <a:rPr b="1"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¹</a:t>
            </a:r>
            <a:r>
              <a:rPr b="1" lang="pt-BR" sz="2000">
                <a:latin typeface="Lato"/>
                <a:ea typeface="Lato"/>
                <a:cs typeface="Lato"/>
                <a:sym typeface="Lato"/>
              </a:rPr>
              <a:t> ,     Amanda F. Alves</a:t>
            </a:r>
            <a:r>
              <a:rPr b="1"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¹</a:t>
            </a:r>
            <a:r>
              <a:rPr b="1" lang="pt-BR" sz="2000">
                <a:latin typeface="Lato"/>
                <a:ea typeface="Lato"/>
                <a:cs typeface="Lato"/>
                <a:sym typeface="Lato"/>
              </a:rPr>
              <a:t>, </a:t>
            </a:r>
            <a:endParaRPr b="1"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pt-BR" sz="2000">
                <a:latin typeface="Lato"/>
                <a:ea typeface="Lato"/>
                <a:cs typeface="Lato"/>
                <a:sym typeface="Lato"/>
              </a:rPr>
              <a:t> Carlos H. G. Ferreira</a:t>
            </a:r>
            <a:r>
              <a:rPr b="1" lang="pt-BR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²,  Jussara M. Almeida¹</a:t>
            </a:r>
            <a:endParaRPr b="1"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p22"/>
          <p:cNvSpPr txBox="1"/>
          <p:nvPr>
            <p:ph idx="4294967295" type="ctrTitle"/>
          </p:nvPr>
        </p:nvSpPr>
        <p:spPr>
          <a:xfrm>
            <a:off x="44850" y="-179554"/>
            <a:ext cx="9054300" cy="215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B80D48"/>
                </a:solidFill>
              </a:rPr>
              <a:t>A Misoginia no YouTube Brasileiro: </a:t>
            </a:r>
            <a:endParaRPr b="1" sz="3200">
              <a:solidFill>
                <a:srgbClr val="B80D48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B80D48"/>
                </a:solidFill>
              </a:rPr>
              <a:t>Um Estudo de </a:t>
            </a:r>
            <a:r>
              <a:rPr b="1" lang="pt-BR" sz="3200">
                <a:solidFill>
                  <a:srgbClr val="B80D48"/>
                </a:solidFill>
              </a:rPr>
              <a:t>C</a:t>
            </a:r>
            <a:r>
              <a:rPr b="1" lang="pt-BR" sz="3200">
                <a:solidFill>
                  <a:srgbClr val="B80D48"/>
                </a:solidFill>
              </a:rPr>
              <a:t>aso sobre o Conteúdo Produzido pela Comunidade RedPill  </a:t>
            </a:r>
            <a:endParaRPr b="1" sz="3200">
              <a:solidFill>
                <a:srgbClr val="B80D48"/>
              </a:solidFill>
            </a:endParaRPr>
          </a:p>
        </p:txBody>
      </p:sp>
      <p:sp>
        <p:nvSpPr>
          <p:cNvPr id="120" name="Google Shape;120;p22"/>
          <p:cNvSpPr txBox="1"/>
          <p:nvPr/>
        </p:nvSpPr>
        <p:spPr>
          <a:xfrm>
            <a:off x="364500" y="3512538"/>
            <a:ext cx="84150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¹ </a:t>
            </a:r>
            <a:r>
              <a:rPr b="1"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Departamento de Ciência da Computação, Universidade Federal de Minas Gerais</a:t>
            </a:r>
            <a:endParaRPr b="1" sz="1700"/>
          </a:p>
          <a:p>
            <a:pPr indent="0" lvl="0" marL="0" marR="0" rtl="0" algn="ctr">
              <a:lnSpc>
                <a:spcPct val="11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7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² </a:t>
            </a:r>
            <a:r>
              <a:rPr b="1" lang="pt-BR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Departamento de Computação e Sistemas, Universidade Federal de Ouro Preto</a:t>
            </a:r>
            <a:endParaRPr b="1" sz="1700"/>
          </a:p>
        </p:txBody>
      </p:sp>
      <p:sp>
        <p:nvSpPr>
          <p:cNvPr id="121" name="Google Shape;121;p22"/>
          <p:cNvSpPr txBox="1"/>
          <p:nvPr/>
        </p:nvSpPr>
        <p:spPr>
          <a:xfrm>
            <a:off x="308800" y="55200"/>
            <a:ext cx="8415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latin typeface="Lato"/>
                <a:ea typeface="Lato"/>
                <a:cs typeface="Lato"/>
                <a:sym typeface="Lato"/>
              </a:rPr>
              <a:t>31° Simpósio Brasileiro de Sistemas Multimídia e Web - Rio de Janeiro, RJ</a:t>
            </a:r>
            <a:endParaRPr b="1" sz="1700"/>
          </a:p>
        </p:txBody>
      </p:sp>
      <p:sp>
        <p:nvSpPr>
          <p:cNvPr id="122" name="Google Shape;122;p22"/>
          <p:cNvSpPr/>
          <p:nvPr/>
        </p:nvSpPr>
        <p:spPr>
          <a:xfrm>
            <a:off x="1283400" y="4209150"/>
            <a:ext cx="1963318" cy="733502"/>
          </a:xfrm>
          <a:custGeom>
            <a:rect b="b" l="l" r="r" t="t"/>
            <a:pathLst>
              <a:path extrusionOk="0" h="919752" w="2358340">
                <a:moveTo>
                  <a:pt x="0" y="0"/>
                </a:moveTo>
                <a:lnTo>
                  <a:pt x="2358340" y="0"/>
                </a:lnTo>
                <a:lnTo>
                  <a:pt x="2358340" y="919753"/>
                </a:lnTo>
                <a:lnTo>
                  <a:pt x="0" y="9197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23" name="Google Shape;123;p22" title="Marca-Tild-Ia-principal-multicolorido-2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6125" y="4088250"/>
            <a:ext cx="1699999" cy="909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2" title="logo-locu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43748" y="4225449"/>
            <a:ext cx="2075348" cy="700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96850" y="-22600"/>
            <a:ext cx="8932500" cy="857400"/>
          </a:xfrm>
          <a:prstGeom prst="rect">
            <a:avLst/>
          </a:prstGeom>
        </p:spPr>
        <p:txBody>
          <a:bodyPr anchorCtr="0" anchor="b" bIns="1800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/>
              <a:t>A Pílula Vermelha no YouTube Brasileiro</a:t>
            </a:r>
            <a:endParaRPr sz="3900"/>
          </a:p>
        </p:txBody>
      </p:sp>
      <p:sp>
        <p:nvSpPr>
          <p:cNvPr id="130" name="Google Shape;130;p23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131" name="Google Shape;1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175" y="1273313"/>
            <a:ext cx="3633125" cy="259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2550" y="1349863"/>
            <a:ext cx="4388037" cy="244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96850" y="-22600"/>
            <a:ext cx="8932500" cy="857400"/>
          </a:xfrm>
          <a:prstGeom prst="rect">
            <a:avLst/>
          </a:prstGeom>
        </p:spPr>
        <p:txBody>
          <a:bodyPr anchorCtr="0" anchor="b" bIns="1800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/>
              <a:t>Questões-Chave</a:t>
            </a:r>
            <a:endParaRPr sz="3900"/>
          </a:p>
        </p:txBody>
      </p:sp>
      <p:sp>
        <p:nvSpPr>
          <p:cNvPr id="138" name="Google Shape;138;p24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96850" y="790475"/>
            <a:ext cx="8932500" cy="9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PQ1: Quais as estratégias de produção e engajamento desses canais?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PQ2: Como o discurso é construído pelos criadores (em títulos e descrições)? 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PQ3: Como esse discurso é recebido pela audiência (nos comentários)?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5" name="Google Shape;145;p25"/>
          <p:cNvSpPr txBox="1"/>
          <p:nvPr>
            <p:ph type="title"/>
          </p:nvPr>
        </p:nvSpPr>
        <p:spPr>
          <a:xfrm>
            <a:off x="105750" y="2143050"/>
            <a:ext cx="8932500" cy="857400"/>
          </a:xfrm>
          <a:prstGeom prst="rect">
            <a:avLst/>
          </a:prstGeom>
        </p:spPr>
        <p:txBody>
          <a:bodyPr anchorCtr="0" anchor="b" bIns="180000" lIns="91425" spcFirstLastPara="1" rIns="91425" wrap="square" tIns="0">
            <a:noAutofit/>
          </a:bodyPr>
          <a:lstStyle/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/>
              <a:t>Metodologia</a:t>
            </a:r>
            <a:endParaRPr sz="3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1" name="Google Shape;151;p26"/>
          <p:cNvSpPr txBox="1"/>
          <p:nvPr>
            <p:ph type="title"/>
          </p:nvPr>
        </p:nvSpPr>
        <p:spPr>
          <a:xfrm>
            <a:off x="96850" y="-22600"/>
            <a:ext cx="8932500" cy="857400"/>
          </a:xfrm>
          <a:prstGeom prst="rect">
            <a:avLst/>
          </a:prstGeom>
        </p:spPr>
        <p:txBody>
          <a:bodyPr anchorCtr="0" anchor="b" bIns="1800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/>
              <a:t>Metodologia e Corpus</a:t>
            </a:r>
            <a:endParaRPr sz="3900"/>
          </a:p>
        </p:txBody>
      </p:sp>
      <p:sp>
        <p:nvSpPr>
          <p:cNvPr id="152" name="Google Shape;152;p26"/>
          <p:cNvSpPr/>
          <p:nvPr/>
        </p:nvSpPr>
        <p:spPr>
          <a:xfrm>
            <a:off x="191775" y="2000700"/>
            <a:ext cx="2022600" cy="1142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Coleta API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" name="Google Shape;153;p26"/>
          <p:cNvSpPr/>
          <p:nvPr/>
        </p:nvSpPr>
        <p:spPr>
          <a:xfrm>
            <a:off x="3324875" y="2000700"/>
            <a:ext cx="2022600" cy="1142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Filtragem dos Canais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" name="Google Shape;154;p26"/>
          <p:cNvSpPr/>
          <p:nvPr/>
        </p:nvSpPr>
        <p:spPr>
          <a:xfrm>
            <a:off x="6457975" y="2000700"/>
            <a:ext cx="2022600" cy="1142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Análise de Conteúdo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" name="Google Shape;155;p26"/>
          <p:cNvSpPr/>
          <p:nvPr/>
        </p:nvSpPr>
        <p:spPr>
          <a:xfrm>
            <a:off x="427175" y="1464600"/>
            <a:ext cx="2353800" cy="1386000"/>
          </a:xfrm>
          <a:prstGeom prst="roundRect">
            <a:avLst>
              <a:gd fmla="val 16667" name="adj"/>
            </a:avLst>
          </a:prstGeom>
          <a:solidFill>
            <a:srgbClr val="CCCCCC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Lato"/>
                <a:ea typeface="Lato"/>
                <a:cs typeface="Lato"/>
                <a:sym typeface="Lato"/>
              </a:rPr>
              <a:t>Coleta API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idx="1" type="body"/>
          </p:nvPr>
        </p:nvSpPr>
        <p:spPr>
          <a:xfrm>
            <a:off x="20650" y="709825"/>
            <a:ext cx="9099000" cy="3825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dk1"/>
                </a:solidFill>
              </a:rPr>
              <a:t>Estabelecer um </a:t>
            </a:r>
            <a:r>
              <a:rPr i="1" lang="pt-BR" sz="2500">
                <a:solidFill>
                  <a:schemeClr val="dk1"/>
                </a:solidFill>
              </a:rPr>
              <a:t>framework</a:t>
            </a:r>
            <a:r>
              <a:rPr lang="pt-BR" sz="2500">
                <a:solidFill>
                  <a:schemeClr val="dk1"/>
                </a:solidFill>
              </a:rPr>
              <a:t> </a:t>
            </a:r>
            <a:r>
              <a:rPr b="1" i="1" lang="pt-BR" sz="2500">
                <a:solidFill>
                  <a:schemeClr val="accent6"/>
                </a:solidFill>
              </a:rPr>
              <a:t>bidimensional </a:t>
            </a:r>
            <a:r>
              <a:rPr lang="pt-BR" sz="2500">
                <a:solidFill>
                  <a:schemeClr val="dk1"/>
                </a:solidFill>
              </a:rPr>
              <a:t>para o estudo de disseminação de informações em plataformas de mídias sociais </a:t>
            </a:r>
            <a:endParaRPr sz="25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Capaz de considerar tanto o volume das co-interações dos usuários, como a velocidade com que eles atuam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pt-BR" sz="2500">
                <a:solidFill>
                  <a:schemeClr val="dk1"/>
                </a:solidFill>
              </a:rPr>
              <a:t>Usuários nesses ambientes podem ser </a:t>
            </a:r>
            <a:r>
              <a:rPr b="1" i="1" lang="pt-BR" sz="2500">
                <a:solidFill>
                  <a:schemeClr val="accent6"/>
                </a:solidFill>
              </a:rPr>
              <a:t>classificados</a:t>
            </a:r>
            <a:r>
              <a:rPr i="1" lang="pt-BR" sz="2500">
                <a:solidFill>
                  <a:schemeClr val="dk1"/>
                </a:solidFill>
              </a:rPr>
              <a:t> e </a:t>
            </a:r>
            <a:r>
              <a:rPr b="1" i="1" lang="pt-BR" sz="2500">
                <a:solidFill>
                  <a:schemeClr val="accent6"/>
                </a:solidFill>
              </a:rPr>
              <a:t>organizados em comunidades</a:t>
            </a:r>
            <a:r>
              <a:rPr i="1" lang="pt-BR" sz="2500">
                <a:solidFill>
                  <a:schemeClr val="dk1"/>
                </a:solidFill>
              </a:rPr>
              <a:t> com base no </a:t>
            </a:r>
            <a:r>
              <a:rPr b="1" i="1" lang="pt-BR" sz="2500">
                <a:solidFill>
                  <a:schemeClr val="accent6"/>
                </a:solidFill>
              </a:rPr>
              <a:t>volume</a:t>
            </a:r>
            <a:r>
              <a:rPr i="1" lang="pt-BR" sz="2500">
                <a:solidFill>
                  <a:schemeClr val="dk1"/>
                </a:solidFill>
              </a:rPr>
              <a:t> do conteúdo com os quais co-interagem e na </a:t>
            </a:r>
            <a:r>
              <a:rPr b="1" i="1" lang="pt-BR" sz="2500">
                <a:solidFill>
                  <a:schemeClr val="accent6"/>
                </a:solidFill>
              </a:rPr>
              <a:t>velocidade</a:t>
            </a:r>
            <a:r>
              <a:rPr i="1" lang="pt-BR" sz="2500">
                <a:solidFill>
                  <a:schemeClr val="dk1"/>
                </a:solidFill>
              </a:rPr>
              <a:t> com a qual isso é feito? </a:t>
            </a:r>
            <a:endParaRPr i="1" sz="2500">
              <a:solidFill>
                <a:schemeClr val="dk1"/>
              </a:solidFill>
            </a:endParaRPr>
          </a:p>
        </p:txBody>
      </p:sp>
      <p:sp>
        <p:nvSpPr>
          <p:cNvPr id="161" name="Google Shape;161;p27"/>
          <p:cNvSpPr txBox="1"/>
          <p:nvPr>
            <p:ph type="title"/>
          </p:nvPr>
        </p:nvSpPr>
        <p:spPr>
          <a:xfrm>
            <a:off x="0" y="4825"/>
            <a:ext cx="8932500" cy="857400"/>
          </a:xfrm>
          <a:prstGeom prst="rect">
            <a:avLst/>
          </a:prstGeom>
        </p:spPr>
        <p:txBody>
          <a:bodyPr anchorCtr="0" anchor="b" bIns="1800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/>
              <a:t>Objetivo</a:t>
            </a:r>
            <a:endParaRPr sz="3300">
              <a:solidFill>
                <a:srgbClr val="001B62"/>
              </a:solidFill>
            </a:endParaRPr>
          </a:p>
        </p:txBody>
      </p:sp>
      <p:sp>
        <p:nvSpPr>
          <p:cNvPr id="162" name="Google Shape;162;p27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3" name="Google Shape;163;p27"/>
          <p:cNvSpPr txBox="1"/>
          <p:nvPr/>
        </p:nvSpPr>
        <p:spPr>
          <a:xfrm>
            <a:off x="156925" y="880500"/>
            <a:ext cx="1089600" cy="11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/>
          <p:nvPr>
            <p:ph type="title"/>
          </p:nvPr>
        </p:nvSpPr>
        <p:spPr>
          <a:xfrm>
            <a:off x="0" y="4825"/>
            <a:ext cx="8932500" cy="857400"/>
          </a:xfrm>
          <a:prstGeom prst="rect">
            <a:avLst/>
          </a:prstGeom>
        </p:spPr>
        <p:txBody>
          <a:bodyPr anchorCtr="0" anchor="b" bIns="1800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/>
              <a:t>Metodologia proposta</a:t>
            </a:r>
            <a:endParaRPr sz="3300">
              <a:solidFill>
                <a:srgbClr val="001B62"/>
              </a:solidFill>
            </a:endParaRPr>
          </a:p>
        </p:txBody>
      </p:sp>
      <p:sp>
        <p:nvSpPr>
          <p:cNvPr id="169" name="Google Shape;169;p28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70" name="Google Shape;17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50" y="970638"/>
            <a:ext cx="8992699" cy="369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/>
          <p:nvPr>
            <p:ph type="title"/>
          </p:nvPr>
        </p:nvSpPr>
        <p:spPr>
          <a:xfrm>
            <a:off x="0" y="4825"/>
            <a:ext cx="8932500" cy="857400"/>
          </a:xfrm>
          <a:prstGeom prst="rect">
            <a:avLst/>
          </a:prstGeom>
        </p:spPr>
        <p:txBody>
          <a:bodyPr anchorCtr="0" anchor="b" bIns="1800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/>
              <a:t>Modelagem das co-interações (volume)</a:t>
            </a:r>
            <a:endParaRPr sz="3300">
              <a:solidFill>
                <a:srgbClr val="001B62"/>
              </a:solidFill>
            </a:endParaRPr>
          </a:p>
        </p:txBody>
      </p:sp>
      <p:sp>
        <p:nvSpPr>
          <p:cNvPr id="176" name="Google Shape;176;p29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177" name="Google Shape;177;p29"/>
          <p:cNvGrpSpPr/>
          <p:nvPr/>
        </p:nvGrpSpPr>
        <p:grpSpPr>
          <a:xfrm>
            <a:off x="382494" y="1093901"/>
            <a:ext cx="3216140" cy="2558475"/>
            <a:chOff x="404850" y="1732550"/>
            <a:chExt cx="3001250" cy="2402550"/>
          </a:xfrm>
        </p:grpSpPr>
        <p:sp>
          <p:nvSpPr>
            <p:cNvPr id="178" name="Google Shape;178;p29"/>
            <p:cNvSpPr/>
            <p:nvPr/>
          </p:nvSpPr>
          <p:spPr>
            <a:xfrm>
              <a:off x="2797100" y="1732550"/>
              <a:ext cx="609000" cy="5754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79" name="Google Shape;179;p29"/>
            <p:cNvSpPr/>
            <p:nvPr/>
          </p:nvSpPr>
          <p:spPr>
            <a:xfrm>
              <a:off x="2797100" y="2719875"/>
              <a:ext cx="609000" cy="5754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80" name="Google Shape;180;p29"/>
            <p:cNvSpPr/>
            <p:nvPr/>
          </p:nvSpPr>
          <p:spPr>
            <a:xfrm>
              <a:off x="404850" y="2719875"/>
              <a:ext cx="609000" cy="5754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81" name="Google Shape;181;p29"/>
            <p:cNvSpPr/>
            <p:nvPr/>
          </p:nvSpPr>
          <p:spPr>
            <a:xfrm>
              <a:off x="1600975" y="2719875"/>
              <a:ext cx="609000" cy="5754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82" name="Google Shape;182;p29"/>
            <p:cNvSpPr/>
            <p:nvPr/>
          </p:nvSpPr>
          <p:spPr>
            <a:xfrm>
              <a:off x="1600975" y="1732550"/>
              <a:ext cx="609000" cy="5754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183" name="Google Shape;183;p29"/>
            <p:cNvCxnSpPr>
              <a:stCxn id="182" idx="3"/>
              <a:endCxn id="180" idx="7"/>
            </p:cNvCxnSpPr>
            <p:nvPr/>
          </p:nvCxnSpPr>
          <p:spPr>
            <a:xfrm flipH="1">
              <a:off x="924561" y="2223685"/>
              <a:ext cx="765600" cy="580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" name="Google Shape;184;p29"/>
            <p:cNvCxnSpPr>
              <a:stCxn id="181" idx="2"/>
              <a:endCxn id="180" idx="6"/>
            </p:cNvCxnSpPr>
            <p:nvPr/>
          </p:nvCxnSpPr>
          <p:spPr>
            <a:xfrm rot="10800000">
              <a:off x="1013875" y="3007575"/>
              <a:ext cx="587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5" name="Google Shape;185;p29"/>
            <p:cNvCxnSpPr>
              <a:stCxn id="179" idx="2"/>
              <a:endCxn id="181" idx="6"/>
            </p:cNvCxnSpPr>
            <p:nvPr/>
          </p:nvCxnSpPr>
          <p:spPr>
            <a:xfrm rot="10800000">
              <a:off x="2210000" y="3007575"/>
              <a:ext cx="587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6" name="Google Shape;186;p29"/>
            <p:cNvCxnSpPr>
              <a:stCxn id="182" idx="4"/>
              <a:endCxn id="181" idx="0"/>
            </p:cNvCxnSpPr>
            <p:nvPr/>
          </p:nvCxnSpPr>
          <p:spPr>
            <a:xfrm>
              <a:off x="1905475" y="2307950"/>
              <a:ext cx="0" cy="41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7" name="Google Shape;187;p29"/>
            <p:cNvCxnSpPr>
              <a:stCxn id="179" idx="0"/>
              <a:endCxn id="178" idx="4"/>
            </p:cNvCxnSpPr>
            <p:nvPr/>
          </p:nvCxnSpPr>
          <p:spPr>
            <a:xfrm rot="10800000">
              <a:off x="3101600" y="2307975"/>
              <a:ext cx="0" cy="41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188" name="Google Shape;188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48725" y="1863500"/>
              <a:ext cx="313500" cy="31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89" name="Google Shape;189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944850" y="1863500"/>
              <a:ext cx="313500" cy="31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90" name="Google Shape;190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944850" y="2850850"/>
              <a:ext cx="313500" cy="31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91" name="Google Shape;191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48738" y="2850800"/>
              <a:ext cx="313500" cy="31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92" name="Google Shape;192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2588" y="2850850"/>
              <a:ext cx="313500" cy="31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cxnSp>
          <p:nvCxnSpPr>
            <p:cNvPr id="193" name="Google Shape;193;p29"/>
            <p:cNvCxnSpPr/>
            <p:nvPr/>
          </p:nvCxnSpPr>
          <p:spPr>
            <a:xfrm flipH="1" rot="10800000">
              <a:off x="2159450" y="3312500"/>
              <a:ext cx="752700" cy="822600"/>
            </a:xfrm>
            <a:prstGeom prst="straightConnector1">
              <a:avLst/>
            </a:prstGeom>
            <a:noFill/>
            <a:ln cap="flat" cmpd="sng" w="38100">
              <a:solidFill>
                <a:srgbClr val="963334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sp>
        <p:nvSpPr>
          <p:cNvPr id="194" name="Google Shape;194;p29"/>
          <p:cNvSpPr txBox="1"/>
          <p:nvPr/>
        </p:nvSpPr>
        <p:spPr>
          <a:xfrm>
            <a:off x="698000" y="3652375"/>
            <a:ext cx="32160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Lato"/>
                <a:ea typeface="Lato"/>
                <a:cs typeface="Lato"/>
                <a:sym typeface="Lato"/>
              </a:rPr>
              <a:t>Cada nó representa um usuário</a:t>
            </a:r>
            <a:endParaRPr sz="24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/>
          <p:nvPr>
            <p:ph type="title"/>
          </p:nvPr>
        </p:nvSpPr>
        <p:spPr>
          <a:xfrm>
            <a:off x="0" y="4825"/>
            <a:ext cx="8932500" cy="857400"/>
          </a:xfrm>
          <a:prstGeom prst="rect">
            <a:avLst/>
          </a:prstGeom>
        </p:spPr>
        <p:txBody>
          <a:bodyPr anchorCtr="0" anchor="b" bIns="1800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/>
              <a:t>Modelagem das co-interações (volume)</a:t>
            </a:r>
            <a:endParaRPr sz="3300">
              <a:solidFill>
                <a:srgbClr val="001B62"/>
              </a:solidFill>
            </a:endParaRPr>
          </a:p>
        </p:txBody>
      </p:sp>
      <p:sp>
        <p:nvSpPr>
          <p:cNvPr id="200" name="Google Shape;200;p30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201" name="Google Shape;201;p30"/>
          <p:cNvGrpSpPr/>
          <p:nvPr/>
        </p:nvGrpSpPr>
        <p:grpSpPr>
          <a:xfrm>
            <a:off x="382494" y="1093901"/>
            <a:ext cx="3216140" cy="2558475"/>
            <a:chOff x="404850" y="1732550"/>
            <a:chExt cx="3001250" cy="2402550"/>
          </a:xfrm>
        </p:grpSpPr>
        <p:sp>
          <p:nvSpPr>
            <p:cNvPr id="202" name="Google Shape;202;p30"/>
            <p:cNvSpPr/>
            <p:nvPr/>
          </p:nvSpPr>
          <p:spPr>
            <a:xfrm>
              <a:off x="2797100" y="1732550"/>
              <a:ext cx="609000" cy="5754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03" name="Google Shape;203;p30"/>
            <p:cNvSpPr/>
            <p:nvPr/>
          </p:nvSpPr>
          <p:spPr>
            <a:xfrm>
              <a:off x="2797100" y="2719875"/>
              <a:ext cx="609000" cy="5754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04" name="Google Shape;204;p30"/>
            <p:cNvSpPr/>
            <p:nvPr/>
          </p:nvSpPr>
          <p:spPr>
            <a:xfrm>
              <a:off x="404850" y="2719875"/>
              <a:ext cx="609000" cy="5754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05" name="Google Shape;205;p30"/>
            <p:cNvSpPr/>
            <p:nvPr/>
          </p:nvSpPr>
          <p:spPr>
            <a:xfrm>
              <a:off x="1600975" y="2719875"/>
              <a:ext cx="609000" cy="5754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06" name="Google Shape;206;p30"/>
            <p:cNvSpPr/>
            <p:nvPr/>
          </p:nvSpPr>
          <p:spPr>
            <a:xfrm>
              <a:off x="1600975" y="1732550"/>
              <a:ext cx="609000" cy="5754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07" name="Google Shape;207;p30"/>
            <p:cNvCxnSpPr>
              <a:stCxn id="206" idx="3"/>
              <a:endCxn id="204" idx="7"/>
            </p:cNvCxnSpPr>
            <p:nvPr/>
          </p:nvCxnSpPr>
          <p:spPr>
            <a:xfrm flipH="1">
              <a:off x="924561" y="2223685"/>
              <a:ext cx="765600" cy="580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8" name="Google Shape;208;p30"/>
            <p:cNvCxnSpPr>
              <a:stCxn id="205" idx="2"/>
              <a:endCxn id="204" idx="6"/>
            </p:cNvCxnSpPr>
            <p:nvPr/>
          </p:nvCxnSpPr>
          <p:spPr>
            <a:xfrm rot="10800000">
              <a:off x="1013875" y="3007575"/>
              <a:ext cx="587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" name="Google Shape;209;p30"/>
            <p:cNvCxnSpPr>
              <a:stCxn id="203" idx="2"/>
              <a:endCxn id="205" idx="6"/>
            </p:cNvCxnSpPr>
            <p:nvPr/>
          </p:nvCxnSpPr>
          <p:spPr>
            <a:xfrm rot="10800000">
              <a:off x="2210000" y="3007575"/>
              <a:ext cx="587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" name="Google Shape;210;p30"/>
            <p:cNvCxnSpPr>
              <a:stCxn id="206" idx="4"/>
              <a:endCxn id="205" idx="0"/>
            </p:cNvCxnSpPr>
            <p:nvPr/>
          </p:nvCxnSpPr>
          <p:spPr>
            <a:xfrm>
              <a:off x="1905475" y="2307950"/>
              <a:ext cx="0" cy="41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" name="Google Shape;211;p30"/>
            <p:cNvCxnSpPr>
              <a:stCxn id="203" idx="0"/>
              <a:endCxn id="202" idx="4"/>
            </p:cNvCxnSpPr>
            <p:nvPr/>
          </p:nvCxnSpPr>
          <p:spPr>
            <a:xfrm rot="10800000">
              <a:off x="3101600" y="2307975"/>
              <a:ext cx="0" cy="41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212" name="Google Shape;212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48725" y="1863500"/>
              <a:ext cx="313500" cy="31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213" name="Google Shape;213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944850" y="1863500"/>
              <a:ext cx="313500" cy="31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214" name="Google Shape;214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944850" y="2850850"/>
              <a:ext cx="313500" cy="31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215" name="Google Shape;215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48738" y="2850800"/>
              <a:ext cx="313500" cy="31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216" name="Google Shape;216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2588" y="2850850"/>
              <a:ext cx="313500" cy="31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cxnSp>
          <p:nvCxnSpPr>
            <p:cNvPr id="217" name="Google Shape;217;p30"/>
            <p:cNvCxnSpPr/>
            <p:nvPr/>
          </p:nvCxnSpPr>
          <p:spPr>
            <a:xfrm flipH="1" rot="10800000">
              <a:off x="2159450" y="3312500"/>
              <a:ext cx="752700" cy="822600"/>
            </a:xfrm>
            <a:prstGeom prst="straightConnector1">
              <a:avLst/>
            </a:prstGeom>
            <a:noFill/>
            <a:ln cap="flat" cmpd="sng" w="38100">
              <a:solidFill>
                <a:srgbClr val="963334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sp>
        <p:nvSpPr>
          <p:cNvPr id="218" name="Google Shape;218;p30"/>
          <p:cNvSpPr txBox="1"/>
          <p:nvPr/>
        </p:nvSpPr>
        <p:spPr>
          <a:xfrm>
            <a:off x="698000" y="3652375"/>
            <a:ext cx="32160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Lato"/>
                <a:ea typeface="Lato"/>
                <a:cs typeface="Lato"/>
                <a:sym typeface="Lato"/>
              </a:rPr>
              <a:t>Cada nó representa um usuário</a:t>
            </a:r>
            <a:endParaRPr sz="24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9" name="Google Shape;219;p30"/>
          <p:cNvSpPr txBox="1"/>
          <p:nvPr/>
        </p:nvSpPr>
        <p:spPr>
          <a:xfrm>
            <a:off x="1018500" y="1645275"/>
            <a:ext cx="4146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latin typeface="Lato"/>
                <a:ea typeface="Lato"/>
                <a:cs typeface="Lato"/>
                <a:sym typeface="Lato"/>
              </a:rPr>
              <a:t>8</a:t>
            </a:r>
            <a:endParaRPr sz="2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0" name="Google Shape;220;p30"/>
          <p:cNvSpPr txBox="1"/>
          <p:nvPr/>
        </p:nvSpPr>
        <p:spPr>
          <a:xfrm>
            <a:off x="1170900" y="2336400"/>
            <a:ext cx="4146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latin typeface="Lato"/>
                <a:ea typeface="Lato"/>
                <a:cs typeface="Lato"/>
                <a:sym typeface="Lato"/>
              </a:rPr>
              <a:t>1</a:t>
            </a:r>
            <a:endParaRPr sz="2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1" name="Google Shape;221;p30"/>
          <p:cNvSpPr txBox="1"/>
          <p:nvPr/>
        </p:nvSpPr>
        <p:spPr>
          <a:xfrm>
            <a:off x="2477500" y="2336400"/>
            <a:ext cx="4146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latin typeface="Lato"/>
                <a:ea typeface="Lato"/>
                <a:cs typeface="Lato"/>
                <a:sym typeface="Lato"/>
              </a:rPr>
              <a:t>3</a:t>
            </a:r>
            <a:endParaRPr sz="2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2" name="Google Shape;222;p30"/>
          <p:cNvSpPr txBox="1"/>
          <p:nvPr/>
        </p:nvSpPr>
        <p:spPr>
          <a:xfrm>
            <a:off x="3313475" y="1704400"/>
            <a:ext cx="5487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latin typeface="Lato"/>
                <a:ea typeface="Lato"/>
                <a:cs typeface="Lato"/>
                <a:sym typeface="Lato"/>
              </a:rPr>
              <a:t>50</a:t>
            </a:r>
            <a:endParaRPr sz="2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3" name="Google Shape;223;p30"/>
          <p:cNvSpPr txBox="1"/>
          <p:nvPr/>
        </p:nvSpPr>
        <p:spPr>
          <a:xfrm>
            <a:off x="2031650" y="1704400"/>
            <a:ext cx="5487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latin typeface="Lato"/>
                <a:ea typeface="Lato"/>
                <a:cs typeface="Lato"/>
                <a:sym typeface="Lato"/>
              </a:rPr>
              <a:t>7</a:t>
            </a:r>
            <a:endParaRPr sz="2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4" name="Google Shape;224;p30"/>
          <p:cNvSpPr txBox="1"/>
          <p:nvPr/>
        </p:nvSpPr>
        <p:spPr>
          <a:xfrm>
            <a:off x="4595300" y="1835825"/>
            <a:ext cx="4392600" cy="11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Lato"/>
                <a:ea typeface="Lato"/>
                <a:cs typeface="Lato"/>
                <a:sym typeface="Lato"/>
              </a:rPr>
              <a:t>O peso da aresta representa o número de co-interações entre eles</a:t>
            </a:r>
            <a:endParaRPr sz="24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25" name="Google Shape;225;p30"/>
          <p:cNvCxnSpPr>
            <a:stCxn id="224" idx="1"/>
            <a:endCxn id="222" idx="3"/>
          </p:cNvCxnSpPr>
          <p:nvPr/>
        </p:nvCxnSpPr>
        <p:spPr>
          <a:xfrm rot="10800000">
            <a:off x="3862100" y="1939625"/>
            <a:ext cx="733200" cy="494100"/>
          </a:xfrm>
          <a:prstGeom prst="straightConnector1">
            <a:avLst/>
          </a:prstGeom>
          <a:noFill/>
          <a:ln cap="flat" cmpd="sng" w="38100">
            <a:solidFill>
              <a:srgbClr val="963334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1"/>
          <p:cNvSpPr txBox="1"/>
          <p:nvPr>
            <p:ph type="title"/>
          </p:nvPr>
        </p:nvSpPr>
        <p:spPr>
          <a:xfrm>
            <a:off x="0" y="4825"/>
            <a:ext cx="8932500" cy="857400"/>
          </a:xfrm>
          <a:prstGeom prst="rect">
            <a:avLst/>
          </a:prstGeom>
        </p:spPr>
        <p:txBody>
          <a:bodyPr anchorCtr="0" anchor="b" bIns="1800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/>
              <a:t>Modelagem do tempo médio (velocidade)</a:t>
            </a:r>
            <a:endParaRPr sz="3300">
              <a:solidFill>
                <a:srgbClr val="001B62"/>
              </a:solidFill>
            </a:endParaRPr>
          </a:p>
        </p:txBody>
      </p:sp>
      <p:sp>
        <p:nvSpPr>
          <p:cNvPr id="231" name="Google Shape;231;p31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232" name="Google Shape;232;p31"/>
          <p:cNvGrpSpPr/>
          <p:nvPr/>
        </p:nvGrpSpPr>
        <p:grpSpPr>
          <a:xfrm>
            <a:off x="382494" y="1093901"/>
            <a:ext cx="3216140" cy="1664146"/>
            <a:chOff x="382494" y="1093901"/>
            <a:chExt cx="3216140" cy="1664146"/>
          </a:xfrm>
        </p:grpSpPr>
        <p:sp>
          <p:nvSpPr>
            <p:cNvPr id="233" name="Google Shape;233;p31"/>
            <p:cNvSpPr/>
            <p:nvPr/>
          </p:nvSpPr>
          <p:spPr>
            <a:xfrm>
              <a:off x="2946029" y="1093901"/>
              <a:ext cx="652604" cy="612743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4" name="Google Shape;234;p31"/>
            <p:cNvSpPr/>
            <p:nvPr/>
          </p:nvSpPr>
          <p:spPr>
            <a:xfrm>
              <a:off x="2946029" y="2145303"/>
              <a:ext cx="652604" cy="612743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5" name="Google Shape;235;p31"/>
            <p:cNvSpPr/>
            <p:nvPr/>
          </p:nvSpPr>
          <p:spPr>
            <a:xfrm>
              <a:off x="382494" y="2145303"/>
              <a:ext cx="652604" cy="612743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6" name="Google Shape;236;p31"/>
            <p:cNvSpPr/>
            <p:nvPr/>
          </p:nvSpPr>
          <p:spPr>
            <a:xfrm>
              <a:off x="1664261" y="2145303"/>
              <a:ext cx="652604" cy="612743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7" name="Google Shape;237;p31"/>
            <p:cNvSpPr/>
            <p:nvPr/>
          </p:nvSpPr>
          <p:spPr>
            <a:xfrm>
              <a:off x="1664261" y="1093901"/>
              <a:ext cx="652604" cy="612743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38" name="Google Shape;238;p31"/>
            <p:cNvCxnSpPr>
              <a:stCxn id="237" idx="3"/>
              <a:endCxn id="235" idx="7"/>
            </p:cNvCxnSpPr>
            <p:nvPr/>
          </p:nvCxnSpPr>
          <p:spPr>
            <a:xfrm flipH="1">
              <a:off x="939633" y="1616910"/>
              <a:ext cx="820200" cy="618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9" name="Google Shape;239;p31"/>
            <p:cNvCxnSpPr>
              <a:stCxn id="236" idx="2"/>
              <a:endCxn id="235" idx="6"/>
            </p:cNvCxnSpPr>
            <p:nvPr/>
          </p:nvCxnSpPr>
          <p:spPr>
            <a:xfrm rot="10800000">
              <a:off x="1035161" y="2451675"/>
              <a:ext cx="629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" name="Google Shape;240;p31"/>
            <p:cNvCxnSpPr>
              <a:stCxn id="234" idx="2"/>
              <a:endCxn id="236" idx="6"/>
            </p:cNvCxnSpPr>
            <p:nvPr/>
          </p:nvCxnSpPr>
          <p:spPr>
            <a:xfrm rot="10800000">
              <a:off x="2316929" y="2451675"/>
              <a:ext cx="629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" name="Google Shape;241;p31"/>
            <p:cNvCxnSpPr>
              <a:stCxn id="237" idx="4"/>
              <a:endCxn id="236" idx="0"/>
            </p:cNvCxnSpPr>
            <p:nvPr/>
          </p:nvCxnSpPr>
          <p:spPr>
            <a:xfrm>
              <a:off x="1990564" y="1706644"/>
              <a:ext cx="0" cy="438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" name="Google Shape;242;p31"/>
            <p:cNvCxnSpPr>
              <a:stCxn id="234" idx="0"/>
              <a:endCxn id="233" idx="4"/>
            </p:cNvCxnSpPr>
            <p:nvPr/>
          </p:nvCxnSpPr>
          <p:spPr>
            <a:xfrm rot="10800000">
              <a:off x="3272331" y="1706703"/>
              <a:ext cx="0" cy="438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243" name="Google Shape;243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22590" y="1233349"/>
              <a:ext cx="335947" cy="333846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244" name="Google Shape;244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04358" y="1233349"/>
              <a:ext cx="335947" cy="333846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245" name="Google Shape;24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04358" y="2284778"/>
              <a:ext cx="335947" cy="333846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246" name="Google Shape;246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22604" y="2284725"/>
              <a:ext cx="335947" cy="333846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247" name="Google Shape;247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0809" y="2284778"/>
              <a:ext cx="335947" cy="333846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sp>
        <p:nvSpPr>
          <p:cNvPr id="248" name="Google Shape;248;p31"/>
          <p:cNvSpPr txBox="1"/>
          <p:nvPr/>
        </p:nvSpPr>
        <p:spPr>
          <a:xfrm>
            <a:off x="451475" y="2989750"/>
            <a:ext cx="34695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Lato"/>
                <a:ea typeface="Lato"/>
                <a:cs typeface="Lato"/>
                <a:sym typeface="Lato"/>
              </a:rPr>
              <a:t>Rede com os mesmos usuários e co-interações</a:t>
            </a:r>
            <a:endParaRPr sz="24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"/>
          <p:cNvSpPr txBox="1"/>
          <p:nvPr>
            <p:ph type="title"/>
          </p:nvPr>
        </p:nvSpPr>
        <p:spPr>
          <a:xfrm>
            <a:off x="0" y="4825"/>
            <a:ext cx="8932500" cy="857400"/>
          </a:xfrm>
          <a:prstGeom prst="rect">
            <a:avLst/>
          </a:prstGeom>
        </p:spPr>
        <p:txBody>
          <a:bodyPr anchorCtr="0" anchor="b" bIns="1800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/>
              <a:t>Modelagem do tempo médio (velocidade)</a:t>
            </a:r>
            <a:endParaRPr sz="3300">
              <a:solidFill>
                <a:srgbClr val="001B62"/>
              </a:solidFill>
            </a:endParaRPr>
          </a:p>
        </p:txBody>
      </p:sp>
      <p:sp>
        <p:nvSpPr>
          <p:cNvPr id="254" name="Google Shape;254;p32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255" name="Google Shape;255;p32"/>
          <p:cNvGrpSpPr/>
          <p:nvPr/>
        </p:nvGrpSpPr>
        <p:grpSpPr>
          <a:xfrm>
            <a:off x="382494" y="1093901"/>
            <a:ext cx="3216140" cy="1664146"/>
            <a:chOff x="404850" y="1732550"/>
            <a:chExt cx="3001250" cy="1562725"/>
          </a:xfrm>
        </p:grpSpPr>
        <p:sp>
          <p:nvSpPr>
            <p:cNvPr id="256" name="Google Shape;256;p32"/>
            <p:cNvSpPr/>
            <p:nvPr/>
          </p:nvSpPr>
          <p:spPr>
            <a:xfrm>
              <a:off x="2797100" y="1732550"/>
              <a:ext cx="609000" cy="5754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57" name="Google Shape;257;p32"/>
            <p:cNvSpPr/>
            <p:nvPr/>
          </p:nvSpPr>
          <p:spPr>
            <a:xfrm>
              <a:off x="2797100" y="2719875"/>
              <a:ext cx="609000" cy="5754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58" name="Google Shape;258;p32"/>
            <p:cNvSpPr/>
            <p:nvPr/>
          </p:nvSpPr>
          <p:spPr>
            <a:xfrm>
              <a:off x="404850" y="2719875"/>
              <a:ext cx="609000" cy="5754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59" name="Google Shape;259;p32"/>
            <p:cNvSpPr/>
            <p:nvPr/>
          </p:nvSpPr>
          <p:spPr>
            <a:xfrm>
              <a:off x="1600975" y="2719875"/>
              <a:ext cx="609000" cy="5754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60" name="Google Shape;260;p32"/>
            <p:cNvSpPr/>
            <p:nvPr/>
          </p:nvSpPr>
          <p:spPr>
            <a:xfrm>
              <a:off x="1600975" y="1732550"/>
              <a:ext cx="609000" cy="5754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rgbClr val="2222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261" name="Google Shape;261;p32"/>
            <p:cNvCxnSpPr>
              <a:stCxn id="260" idx="3"/>
              <a:endCxn id="258" idx="7"/>
            </p:cNvCxnSpPr>
            <p:nvPr/>
          </p:nvCxnSpPr>
          <p:spPr>
            <a:xfrm flipH="1">
              <a:off x="924561" y="2223685"/>
              <a:ext cx="765600" cy="580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2" name="Google Shape;262;p32"/>
            <p:cNvCxnSpPr>
              <a:stCxn id="259" idx="2"/>
              <a:endCxn id="258" idx="6"/>
            </p:cNvCxnSpPr>
            <p:nvPr/>
          </p:nvCxnSpPr>
          <p:spPr>
            <a:xfrm rot="10800000">
              <a:off x="1013875" y="3007575"/>
              <a:ext cx="587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3" name="Google Shape;263;p32"/>
            <p:cNvCxnSpPr>
              <a:stCxn id="257" idx="2"/>
              <a:endCxn id="259" idx="6"/>
            </p:cNvCxnSpPr>
            <p:nvPr/>
          </p:nvCxnSpPr>
          <p:spPr>
            <a:xfrm rot="10800000">
              <a:off x="2210000" y="3007575"/>
              <a:ext cx="5871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4" name="Google Shape;264;p32"/>
            <p:cNvCxnSpPr>
              <a:stCxn id="260" idx="4"/>
              <a:endCxn id="259" idx="0"/>
            </p:cNvCxnSpPr>
            <p:nvPr/>
          </p:nvCxnSpPr>
          <p:spPr>
            <a:xfrm>
              <a:off x="1905475" y="2307950"/>
              <a:ext cx="0" cy="41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5" name="Google Shape;265;p32"/>
            <p:cNvCxnSpPr>
              <a:stCxn id="257" idx="0"/>
              <a:endCxn id="256" idx="4"/>
            </p:cNvCxnSpPr>
            <p:nvPr/>
          </p:nvCxnSpPr>
          <p:spPr>
            <a:xfrm rot="10800000">
              <a:off x="3101600" y="2307975"/>
              <a:ext cx="0" cy="41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266" name="Google Shape;266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48725" y="1863500"/>
              <a:ext cx="313500" cy="31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267" name="Google Shape;267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944850" y="1863500"/>
              <a:ext cx="313500" cy="31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268" name="Google Shape;26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944850" y="2850850"/>
              <a:ext cx="313500" cy="31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269" name="Google Shape;269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48738" y="2850800"/>
              <a:ext cx="313500" cy="31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270" name="Google Shape;270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2588" y="2850850"/>
              <a:ext cx="313500" cy="31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sp>
        <p:nvSpPr>
          <p:cNvPr id="271" name="Google Shape;271;p32"/>
          <p:cNvSpPr txBox="1"/>
          <p:nvPr/>
        </p:nvSpPr>
        <p:spPr>
          <a:xfrm>
            <a:off x="973675" y="1645275"/>
            <a:ext cx="5487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latin typeface="Lato"/>
                <a:ea typeface="Lato"/>
                <a:cs typeface="Lato"/>
                <a:sym typeface="Lato"/>
              </a:rPr>
              <a:t>1h</a:t>
            </a:r>
            <a:endParaRPr sz="2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2" name="Google Shape;272;p32"/>
          <p:cNvSpPr txBox="1"/>
          <p:nvPr/>
        </p:nvSpPr>
        <p:spPr>
          <a:xfrm>
            <a:off x="1170900" y="2336400"/>
            <a:ext cx="5487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latin typeface="Lato"/>
                <a:ea typeface="Lato"/>
                <a:cs typeface="Lato"/>
                <a:sym typeface="Lato"/>
              </a:rPr>
              <a:t>4h</a:t>
            </a:r>
            <a:endParaRPr sz="2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3" name="Google Shape;273;p32"/>
          <p:cNvSpPr txBox="1"/>
          <p:nvPr/>
        </p:nvSpPr>
        <p:spPr>
          <a:xfrm>
            <a:off x="2477500" y="2336400"/>
            <a:ext cx="6147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latin typeface="Lato"/>
                <a:ea typeface="Lato"/>
                <a:cs typeface="Lato"/>
                <a:sym typeface="Lato"/>
              </a:rPr>
              <a:t>2h</a:t>
            </a:r>
            <a:endParaRPr sz="2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4" name="Google Shape;274;p32"/>
          <p:cNvSpPr txBox="1"/>
          <p:nvPr/>
        </p:nvSpPr>
        <p:spPr>
          <a:xfrm>
            <a:off x="3313475" y="1704400"/>
            <a:ext cx="5487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latin typeface="Lato"/>
                <a:ea typeface="Lato"/>
                <a:cs typeface="Lato"/>
                <a:sym typeface="Lato"/>
              </a:rPr>
              <a:t>1h</a:t>
            </a:r>
            <a:endParaRPr sz="2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5" name="Google Shape;275;p32"/>
          <p:cNvSpPr txBox="1"/>
          <p:nvPr/>
        </p:nvSpPr>
        <p:spPr>
          <a:xfrm>
            <a:off x="2031650" y="1704400"/>
            <a:ext cx="5487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latin typeface="Lato"/>
                <a:ea typeface="Lato"/>
                <a:cs typeface="Lato"/>
                <a:sym typeface="Lato"/>
              </a:rPr>
              <a:t>6h</a:t>
            </a:r>
            <a:endParaRPr sz="2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6" name="Google Shape;276;p32"/>
          <p:cNvSpPr txBox="1"/>
          <p:nvPr/>
        </p:nvSpPr>
        <p:spPr>
          <a:xfrm>
            <a:off x="4595300" y="1835825"/>
            <a:ext cx="4392600" cy="11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Lato"/>
                <a:ea typeface="Lato"/>
                <a:cs typeface="Lato"/>
                <a:sym typeface="Lato"/>
              </a:rPr>
              <a:t>Porém agora o peso da aresta representa o </a:t>
            </a:r>
            <a:r>
              <a:rPr b="1" lang="pt-BR" sz="24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tempo médio</a:t>
            </a:r>
            <a:r>
              <a:rPr lang="pt-BR" sz="2400">
                <a:latin typeface="Lato"/>
                <a:ea typeface="Lato"/>
                <a:cs typeface="Lato"/>
                <a:sym typeface="Lato"/>
              </a:rPr>
              <a:t> entre as co-interações</a:t>
            </a:r>
            <a:endParaRPr sz="24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77" name="Google Shape;277;p32"/>
          <p:cNvCxnSpPr>
            <a:stCxn id="276" idx="1"/>
            <a:endCxn id="274" idx="3"/>
          </p:cNvCxnSpPr>
          <p:nvPr/>
        </p:nvCxnSpPr>
        <p:spPr>
          <a:xfrm rot="10800000">
            <a:off x="3862100" y="1939625"/>
            <a:ext cx="733200" cy="494100"/>
          </a:xfrm>
          <a:prstGeom prst="straightConnector1">
            <a:avLst/>
          </a:prstGeom>
          <a:noFill/>
          <a:ln cap="flat" cmpd="sng" w="38100">
            <a:solidFill>
              <a:srgbClr val="963334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78" name="Google Shape;278;p32"/>
          <p:cNvSpPr txBox="1"/>
          <p:nvPr/>
        </p:nvSpPr>
        <p:spPr>
          <a:xfrm>
            <a:off x="451475" y="2989750"/>
            <a:ext cx="34695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latin typeface="Lato"/>
                <a:ea typeface="Lato"/>
                <a:cs typeface="Lato"/>
                <a:sym typeface="Lato"/>
              </a:rPr>
              <a:t>Rede com os mesmos usuários e co-interações</a:t>
            </a:r>
            <a:endParaRPr sz="24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3"/>
          <p:cNvSpPr txBox="1"/>
          <p:nvPr>
            <p:ph idx="1" type="body"/>
          </p:nvPr>
        </p:nvSpPr>
        <p:spPr>
          <a:xfrm>
            <a:off x="20650" y="709825"/>
            <a:ext cx="9099000" cy="3825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chemeClr val="accent6"/>
                </a:solidFill>
              </a:rPr>
              <a:t>Polya Urn Filter: </a:t>
            </a:r>
            <a:r>
              <a:rPr lang="pt-BR" sz="2500">
                <a:solidFill>
                  <a:schemeClr val="dk1"/>
                </a:solidFill>
              </a:rPr>
              <a:t>Identifica as arestas mais </a:t>
            </a:r>
            <a:r>
              <a:rPr b="1" i="1" lang="pt-BR" sz="2500">
                <a:solidFill>
                  <a:schemeClr val="dk1"/>
                </a:solidFill>
              </a:rPr>
              <a:t>significativas</a:t>
            </a:r>
            <a:r>
              <a:rPr lang="pt-BR" sz="2500">
                <a:solidFill>
                  <a:schemeClr val="dk1"/>
                </a:solidFill>
              </a:rPr>
              <a:t> da rede simulando um processo de reforço </a:t>
            </a:r>
            <a:r>
              <a:rPr i="1" lang="pt-BR" sz="2500">
                <a:solidFill>
                  <a:schemeClr val="dk1"/>
                </a:solidFill>
              </a:rPr>
              <a:t>probabilístico</a:t>
            </a:r>
            <a:endParaRPr i="1" sz="25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Captura a heterogeneidade da rede localmente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dk1"/>
                </a:solidFill>
              </a:rPr>
              <a:t>As arestas salientes são aquelas cujos pesos se desviam </a:t>
            </a:r>
            <a:r>
              <a:rPr i="1" lang="pt-BR" sz="2500">
                <a:solidFill>
                  <a:schemeClr val="dk1"/>
                </a:solidFill>
              </a:rPr>
              <a:t>significativamente</a:t>
            </a:r>
            <a:r>
              <a:rPr lang="pt-BR" sz="2500">
                <a:solidFill>
                  <a:schemeClr val="dk1"/>
                </a:solidFill>
              </a:rPr>
              <a:t> do esperado em um modelo </a:t>
            </a:r>
            <a:r>
              <a:rPr i="1" lang="pt-BR" sz="2500">
                <a:solidFill>
                  <a:schemeClr val="dk1"/>
                </a:solidFill>
              </a:rPr>
              <a:t>nulo</a:t>
            </a:r>
            <a:endParaRPr i="1" sz="2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Marcaccioli, R., and G Livan. "</a:t>
            </a:r>
            <a:r>
              <a:rPr b="1" lang="pt-BR" sz="11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 pólya urn approach to information filtering in complex networks.</a:t>
            </a:r>
            <a:r>
              <a:rPr lang="pt-BR" sz="11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" </a:t>
            </a:r>
            <a:r>
              <a:rPr i="1" lang="pt-BR" sz="11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Nature communications</a:t>
            </a:r>
            <a:r>
              <a:rPr lang="pt-BR" sz="11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10.1 (2019)</a:t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284" name="Google Shape;284;p33"/>
          <p:cNvSpPr txBox="1"/>
          <p:nvPr>
            <p:ph type="title"/>
          </p:nvPr>
        </p:nvSpPr>
        <p:spPr>
          <a:xfrm>
            <a:off x="0" y="4825"/>
            <a:ext cx="8932500" cy="857400"/>
          </a:xfrm>
          <a:prstGeom prst="rect">
            <a:avLst/>
          </a:prstGeom>
        </p:spPr>
        <p:txBody>
          <a:bodyPr anchorCtr="0" anchor="b" bIns="1800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/>
              <a:t>Extração dos backbones</a:t>
            </a:r>
            <a:endParaRPr sz="3300">
              <a:solidFill>
                <a:srgbClr val="001B62"/>
              </a:solidFill>
            </a:endParaRPr>
          </a:p>
        </p:txBody>
      </p:sp>
      <p:sp>
        <p:nvSpPr>
          <p:cNvPr id="285" name="Google Shape;285;p33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4"/>
          <p:cNvSpPr txBox="1"/>
          <p:nvPr>
            <p:ph idx="1" type="body"/>
          </p:nvPr>
        </p:nvSpPr>
        <p:spPr>
          <a:xfrm>
            <a:off x="20650" y="709825"/>
            <a:ext cx="9099000" cy="3825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dk1"/>
                </a:solidFill>
              </a:rPr>
              <a:t>Com base nas redes modeladas e nos backbones é possível classificar cada aresta como o seguinte padrão de disseminação: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291" name="Google Shape;291;p34"/>
          <p:cNvSpPr txBox="1"/>
          <p:nvPr>
            <p:ph type="title"/>
          </p:nvPr>
        </p:nvSpPr>
        <p:spPr>
          <a:xfrm>
            <a:off x="0" y="4825"/>
            <a:ext cx="8932500" cy="857400"/>
          </a:xfrm>
          <a:prstGeom prst="rect">
            <a:avLst/>
          </a:prstGeom>
        </p:spPr>
        <p:txBody>
          <a:bodyPr anchorCtr="0" anchor="b" bIns="1800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/>
              <a:t>Classificação das arestas</a:t>
            </a:r>
            <a:endParaRPr sz="3300">
              <a:solidFill>
                <a:srgbClr val="001B62"/>
              </a:solidFill>
            </a:endParaRPr>
          </a:p>
        </p:txBody>
      </p:sp>
      <p:sp>
        <p:nvSpPr>
          <p:cNvPr id="292" name="Google Shape;292;p34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aphicFrame>
        <p:nvGraphicFramePr>
          <p:cNvPr id="293" name="Google Shape;293;p34"/>
          <p:cNvGraphicFramePr/>
          <p:nvPr/>
        </p:nvGraphicFramePr>
        <p:xfrm>
          <a:off x="689075" y="187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{E4503F5C-80F8-44D6-B35D-53C58740D66D}</a:tableStyleId>
              </a:tblPr>
              <a:tblGrid>
                <a:gridCol w="4055025"/>
                <a:gridCol w="1575500"/>
                <a:gridCol w="1591175"/>
              </a:tblGrid>
              <a:tr h="3253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900"/>
                        <a:t>Classe da aresta</a:t>
                      </a:r>
                      <a:endParaRPr b="1" sz="1900"/>
                    </a:p>
                  </a:txBody>
                  <a:tcPr marT="36000" marB="36000" marR="36000" marL="360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/>
                        <a:t>Presença nos </a:t>
                      </a:r>
                      <a:r>
                        <a:rPr b="1" i="1" lang="pt-BR" sz="1800"/>
                        <a:t>backbones</a:t>
                      </a:r>
                      <a:endParaRPr b="1" i="1" sz="1800"/>
                    </a:p>
                  </a:txBody>
                  <a:tcPr marT="36000" marB="36000" marR="36000" marL="36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4282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/>
                        <a:t>Co-interações</a:t>
                      </a:r>
                      <a:endParaRPr b="1" sz="1600"/>
                    </a:p>
                  </a:txBody>
                  <a:tcPr marT="36000" marB="36000" marR="36000" marL="36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/>
                        <a:t>Tempo médio</a:t>
                      </a:r>
                      <a:endParaRPr sz="1900"/>
                    </a:p>
                  </a:txBody>
                  <a:tcPr marT="36000" marB="36000" marR="36000" marL="36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/>
                        <a:t>1 - Baixo Volume e Baixa Velocidade</a:t>
                      </a:r>
                      <a:endParaRPr b="1" sz="1500"/>
                    </a:p>
                  </a:txBody>
                  <a:tcPr marT="36000" marB="36000" marR="36000" marL="360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Não</a:t>
                      </a:r>
                      <a:endParaRPr sz="1500"/>
                    </a:p>
                  </a:txBody>
                  <a:tcPr marT="36000" marB="36000" marR="36000" marL="36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Não</a:t>
                      </a:r>
                      <a:endParaRPr sz="1500"/>
                    </a:p>
                  </a:txBody>
                  <a:tcPr marT="36000" marB="36000" marR="36000" marL="36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solidFill>
                            <a:schemeClr val="dk1"/>
                          </a:solidFill>
                        </a:rPr>
                        <a:t>2 - Alto Volume e Baixa Velocidade</a:t>
                      </a:r>
                      <a:endParaRPr sz="1500"/>
                    </a:p>
                  </a:txBody>
                  <a:tcPr marT="36000" marB="36000" marR="36000" marL="36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Sim</a:t>
                      </a:r>
                      <a:endParaRPr sz="1500"/>
                    </a:p>
                  </a:txBody>
                  <a:tcPr marT="36000" marB="36000" marR="36000" marL="36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Não</a:t>
                      </a:r>
                      <a:endParaRPr sz="1500"/>
                    </a:p>
                  </a:txBody>
                  <a:tcPr marT="36000" marB="36000" marR="36000" marL="36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solidFill>
                            <a:schemeClr val="dk1"/>
                          </a:solidFill>
                        </a:rPr>
                        <a:t>3 - Baixo Volume e Alta Velocidade</a:t>
                      </a:r>
                      <a:endParaRPr sz="1500"/>
                    </a:p>
                  </a:txBody>
                  <a:tcPr marT="36000" marB="36000" marR="36000" marL="36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Não</a:t>
                      </a:r>
                      <a:endParaRPr sz="1500"/>
                    </a:p>
                  </a:txBody>
                  <a:tcPr marT="36000" marB="36000" marR="36000" marL="36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Sim</a:t>
                      </a:r>
                      <a:endParaRPr sz="1500"/>
                    </a:p>
                  </a:txBody>
                  <a:tcPr marT="36000" marB="36000" marR="36000" marL="36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1500">
                          <a:solidFill>
                            <a:schemeClr val="dk1"/>
                          </a:solidFill>
                        </a:rPr>
                        <a:t>4 - Alto Volume e Alta Velocidade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36000" marB="36000" marR="36000" marL="36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Sim </a:t>
                      </a:r>
                      <a:endParaRPr sz="1500"/>
                    </a:p>
                  </a:txBody>
                  <a:tcPr marT="36000" marB="36000" marR="36000" marL="36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/>
                        <a:t>Sim</a:t>
                      </a:r>
                      <a:endParaRPr sz="1500"/>
                    </a:p>
                  </a:txBody>
                  <a:tcPr marT="36000" marB="36000" marR="36000" marL="36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5"/>
          <p:cNvSpPr txBox="1"/>
          <p:nvPr>
            <p:ph idx="1" type="body"/>
          </p:nvPr>
        </p:nvSpPr>
        <p:spPr>
          <a:xfrm>
            <a:off x="20650" y="709825"/>
            <a:ext cx="9099000" cy="4433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chemeClr val="dk1"/>
                </a:solidFill>
              </a:rPr>
              <a:t>Algoritmo de Louvain: </a:t>
            </a:r>
            <a:r>
              <a:rPr lang="pt-BR" sz="2300">
                <a:solidFill>
                  <a:schemeClr val="dk1"/>
                </a:solidFill>
              </a:rPr>
              <a:t>Detecta comunidades com base na otimização da </a:t>
            </a:r>
            <a:r>
              <a:rPr i="1" lang="pt-BR" sz="2300">
                <a:solidFill>
                  <a:schemeClr val="dk1"/>
                </a:solidFill>
              </a:rPr>
              <a:t>modularidade, </a:t>
            </a:r>
            <a:r>
              <a:rPr lang="pt-BR" sz="2300">
                <a:solidFill>
                  <a:schemeClr val="dk1"/>
                </a:solidFill>
              </a:rPr>
              <a:t>que varia entre -0.5 e 1</a:t>
            </a:r>
            <a:endParaRPr sz="23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t-BR" sz="2200">
                <a:solidFill>
                  <a:schemeClr val="dk1"/>
                </a:solidFill>
              </a:rPr>
              <a:t>Valores práticos geralmente variam entre 0.3 e 0.7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>
                <a:solidFill>
                  <a:schemeClr val="dk1"/>
                </a:solidFill>
              </a:rPr>
              <a:t>Permite verificar a </a:t>
            </a:r>
            <a:r>
              <a:rPr b="1" lang="pt-BR" sz="2300">
                <a:solidFill>
                  <a:schemeClr val="dk1"/>
                </a:solidFill>
              </a:rPr>
              <a:t>organização dos nós nas classes de arestas</a:t>
            </a:r>
            <a:r>
              <a:rPr lang="pt-BR" sz="2300">
                <a:solidFill>
                  <a:schemeClr val="dk1"/>
                </a:solidFill>
              </a:rPr>
              <a:t> em estruturas de comunidades com padrões de disseminação</a:t>
            </a:r>
            <a:endParaRPr sz="23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pt-BR" sz="2200">
                <a:solidFill>
                  <a:schemeClr val="dk1"/>
                </a:solidFill>
              </a:rPr>
              <a:t>Isto é, subconjuntos de nós com conexões mais densas entre si do que com o restante da rede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</p:txBody>
      </p:sp>
      <p:sp>
        <p:nvSpPr>
          <p:cNvPr id="299" name="Google Shape;299;p35"/>
          <p:cNvSpPr txBox="1"/>
          <p:nvPr>
            <p:ph type="title"/>
          </p:nvPr>
        </p:nvSpPr>
        <p:spPr>
          <a:xfrm>
            <a:off x="0" y="4825"/>
            <a:ext cx="8932500" cy="857400"/>
          </a:xfrm>
          <a:prstGeom prst="rect">
            <a:avLst/>
          </a:prstGeom>
        </p:spPr>
        <p:txBody>
          <a:bodyPr anchorCtr="0" anchor="b" bIns="1800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/>
              <a:t>Caracterização de padrões de coordenação</a:t>
            </a:r>
            <a:endParaRPr sz="3300">
              <a:solidFill>
                <a:srgbClr val="001B62"/>
              </a:solidFill>
            </a:endParaRPr>
          </a:p>
        </p:txBody>
      </p:sp>
      <p:sp>
        <p:nvSpPr>
          <p:cNvPr id="300" name="Google Shape;300;p35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301" name="Google Shape;301;p35"/>
          <p:cNvGrpSpPr/>
          <p:nvPr/>
        </p:nvGrpSpPr>
        <p:grpSpPr>
          <a:xfrm>
            <a:off x="698675" y="2107575"/>
            <a:ext cx="7535150" cy="1273875"/>
            <a:chOff x="698675" y="2415150"/>
            <a:chExt cx="7535150" cy="1273875"/>
          </a:xfrm>
        </p:grpSpPr>
        <p:pic>
          <p:nvPicPr>
            <p:cNvPr id="302" name="Google Shape;302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8675" y="2434881"/>
              <a:ext cx="2227782" cy="1015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3" name="Google Shape;30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216395" y="2434883"/>
              <a:ext cx="2227782" cy="10157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" name="Google Shape;304;p3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633586" y="2415150"/>
              <a:ext cx="2314339" cy="1055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5" name="Google Shape;305;p35"/>
            <p:cNvSpPr txBox="1"/>
            <p:nvPr/>
          </p:nvSpPr>
          <p:spPr>
            <a:xfrm>
              <a:off x="2464825" y="3412125"/>
              <a:ext cx="5769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600"/>
                <a:t>https://www.cos.ufrj.br/~daniel/rc-2019/slides/aula_15.pdf</a:t>
              </a:r>
              <a:endParaRPr sz="60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6"/>
          <p:cNvSpPr txBox="1"/>
          <p:nvPr>
            <p:ph idx="1" type="body"/>
          </p:nvPr>
        </p:nvSpPr>
        <p:spPr>
          <a:xfrm>
            <a:off x="20650" y="709825"/>
            <a:ext cx="9099000" cy="4227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chemeClr val="dk1"/>
                </a:solidFill>
              </a:rPr>
              <a:t>Twitter/X:</a:t>
            </a:r>
            <a:r>
              <a:rPr lang="pt-BR" sz="2300">
                <a:solidFill>
                  <a:schemeClr val="dk1"/>
                </a:solidFill>
              </a:rPr>
              <a:t> Dados coletados entre 01/10/2022 e 10/02/2023, período que abrangeu eventos-chave das eleições gerais brasileiras de 2022</a:t>
            </a:r>
            <a:br>
              <a:rPr lang="pt-BR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300">
                <a:solidFill>
                  <a:schemeClr val="dk1"/>
                </a:solidFill>
              </a:rPr>
              <a:t>As redes foram modeladas para duas janelas de tempo diárias: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br>
              <a:rPr lang="pt-BR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pt-BR" sz="2300">
                <a:solidFill>
                  <a:schemeClr val="dk1"/>
                </a:solidFill>
              </a:rPr>
              <a:t>Rede:</a:t>
            </a:r>
            <a:r>
              <a:rPr lang="pt-BR" sz="2300">
                <a:solidFill>
                  <a:schemeClr val="dk1"/>
                </a:solidFill>
              </a:rPr>
              <a:t> Co-retweet</a:t>
            </a:r>
            <a:endParaRPr sz="2300">
              <a:solidFill>
                <a:schemeClr val="dk1"/>
              </a:solidFill>
            </a:endParaRPr>
          </a:p>
        </p:txBody>
      </p:sp>
      <p:sp>
        <p:nvSpPr>
          <p:cNvPr id="311" name="Google Shape;311;p36"/>
          <p:cNvSpPr txBox="1"/>
          <p:nvPr>
            <p:ph type="title"/>
          </p:nvPr>
        </p:nvSpPr>
        <p:spPr>
          <a:xfrm>
            <a:off x="0" y="4825"/>
            <a:ext cx="8932500" cy="857400"/>
          </a:xfrm>
          <a:prstGeom prst="rect">
            <a:avLst/>
          </a:prstGeom>
        </p:spPr>
        <p:txBody>
          <a:bodyPr anchorCtr="0" anchor="b" bIns="1800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/>
              <a:t>Estudos de caso</a:t>
            </a:r>
            <a:endParaRPr sz="3300">
              <a:solidFill>
                <a:srgbClr val="001B62"/>
              </a:solidFill>
            </a:endParaRPr>
          </a:p>
        </p:txBody>
      </p:sp>
      <p:sp>
        <p:nvSpPr>
          <p:cNvPr id="312" name="Google Shape;312;p36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13" name="Google Shape;31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300" y="2426075"/>
            <a:ext cx="7173394" cy="172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7"/>
          <p:cNvSpPr txBox="1"/>
          <p:nvPr>
            <p:ph idx="1" type="body"/>
          </p:nvPr>
        </p:nvSpPr>
        <p:spPr>
          <a:xfrm>
            <a:off x="20650" y="709825"/>
            <a:ext cx="9099000" cy="4227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chemeClr val="dk1"/>
                </a:solidFill>
              </a:rPr>
              <a:t>Telegram:</a:t>
            </a:r>
            <a:r>
              <a:rPr lang="pt-BR" sz="2300">
                <a:solidFill>
                  <a:schemeClr val="dk1"/>
                </a:solidFill>
              </a:rPr>
              <a:t> </a:t>
            </a:r>
            <a:r>
              <a:rPr lang="pt-BR" sz="2300">
                <a:solidFill>
                  <a:schemeClr val="dk1"/>
                </a:solidFill>
              </a:rPr>
              <a:t>Mensagens de grupos politicamente orientados do Telegram no Brasil, entre 01/09/2022 e 31/01/2023</a:t>
            </a:r>
            <a:br>
              <a:rPr lang="pt-BR" sz="2300">
                <a:solidFill>
                  <a:schemeClr val="dk1"/>
                </a:solidFill>
              </a:rPr>
            </a:br>
            <a:br>
              <a:rPr lang="pt-BR" sz="2300">
                <a:solidFill>
                  <a:schemeClr val="dk1"/>
                </a:solidFill>
              </a:rPr>
            </a:br>
            <a:r>
              <a:rPr lang="pt-BR" sz="2300">
                <a:solidFill>
                  <a:schemeClr val="dk1"/>
                </a:solidFill>
              </a:rPr>
              <a:t>A</a:t>
            </a:r>
            <a:r>
              <a:rPr lang="pt-BR" sz="2300">
                <a:solidFill>
                  <a:schemeClr val="dk1"/>
                </a:solidFill>
              </a:rPr>
              <a:t>nalisamos três janelas de tempo de 15 dias, sendo 7 antes e 7 depois em torno dos seguintes eventos para análise: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chemeClr val="dk1"/>
                </a:solidFill>
              </a:rPr>
              <a:t>Rede:</a:t>
            </a:r>
            <a:r>
              <a:rPr lang="pt-BR" sz="2300">
                <a:solidFill>
                  <a:schemeClr val="dk1"/>
                </a:solidFill>
              </a:rPr>
              <a:t> Usuários que compartilham uma mesma mensagem em grupos</a:t>
            </a:r>
            <a:br>
              <a:rPr lang="pt-BR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</p:txBody>
      </p:sp>
      <p:sp>
        <p:nvSpPr>
          <p:cNvPr id="319" name="Google Shape;319;p37"/>
          <p:cNvSpPr txBox="1"/>
          <p:nvPr>
            <p:ph type="title"/>
          </p:nvPr>
        </p:nvSpPr>
        <p:spPr>
          <a:xfrm>
            <a:off x="0" y="4825"/>
            <a:ext cx="8932500" cy="857400"/>
          </a:xfrm>
          <a:prstGeom prst="rect">
            <a:avLst/>
          </a:prstGeom>
        </p:spPr>
        <p:txBody>
          <a:bodyPr anchorCtr="0" anchor="b" bIns="1800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/>
              <a:t>Estudos de caso</a:t>
            </a:r>
            <a:endParaRPr sz="3300">
              <a:solidFill>
                <a:srgbClr val="001B62"/>
              </a:solidFill>
            </a:endParaRPr>
          </a:p>
        </p:txBody>
      </p:sp>
      <p:sp>
        <p:nvSpPr>
          <p:cNvPr id="320" name="Google Shape;320;p37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321" name="Google Shape;321;p37"/>
          <p:cNvGrpSpPr/>
          <p:nvPr/>
        </p:nvGrpSpPr>
        <p:grpSpPr>
          <a:xfrm>
            <a:off x="1329412" y="2668663"/>
            <a:ext cx="6481496" cy="1860164"/>
            <a:chOff x="946900" y="2616565"/>
            <a:chExt cx="7429500" cy="2320854"/>
          </a:xfrm>
        </p:grpSpPr>
        <p:pic>
          <p:nvPicPr>
            <p:cNvPr id="322" name="Google Shape;322;p37"/>
            <p:cNvPicPr preferRelativeResize="0"/>
            <p:nvPr/>
          </p:nvPicPr>
          <p:blipFill rotWithShape="1">
            <a:blip r:embed="rId3">
              <a:alphaModFix/>
            </a:blip>
            <a:srcRect b="0" l="0" r="0" t="49927"/>
            <a:stretch/>
          </p:blipFill>
          <p:spPr>
            <a:xfrm>
              <a:off x="946900" y="3196619"/>
              <a:ext cx="7429500" cy="174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3" name="Google Shape;323;p37"/>
            <p:cNvPicPr preferRelativeResize="0"/>
            <p:nvPr/>
          </p:nvPicPr>
          <p:blipFill rotWithShape="1">
            <a:blip r:embed="rId3">
              <a:alphaModFix/>
            </a:blip>
            <a:srcRect b="81426" l="0" r="0" t="0"/>
            <a:stretch/>
          </p:blipFill>
          <p:spPr>
            <a:xfrm>
              <a:off x="946900" y="2616565"/>
              <a:ext cx="7429500" cy="6457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8"/>
          <p:cNvSpPr txBox="1"/>
          <p:nvPr>
            <p:ph type="title"/>
          </p:nvPr>
        </p:nvSpPr>
        <p:spPr>
          <a:xfrm>
            <a:off x="0" y="4825"/>
            <a:ext cx="8932500" cy="857400"/>
          </a:xfrm>
          <a:prstGeom prst="rect">
            <a:avLst/>
          </a:prstGeom>
        </p:spPr>
        <p:txBody>
          <a:bodyPr anchorCtr="0" anchor="b" bIns="1800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/>
              <a:t>Resultados: Estrutura emergente no Twitter/X </a:t>
            </a:r>
            <a:endParaRPr sz="3200">
              <a:solidFill>
                <a:srgbClr val="001B62"/>
              </a:solidFill>
            </a:endParaRPr>
          </a:p>
        </p:txBody>
      </p:sp>
      <p:sp>
        <p:nvSpPr>
          <p:cNvPr id="329" name="Google Shape;329;p38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30" name="Google Shape;33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275" y="862225"/>
            <a:ext cx="8883448" cy="3068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9"/>
          <p:cNvSpPr txBox="1"/>
          <p:nvPr>
            <p:ph type="title"/>
          </p:nvPr>
        </p:nvSpPr>
        <p:spPr>
          <a:xfrm>
            <a:off x="0" y="4825"/>
            <a:ext cx="8932500" cy="857400"/>
          </a:xfrm>
          <a:prstGeom prst="rect">
            <a:avLst/>
          </a:prstGeom>
        </p:spPr>
        <p:txBody>
          <a:bodyPr anchorCtr="0" anchor="b" bIns="1800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/>
              <a:t>Resultados: Estrutura emergente no Twitter/X </a:t>
            </a:r>
            <a:endParaRPr sz="3200">
              <a:solidFill>
                <a:srgbClr val="001B62"/>
              </a:solidFill>
            </a:endParaRPr>
          </a:p>
        </p:txBody>
      </p:sp>
      <p:sp>
        <p:nvSpPr>
          <p:cNvPr id="336" name="Google Shape;336;p39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37" name="Google Shape;33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275" y="862225"/>
            <a:ext cx="8883448" cy="3068951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9"/>
          <p:cNvSpPr/>
          <p:nvPr/>
        </p:nvSpPr>
        <p:spPr>
          <a:xfrm>
            <a:off x="4308050" y="903200"/>
            <a:ext cx="4661700" cy="2969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9" name="Google Shape;339;p39"/>
          <p:cNvSpPr/>
          <p:nvPr/>
        </p:nvSpPr>
        <p:spPr>
          <a:xfrm>
            <a:off x="2347000" y="914400"/>
            <a:ext cx="1972200" cy="2947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0" name="Google Shape;340;p39"/>
          <p:cNvSpPr txBox="1"/>
          <p:nvPr/>
        </p:nvSpPr>
        <p:spPr>
          <a:xfrm>
            <a:off x="532200" y="4108075"/>
            <a:ext cx="80796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latin typeface="Lato"/>
                <a:ea typeface="Lato"/>
                <a:cs typeface="Lato"/>
                <a:sym typeface="Lato"/>
              </a:rPr>
              <a:t>Nota-se um equilíbrio no número de vértices, que não é observado para as arestas das redes</a:t>
            </a:r>
            <a:endParaRPr sz="2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0"/>
          <p:cNvSpPr txBox="1"/>
          <p:nvPr>
            <p:ph type="title"/>
          </p:nvPr>
        </p:nvSpPr>
        <p:spPr>
          <a:xfrm>
            <a:off x="0" y="4825"/>
            <a:ext cx="8932500" cy="857400"/>
          </a:xfrm>
          <a:prstGeom prst="rect">
            <a:avLst/>
          </a:prstGeom>
        </p:spPr>
        <p:txBody>
          <a:bodyPr anchorCtr="0" anchor="b" bIns="1800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/>
              <a:t>Resultados: Estrutura emergente no Twitter/X </a:t>
            </a:r>
            <a:endParaRPr sz="3200">
              <a:solidFill>
                <a:srgbClr val="001B62"/>
              </a:solidFill>
            </a:endParaRPr>
          </a:p>
        </p:txBody>
      </p:sp>
      <p:sp>
        <p:nvSpPr>
          <p:cNvPr id="346" name="Google Shape;346;p40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47" name="Google Shape;34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275" y="862225"/>
            <a:ext cx="8883448" cy="3068951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40"/>
          <p:cNvSpPr/>
          <p:nvPr/>
        </p:nvSpPr>
        <p:spPr>
          <a:xfrm>
            <a:off x="4308050" y="903200"/>
            <a:ext cx="4661700" cy="2969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9" name="Google Shape;349;p40"/>
          <p:cNvSpPr/>
          <p:nvPr/>
        </p:nvSpPr>
        <p:spPr>
          <a:xfrm>
            <a:off x="158775" y="1228175"/>
            <a:ext cx="4149300" cy="358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0" name="Google Shape;350;p40"/>
          <p:cNvSpPr txBox="1"/>
          <p:nvPr/>
        </p:nvSpPr>
        <p:spPr>
          <a:xfrm>
            <a:off x="96900" y="4108075"/>
            <a:ext cx="89325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latin typeface="Lato"/>
                <a:ea typeface="Lato"/>
                <a:cs typeface="Lato"/>
                <a:sym typeface="Lato"/>
              </a:rPr>
              <a:t>Especialmente para as classes 1 (em nenhum backbone) e 4 (nós dois backbones), devido às suas características</a:t>
            </a:r>
            <a:endParaRPr sz="2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1" name="Google Shape;351;p40"/>
          <p:cNvSpPr/>
          <p:nvPr/>
        </p:nvSpPr>
        <p:spPr>
          <a:xfrm>
            <a:off x="158750" y="2217450"/>
            <a:ext cx="4149300" cy="678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2" name="Google Shape;352;p40"/>
          <p:cNvSpPr/>
          <p:nvPr/>
        </p:nvSpPr>
        <p:spPr>
          <a:xfrm>
            <a:off x="158800" y="3559100"/>
            <a:ext cx="4149300" cy="313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1"/>
          <p:cNvSpPr txBox="1"/>
          <p:nvPr>
            <p:ph type="title"/>
          </p:nvPr>
        </p:nvSpPr>
        <p:spPr>
          <a:xfrm>
            <a:off x="0" y="4825"/>
            <a:ext cx="8932500" cy="857400"/>
          </a:xfrm>
          <a:prstGeom prst="rect">
            <a:avLst/>
          </a:prstGeom>
        </p:spPr>
        <p:txBody>
          <a:bodyPr anchorCtr="0" anchor="b" bIns="1800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/>
              <a:t>Resultados: Estrutura emergente no Twitter/X </a:t>
            </a:r>
            <a:endParaRPr sz="3200">
              <a:solidFill>
                <a:srgbClr val="001B62"/>
              </a:solidFill>
            </a:endParaRPr>
          </a:p>
        </p:txBody>
      </p:sp>
      <p:sp>
        <p:nvSpPr>
          <p:cNvPr id="358" name="Google Shape;358;p41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59" name="Google Shape;35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275" y="862225"/>
            <a:ext cx="8883448" cy="3068951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41"/>
          <p:cNvSpPr txBox="1"/>
          <p:nvPr/>
        </p:nvSpPr>
        <p:spPr>
          <a:xfrm>
            <a:off x="49050" y="4108075"/>
            <a:ext cx="90951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latin typeface="Lato"/>
                <a:ea typeface="Lato"/>
                <a:cs typeface="Lato"/>
                <a:sym typeface="Lato"/>
              </a:rPr>
              <a:t>A organização dos vértices em comunidades nas redes com diferentes classes reforça a importância da aplicação do backbone de forma bidimensional</a:t>
            </a:r>
            <a:endParaRPr sz="2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1" name="Google Shape;361;p41"/>
          <p:cNvSpPr/>
          <p:nvPr/>
        </p:nvSpPr>
        <p:spPr>
          <a:xfrm>
            <a:off x="2349500" y="914400"/>
            <a:ext cx="5029200" cy="295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2" name="Google Shape;362;p41"/>
          <p:cNvSpPr/>
          <p:nvPr/>
        </p:nvSpPr>
        <p:spPr>
          <a:xfrm>
            <a:off x="8267700" y="1238250"/>
            <a:ext cx="705000" cy="2635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28575">
            <a:solidFill>
              <a:srgbClr val="9633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2"/>
          <p:cNvSpPr txBox="1"/>
          <p:nvPr>
            <p:ph type="title"/>
          </p:nvPr>
        </p:nvSpPr>
        <p:spPr>
          <a:xfrm>
            <a:off x="0" y="4825"/>
            <a:ext cx="8932500" cy="857400"/>
          </a:xfrm>
          <a:prstGeom prst="rect">
            <a:avLst/>
          </a:prstGeom>
        </p:spPr>
        <p:txBody>
          <a:bodyPr anchorCtr="0" anchor="b" bIns="1800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/>
              <a:t>Resultados: Estrutura emergente no Twitter/X </a:t>
            </a:r>
            <a:endParaRPr sz="3200">
              <a:solidFill>
                <a:srgbClr val="001B62"/>
              </a:solidFill>
            </a:endParaRPr>
          </a:p>
        </p:txBody>
      </p:sp>
      <p:sp>
        <p:nvSpPr>
          <p:cNvPr id="368" name="Google Shape;368;p42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69" name="Google Shape;36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275" y="862225"/>
            <a:ext cx="8883448" cy="3068951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42"/>
          <p:cNvSpPr txBox="1"/>
          <p:nvPr/>
        </p:nvSpPr>
        <p:spPr>
          <a:xfrm>
            <a:off x="532200" y="4108075"/>
            <a:ext cx="80796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latin typeface="Lato"/>
                <a:ea typeface="Lato"/>
                <a:cs typeface="Lato"/>
                <a:sym typeface="Lato"/>
              </a:rPr>
              <a:t>Quando filtradas as arestas ruidosas, uma estrutura de comunidades de usuários pode ser mais claramente observada</a:t>
            </a:r>
            <a:endParaRPr sz="2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1" name="Google Shape;371;p42"/>
          <p:cNvSpPr/>
          <p:nvPr/>
        </p:nvSpPr>
        <p:spPr>
          <a:xfrm>
            <a:off x="2349500" y="914400"/>
            <a:ext cx="5029200" cy="295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2" name="Google Shape;372;p42"/>
          <p:cNvSpPr/>
          <p:nvPr/>
        </p:nvSpPr>
        <p:spPr>
          <a:xfrm>
            <a:off x="8267700" y="2222500"/>
            <a:ext cx="705000" cy="349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28575">
            <a:solidFill>
              <a:srgbClr val="9633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3" name="Google Shape;373;p42"/>
          <p:cNvSpPr/>
          <p:nvPr/>
        </p:nvSpPr>
        <p:spPr>
          <a:xfrm>
            <a:off x="8267700" y="3560100"/>
            <a:ext cx="705000" cy="313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28575">
            <a:solidFill>
              <a:srgbClr val="9633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3"/>
          <p:cNvSpPr txBox="1"/>
          <p:nvPr>
            <p:ph type="title"/>
          </p:nvPr>
        </p:nvSpPr>
        <p:spPr>
          <a:xfrm>
            <a:off x="0" y="4825"/>
            <a:ext cx="8932500" cy="857400"/>
          </a:xfrm>
          <a:prstGeom prst="rect">
            <a:avLst/>
          </a:prstGeom>
        </p:spPr>
        <p:txBody>
          <a:bodyPr anchorCtr="0" anchor="b" bIns="1800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/>
              <a:t>Resultados: Estrutura emergente no Twitter/X </a:t>
            </a:r>
            <a:endParaRPr sz="3200">
              <a:solidFill>
                <a:srgbClr val="001B62"/>
              </a:solidFill>
            </a:endParaRPr>
          </a:p>
        </p:txBody>
      </p:sp>
      <p:sp>
        <p:nvSpPr>
          <p:cNvPr id="379" name="Google Shape;379;p43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80" name="Google Shape;38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675" y="1250550"/>
            <a:ext cx="4213600" cy="30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231100"/>
            <a:ext cx="4290208" cy="3072476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43"/>
          <p:cNvSpPr txBox="1"/>
          <p:nvPr/>
        </p:nvSpPr>
        <p:spPr>
          <a:xfrm>
            <a:off x="2321100" y="780550"/>
            <a:ext cx="4290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>
                <a:latin typeface="Lato"/>
                <a:ea typeface="Lato"/>
                <a:cs typeface="Lato"/>
                <a:sym typeface="Lato"/>
              </a:rPr>
              <a:t>Janela de tempo: 01/11/2022</a:t>
            </a:r>
            <a:endParaRPr sz="23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4"/>
          <p:cNvSpPr txBox="1"/>
          <p:nvPr>
            <p:ph type="title"/>
          </p:nvPr>
        </p:nvSpPr>
        <p:spPr>
          <a:xfrm>
            <a:off x="0" y="4825"/>
            <a:ext cx="8932500" cy="857400"/>
          </a:xfrm>
          <a:prstGeom prst="rect">
            <a:avLst/>
          </a:prstGeom>
        </p:spPr>
        <p:txBody>
          <a:bodyPr anchorCtr="0" anchor="b" bIns="1800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/>
              <a:t>Resultados: Estrutura emergente no Twitter/X </a:t>
            </a:r>
            <a:endParaRPr sz="3200">
              <a:solidFill>
                <a:srgbClr val="001B62"/>
              </a:solidFill>
            </a:endParaRPr>
          </a:p>
        </p:txBody>
      </p:sp>
      <p:sp>
        <p:nvSpPr>
          <p:cNvPr id="388" name="Google Shape;388;p44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89" name="Google Shape;38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675" y="1250550"/>
            <a:ext cx="4213600" cy="30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44"/>
          <p:cNvSpPr txBox="1"/>
          <p:nvPr/>
        </p:nvSpPr>
        <p:spPr>
          <a:xfrm>
            <a:off x="2321100" y="780550"/>
            <a:ext cx="4290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>
                <a:latin typeface="Lato"/>
                <a:ea typeface="Lato"/>
                <a:cs typeface="Lato"/>
                <a:sym typeface="Lato"/>
              </a:rPr>
              <a:t>Janela de tempo: 01/11/2022</a:t>
            </a:r>
            <a:endParaRPr sz="23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91" name="Google Shape;391;p44"/>
          <p:cNvCxnSpPr/>
          <p:nvPr/>
        </p:nvCxnSpPr>
        <p:spPr>
          <a:xfrm flipH="1" rot="10800000">
            <a:off x="1473200" y="2781400"/>
            <a:ext cx="584100" cy="584100"/>
          </a:xfrm>
          <a:prstGeom prst="straightConnector1">
            <a:avLst/>
          </a:prstGeom>
          <a:noFill/>
          <a:ln cap="flat" cmpd="sng" w="38100">
            <a:solidFill>
              <a:srgbClr val="963334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92" name="Google Shape;392;p44"/>
          <p:cNvSpPr txBox="1"/>
          <p:nvPr/>
        </p:nvSpPr>
        <p:spPr>
          <a:xfrm>
            <a:off x="-88950" y="4284125"/>
            <a:ext cx="9321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latin typeface="Lato"/>
                <a:ea typeface="Lato"/>
                <a:cs typeface="Lato"/>
                <a:sym typeface="Lato"/>
              </a:rPr>
              <a:t>Classes 2 e 4, apresentam distribuições notadamente mais à direita no eixo-x,  representando um maior número de retweets</a:t>
            </a:r>
            <a:endParaRPr sz="22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5"/>
          <p:cNvSpPr txBox="1"/>
          <p:nvPr>
            <p:ph type="title"/>
          </p:nvPr>
        </p:nvSpPr>
        <p:spPr>
          <a:xfrm>
            <a:off x="0" y="4825"/>
            <a:ext cx="8932500" cy="857400"/>
          </a:xfrm>
          <a:prstGeom prst="rect">
            <a:avLst/>
          </a:prstGeom>
        </p:spPr>
        <p:txBody>
          <a:bodyPr anchorCtr="0" anchor="b" bIns="1800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/>
              <a:t>Resultados: Estrutura emergente no Twitter/X </a:t>
            </a:r>
            <a:endParaRPr sz="3200">
              <a:solidFill>
                <a:srgbClr val="001B62"/>
              </a:solidFill>
            </a:endParaRPr>
          </a:p>
        </p:txBody>
      </p:sp>
      <p:sp>
        <p:nvSpPr>
          <p:cNvPr id="398" name="Google Shape;398;p45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99" name="Google Shape;39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231100"/>
            <a:ext cx="4290208" cy="3072476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45"/>
          <p:cNvSpPr txBox="1"/>
          <p:nvPr/>
        </p:nvSpPr>
        <p:spPr>
          <a:xfrm>
            <a:off x="2321100" y="780550"/>
            <a:ext cx="42903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>
                <a:latin typeface="Lato"/>
                <a:ea typeface="Lato"/>
                <a:cs typeface="Lato"/>
                <a:sym typeface="Lato"/>
              </a:rPr>
              <a:t>Janela de tempo: 01/11/2022</a:t>
            </a:r>
            <a:endParaRPr sz="2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1" name="Google Shape;401;p45"/>
          <p:cNvSpPr txBox="1"/>
          <p:nvPr/>
        </p:nvSpPr>
        <p:spPr>
          <a:xfrm>
            <a:off x="-88950" y="4284125"/>
            <a:ext cx="9321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latin typeface="Lato"/>
                <a:ea typeface="Lato"/>
                <a:cs typeface="Lato"/>
                <a:sym typeface="Lato"/>
              </a:rPr>
              <a:t>Já as classes 3 e 4 apresentam distribuições mais à esquerda,  representando um tempo médio de retweets menor</a:t>
            </a:r>
            <a:endParaRPr sz="22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02" name="Google Shape;402;p45"/>
          <p:cNvCxnSpPr/>
          <p:nvPr/>
        </p:nvCxnSpPr>
        <p:spPr>
          <a:xfrm>
            <a:off x="5016500" y="1625600"/>
            <a:ext cx="838200" cy="546000"/>
          </a:xfrm>
          <a:prstGeom prst="straightConnector1">
            <a:avLst/>
          </a:prstGeom>
          <a:noFill/>
          <a:ln cap="flat" cmpd="sng" w="38100">
            <a:solidFill>
              <a:srgbClr val="963334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6"/>
          <p:cNvSpPr txBox="1"/>
          <p:nvPr>
            <p:ph type="title"/>
          </p:nvPr>
        </p:nvSpPr>
        <p:spPr>
          <a:xfrm>
            <a:off x="0" y="4825"/>
            <a:ext cx="8932500" cy="857400"/>
          </a:xfrm>
          <a:prstGeom prst="rect">
            <a:avLst/>
          </a:prstGeom>
        </p:spPr>
        <p:txBody>
          <a:bodyPr anchorCtr="0" anchor="b" bIns="1800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/>
              <a:t>Resultados: Estrutura emergente no Telegram</a:t>
            </a:r>
            <a:endParaRPr sz="3300"/>
          </a:p>
        </p:txBody>
      </p:sp>
      <p:sp>
        <p:nvSpPr>
          <p:cNvPr id="408" name="Google Shape;408;p46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409" name="Google Shape;409;p46"/>
          <p:cNvGrpSpPr/>
          <p:nvPr/>
        </p:nvGrpSpPr>
        <p:grpSpPr>
          <a:xfrm>
            <a:off x="598300" y="1040711"/>
            <a:ext cx="7947400" cy="2944339"/>
            <a:chOff x="748850" y="1190549"/>
            <a:chExt cx="7947400" cy="2944339"/>
          </a:xfrm>
        </p:grpSpPr>
        <p:pic>
          <p:nvPicPr>
            <p:cNvPr id="410" name="Google Shape;410;p46"/>
            <p:cNvPicPr preferRelativeResize="0"/>
            <p:nvPr/>
          </p:nvPicPr>
          <p:blipFill rotWithShape="1">
            <a:blip r:embed="rId3">
              <a:alphaModFix/>
            </a:blip>
            <a:srcRect b="0" l="0" r="0" t="38026"/>
            <a:stretch/>
          </p:blipFill>
          <p:spPr>
            <a:xfrm>
              <a:off x="748850" y="1500462"/>
              <a:ext cx="7947400" cy="2634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1" name="Google Shape;411;p46"/>
            <p:cNvPicPr preferRelativeResize="0"/>
            <p:nvPr/>
          </p:nvPicPr>
          <p:blipFill rotWithShape="1">
            <a:blip r:embed="rId3">
              <a:alphaModFix/>
            </a:blip>
            <a:srcRect b="91127" l="0" r="0" t="0"/>
            <a:stretch/>
          </p:blipFill>
          <p:spPr>
            <a:xfrm>
              <a:off x="748850" y="1190549"/>
              <a:ext cx="7947400" cy="37715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7"/>
          <p:cNvSpPr txBox="1"/>
          <p:nvPr>
            <p:ph type="title"/>
          </p:nvPr>
        </p:nvSpPr>
        <p:spPr>
          <a:xfrm>
            <a:off x="0" y="4825"/>
            <a:ext cx="8932500" cy="857400"/>
          </a:xfrm>
          <a:prstGeom prst="rect">
            <a:avLst/>
          </a:prstGeom>
        </p:spPr>
        <p:txBody>
          <a:bodyPr anchorCtr="0" anchor="b" bIns="1800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/>
              <a:t>Resultados: Estrutura emergente no Telegram</a:t>
            </a:r>
            <a:endParaRPr sz="3300"/>
          </a:p>
        </p:txBody>
      </p:sp>
      <p:sp>
        <p:nvSpPr>
          <p:cNvPr id="417" name="Google Shape;417;p47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418" name="Google Shape;418;p47"/>
          <p:cNvGrpSpPr/>
          <p:nvPr/>
        </p:nvGrpSpPr>
        <p:grpSpPr>
          <a:xfrm>
            <a:off x="598300" y="1040711"/>
            <a:ext cx="7947400" cy="2944339"/>
            <a:chOff x="598300" y="1345511"/>
            <a:chExt cx="7947400" cy="2944339"/>
          </a:xfrm>
        </p:grpSpPr>
        <p:grpSp>
          <p:nvGrpSpPr>
            <p:cNvPr id="419" name="Google Shape;419;p47"/>
            <p:cNvGrpSpPr/>
            <p:nvPr/>
          </p:nvGrpSpPr>
          <p:grpSpPr>
            <a:xfrm>
              <a:off x="598300" y="1345511"/>
              <a:ext cx="7947400" cy="2944339"/>
              <a:chOff x="748850" y="1190549"/>
              <a:chExt cx="7947400" cy="2944339"/>
            </a:xfrm>
          </p:grpSpPr>
          <p:pic>
            <p:nvPicPr>
              <p:cNvPr id="420" name="Google Shape;420;p4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38026"/>
              <a:stretch/>
            </p:blipFill>
            <p:spPr>
              <a:xfrm>
                <a:off x="748850" y="1500462"/>
                <a:ext cx="7947400" cy="26344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21" name="Google Shape;421;p47"/>
              <p:cNvPicPr preferRelativeResize="0"/>
              <p:nvPr/>
            </p:nvPicPr>
            <p:blipFill rotWithShape="1">
              <a:blip r:embed="rId3">
                <a:alphaModFix/>
              </a:blip>
              <a:srcRect b="91127" l="0" r="0" t="0"/>
              <a:stretch/>
            </p:blipFill>
            <p:spPr>
              <a:xfrm>
                <a:off x="748850" y="1190549"/>
                <a:ext cx="7947400" cy="3771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22" name="Google Shape;422;p47"/>
            <p:cNvSpPr/>
            <p:nvPr/>
          </p:nvSpPr>
          <p:spPr>
            <a:xfrm>
              <a:off x="4219575" y="1371600"/>
              <a:ext cx="4290900" cy="2881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23" name="Google Shape;423;p47"/>
            <p:cNvSpPr/>
            <p:nvPr/>
          </p:nvSpPr>
          <p:spPr>
            <a:xfrm>
              <a:off x="2656425" y="1365250"/>
              <a:ext cx="1563300" cy="2881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424" name="Google Shape;424;p47"/>
          <p:cNvSpPr txBox="1"/>
          <p:nvPr/>
        </p:nvSpPr>
        <p:spPr>
          <a:xfrm>
            <a:off x="532200" y="4108075"/>
            <a:ext cx="80796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latin typeface="Lato"/>
                <a:ea typeface="Lato"/>
                <a:cs typeface="Lato"/>
                <a:sym typeface="Lato"/>
              </a:rPr>
              <a:t>Dese</a:t>
            </a:r>
            <a:r>
              <a:rPr lang="pt-BR" sz="2200">
                <a:latin typeface="Lato"/>
                <a:ea typeface="Lato"/>
                <a:cs typeface="Lato"/>
                <a:sym typeface="Lato"/>
              </a:rPr>
              <a:t>quilíbrio tanto no número de vértices, quanto no número de arestas das redes</a:t>
            </a:r>
            <a:endParaRPr sz="22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8"/>
          <p:cNvSpPr txBox="1"/>
          <p:nvPr>
            <p:ph type="title"/>
          </p:nvPr>
        </p:nvSpPr>
        <p:spPr>
          <a:xfrm>
            <a:off x="0" y="4825"/>
            <a:ext cx="8932500" cy="857400"/>
          </a:xfrm>
          <a:prstGeom prst="rect">
            <a:avLst/>
          </a:prstGeom>
        </p:spPr>
        <p:txBody>
          <a:bodyPr anchorCtr="0" anchor="b" bIns="1800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/>
              <a:t>Resultados: Estrutura emergente no Telegram</a:t>
            </a:r>
            <a:endParaRPr sz="3300"/>
          </a:p>
        </p:txBody>
      </p:sp>
      <p:sp>
        <p:nvSpPr>
          <p:cNvPr id="430" name="Google Shape;430;p48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431" name="Google Shape;431;p48"/>
          <p:cNvGrpSpPr/>
          <p:nvPr/>
        </p:nvGrpSpPr>
        <p:grpSpPr>
          <a:xfrm>
            <a:off x="598300" y="1040711"/>
            <a:ext cx="7947400" cy="2944339"/>
            <a:chOff x="598300" y="1345511"/>
            <a:chExt cx="7947400" cy="2944339"/>
          </a:xfrm>
        </p:grpSpPr>
        <p:grpSp>
          <p:nvGrpSpPr>
            <p:cNvPr id="432" name="Google Shape;432;p48"/>
            <p:cNvGrpSpPr/>
            <p:nvPr/>
          </p:nvGrpSpPr>
          <p:grpSpPr>
            <a:xfrm>
              <a:off x="598300" y="1345511"/>
              <a:ext cx="7947400" cy="2944339"/>
              <a:chOff x="748850" y="1190549"/>
              <a:chExt cx="7947400" cy="2944339"/>
            </a:xfrm>
          </p:grpSpPr>
          <p:pic>
            <p:nvPicPr>
              <p:cNvPr id="433" name="Google Shape;433;p4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38026"/>
              <a:stretch/>
            </p:blipFill>
            <p:spPr>
              <a:xfrm>
                <a:off x="748850" y="1500462"/>
                <a:ext cx="7947400" cy="26344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34" name="Google Shape;434;p48"/>
              <p:cNvPicPr preferRelativeResize="0"/>
              <p:nvPr/>
            </p:nvPicPr>
            <p:blipFill rotWithShape="1">
              <a:blip r:embed="rId3">
                <a:alphaModFix/>
              </a:blip>
              <a:srcRect b="91127" l="0" r="0" t="0"/>
              <a:stretch/>
            </p:blipFill>
            <p:spPr>
              <a:xfrm>
                <a:off x="748850" y="1190549"/>
                <a:ext cx="7947400" cy="3771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35" name="Google Shape;435;p48"/>
            <p:cNvSpPr/>
            <p:nvPr/>
          </p:nvSpPr>
          <p:spPr>
            <a:xfrm>
              <a:off x="4219575" y="1371600"/>
              <a:ext cx="4290900" cy="2881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36" name="Google Shape;436;p48"/>
            <p:cNvSpPr/>
            <p:nvPr/>
          </p:nvSpPr>
          <p:spPr>
            <a:xfrm>
              <a:off x="3327400" y="1365250"/>
              <a:ext cx="892200" cy="2881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437" name="Google Shape;437;p48"/>
          <p:cNvSpPr txBox="1"/>
          <p:nvPr/>
        </p:nvSpPr>
        <p:spPr>
          <a:xfrm>
            <a:off x="532200" y="4108075"/>
            <a:ext cx="80796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latin typeface="Lato"/>
                <a:ea typeface="Lato"/>
                <a:cs typeface="Lato"/>
                <a:sym typeface="Lato"/>
              </a:rPr>
              <a:t>Semelhante ao Twitter/X, a classe 1 possui maior número de arestas, porém as outras classes apresentam comportamentos distintos</a:t>
            </a:r>
            <a:endParaRPr sz="21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9"/>
          <p:cNvSpPr txBox="1"/>
          <p:nvPr>
            <p:ph type="title"/>
          </p:nvPr>
        </p:nvSpPr>
        <p:spPr>
          <a:xfrm>
            <a:off x="0" y="4825"/>
            <a:ext cx="8932500" cy="857400"/>
          </a:xfrm>
          <a:prstGeom prst="rect">
            <a:avLst/>
          </a:prstGeom>
        </p:spPr>
        <p:txBody>
          <a:bodyPr anchorCtr="0" anchor="b" bIns="1800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/>
              <a:t>Resultados: Estrutura emergente no Telegram</a:t>
            </a:r>
            <a:endParaRPr sz="3300"/>
          </a:p>
        </p:txBody>
      </p:sp>
      <p:sp>
        <p:nvSpPr>
          <p:cNvPr id="443" name="Google Shape;443;p49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444" name="Google Shape;444;p49"/>
          <p:cNvGrpSpPr/>
          <p:nvPr/>
        </p:nvGrpSpPr>
        <p:grpSpPr>
          <a:xfrm>
            <a:off x="598300" y="1040711"/>
            <a:ext cx="7947400" cy="2944339"/>
            <a:chOff x="598300" y="1345511"/>
            <a:chExt cx="7947400" cy="2944339"/>
          </a:xfrm>
        </p:grpSpPr>
        <p:grpSp>
          <p:nvGrpSpPr>
            <p:cNvPr id="445" name="Google Shape;445;p49"/>
            <p:cNvGrpSpPr/>
            <p:nvPr/>
          </p:nvGrpSpPr>
          <p:grpSpPr>
            <a:xfrm>
              <a:off x="598300" y="1345511"/>
              <a:ext cx="7947400" cy="2944339"/>
              <a:chOff x="748850" y="1190549"/>
              <a:chExt cx="7947400" cy="2944339"/>
            </a:xfrm>
          </p:grpSpPr>
          <p:pic>
            <p:nvPicPr>
              <p:cNvPr id="446" name="Google Shape;446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38026"/>
              <a:stretch/>
            </p:blipFill>
            <p:spPr>
              <a:xfrm>
                <a:off x="748850" y="1500462"/>
                <a:ext cx="7947400" cy="26344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7" name="Google Shape;447;p49"/>
              <p:cNvPicPr preferRelativeResize="0"/>
              <p:nvPr/>
            </p:nvPicPr>
            <p:blipFill rotWithShape="1">
              <a:blip r:embed="rId3">
                <a:alphaModFix/>
              </a:blip>
              <a:srcRect b="91127" l="0" r="0" t="0"/>
              <a:stretch/>
            </p:blipFill>
            <p:spPr>
              <a:xfrm>
                <a:off x="748850" y="1190549"/>
                <a:ext cx="7947400" cy="3771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48" name="Google Shape;448;p49"/>
            <p:cNvSpPr/>
            <p:nvPr/>
          </p:nvSpPr>
          <p:spPr>
            <a:xfrm>
              <a:off x="6956475" y="1352800"/>
              <a:ext cx="1540500" cy="2893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2857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449" name="Google Shape;449;p49"/>
          <p:cNvSpPr txBox="1"/>
          <p:nvPr/>
        </p:nvSpPr>
        <p:spPr>
          <a:xfrm>
            <a:off x="532200" y="4108075"/>
            <a:ext cx="80796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>
                <a:latin typeface="Lato"/>
                <a:ea typeface="Lato"/>
                <a:cs typeface="Lato"/>
                <a:sym typeface="Lato"/>
              </a:rPr>
              <a:t>Quantidade comunidades difere, porém majoritariamente bem estruturadas </a:t>
            </a:r>
            <a:endParaRPr sz="2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0" name="Google Shape;450;p49"/>
          <p:cNvSpPr/>
          <p:nvPr/>
        </p:nvSpPr>
        <p:spPr>
          <a:xfrm>
            <a:off x="2659575" y="1073150"/>
            <a:ext cx="4281000" cy="2876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0"/>
          <p:cNvSpPr txBox="1"/>
          <p:nvPr>
            <p:ph type="title"/>
          </p:nvPr>
        </p:nvSpPr>
        <p:spPr>
          <a:xfrm>
            <a:off x="0" y="4825"/>
            <a:ext cx="8932500" cy="857400"/>
          </a:xfrm>
          <a:prstGeom prst="rect">
            <a:avLst/>
          </a:prstGeom>
        </p:spPr>
        <p:txBody>
          <a:bodyPr anchorCtr="0" anchor="b" bIns="1800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/>
              <a:t>Resultados: Estrutura emergente no Telegram</a:t>
            </a:r>
            <a:endParaRPr sz="3300"/>
          </a:p>
        </p:txBody>
      </p:sp>
      <p:sp>
        <p:nvSpPr>
          <p:cNvPr id="456" name="Google Shape;456;p50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57" name="Google Shape;45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9025"/>
            <a:ext cx="4203065" cy="3063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9869" y="1229029"/>
            <a:ext cx="4155006" cy="306357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50"/>
          <p:cNvSpPr txBox="1"/>
          <p:nvPr/>
        </p:nvSpPr>
        <p:spPr>
          <a:xfrm>
            <a:off x="2616200" y="780550"/>
            <a:ext cx="36843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>
                <a:latin typeface="Lato"/>
                <a:ea typeface="Lato"/>
                <a:cs typeface="Lato"/>
                <a:sym typeface="Lato"/>
              </a:rPr>
              <a:t>Janela de tempo: 2° turno</a:t>
            </a:r>
            <a:endParaRPr sz="23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1"/>
          <p:cNvSpPr txBox="1"/>
          <p:nvPr>
            <p:ph type="title"/>
          </p:nvPr>
        </p:nvSpPr>
        <p:spPr>
          <a:xfrm>
            <a:off x="0" y="4825"/>
            <a:ext cx="8932500" cy="857400"/>
          </a:xfrm>
          <a:prstGeom prst="rect">
            <a:avLst/>
          </a:prstGeom>
        </p:spPr>
        <p:txBody>
          <a:bodyPr anchorCtr="0" anchor="b" bIns="1800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/>
              <a:t>Resultados: Estrutura emergente no Telegram</a:t>
            </a:r>
            <a:endParaRPr sz="3300"/>
          </a:p>
        </p:txBody>
      </p:sp>
      <p:sp>
        <p:nvSpPr>
          <p:cNvPr id="465" name="Google Shape;465;p51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66" name="Google Shape;46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9025"/>
            <a:ext cx="4203065" cy="3063576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51"/>
          <p:cNvSpPr txBox="1"/>
          <p:nvPr/>
        </p:nvSpPr>
        <p:spPr>
          <a:xfrm>
            <a:off x="2616200" y="780550"/>
            <a:ext cx="36843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>
                <a:latin typeface="Lato"/>
                <a:ea typeface="Lato"/>
                <a:cs typeface="Lato"/>
                <a:sym typeface="Lato"/>
              </a:rPr>
              <a:t>Janela de tempo: 2° turno</a:t>
            </a:r>
            <a:endParaRPr sz="23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68" name="Google Shape;468;p51"/>
          <p:cNvCxnSpPr/>
          <p:nvPr/>
        </p:nvCxnSpPr>
        <p:spPr>
          <a:xfrm flipH="1" rot="10800000">
            <a:off x="1295400" y="2756000"/>
            <a:ext cx="584100" cy="584100"/>
          </a:xfrm>
          <a:prstGeom prst="straightConnector1">
            <a:avLst/>
          </a:prstGeom>
          <a:noFill/>
          <a:ln cap="flat" cmpd="sng" w="38100">
            <a:solidFill>
              <a:srgbClr val="963334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69" name="Google Shape;469;p51"/>
          <p:cNvSpPr txBox="1"/>
          <p:nvPr/>
        </p:nvSpPr>
        <p:spPr>
          <a:xfrm>
            <a:off x="-88950" y="4472675"/>
            <a:ext cx="9321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latin typeface="Lato"/>
                <a:ea typeface="Lato"/>
                <a:cs typeface="Lato"/>
                <a:sym typeface="Lato"/>
              </a:rPr>
              <a:t>Classes 2 e 4 mais à direita</a:t>
            </a:r>
            <a:endParaRPr sz="25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2"/>
          <p:cNvSpPr txBox="1"/>
          <p:nvPr>
            <p:ph type="title"/>
          </p:nvPr>
        </p:nvSpPr>
        <p:spPr>
          <a:xfrm>
            <a:off x="0" y="4825"/>
            <a:ext cx="8932500" cy="857400"/>
          </a:xfrm>
          <a:prstGeom prst="rect">
            <a:avLst/>
          </a:prstGeom>
        </p:spPr>
        <p:txBody>
          <a:bodyPr anchorCtr="0" anchor="b" bIns="1800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/>
              <a:t>Resultados: Estrutura emergente no Telegram</a:t>
            </a:r>
            <a:endParaRPr sz="3300"/>
          </a:p>
        </p:txBody>
      </p:sp>
      <p:sp>
        <p:nvSpPr>
          <p:cNvPr id="475" name="Google Shape;475;p52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76" name="Google Shape;47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9869" y="1229029"/>
            <a:ext cx="4155006" cy="306357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52"/>
          <p:cNvSpPr txBox="1"/>
          <p:nvPr/>
        </p:nvSpPr>
        <p:spPr>
          <a:xfrm>
            <a:off x="2616200" y="780550"/>
            <a:ext cx="36843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>
                <a:latin typeface="Lato"/>
                <a:ea typeface="Lato"/>
                <a:cs typeface="Lato"/>
                <a:sym typeface="Lato"/>
              </a:rPr>
              <a:t>Janela de tempo: 2° turno</a:t>
            </a:r>
            <a:endParaRPr sz="2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8" name="Google Shape;478;p52"/>
          <p:cNvSpPr txBox="1"/>
          <p:nvPr/>
        </p:nvSpPr>
        <p:spPr>
          <a:xfrm>
            <a:off x="-88950" y="4472675"/>
            <a:ext cx="9321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latin typeface="Lato"/>
                <a:ea typeface="Lato"/>
                <a:cs typeface="Lato"/>
                <a:sym typeface="Lato"/>
              </a:rPr>
              <a:t>Classes 3 e 4 mais à esquerda</a:t>
            </a:r>
            <a:endParaRPr sz="25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79" name="Google Shape;479;p52"/>
          <p:cNvCxnSpPr/>
          <p:nvPr/>
        </p:nvCxnSpPr>
        <p:spPr>
          <a:xfrm rot="10800000">
            <a:off x="5867200" y="1886050"/>
            <a:ext cx="736800" cy="469800"/>
          </a:xfrm>
          <a:prstGeom prst="straightConnector1">
            <a:avLst/>
          </a:prstGeom>
          <a:noFill/>
          <a:ln cap="flat" cmpd="sng" w="38100">
            <a:solidFill>
              <a:srgbClr val="963334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3"/>
          <p:cNvSpPr txBox="1"/>
          <p:nvPr>
            <p:ph idx="1" type="body"/>
          </p:nvPr>
        </p:nvSpPr>
        <p:spPr>
          <a:xfrm>
            <a:off x="20650" y="709825"/>
            <a:ext cx="9099000" cy="4376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dk1"/>
                </a:solidFill>
              </a:rPr>
              <a:t>O </a:t>
            </a:r>
            <a:r>
              <a:rPr i="1" lang="pt-BR" sz="2500">
                <a:solidFill>
                  <a:schemeClr val="dk1"/>
                </a:solidFill>
              </a:rPr>
              <a:t>framework</a:t>
            </a:r>
            <a:r>
              <a:rPr lang="pt-BR" sz="2500">
                <a:solidFill>
                  <a:schemeClr val="dk1"/>
                </a:solidFill>
              </a:rPr>
              <a:t> combina volume e velocidade de interações para identificar padrões de disseminação de informações em mídias sociais</a:t>
            </a:r>
            <a:br>
              <a:rPr lang="pt-BR" sz="2500">
                <a:solidFill>
                  <a:schemeClr val="dk1"/>
                </a:solidFill>
              </a:rPr>
            </a:br>
            <a:br>
              <a:rPr lang="pt-BR" sz="2500">
                <a:solidFill>
                  <a:schemeClr val="dk1"/>
                </a:solidFill>
              </a:rPr>
            </a:br>
            <a:r>
              <a:rPr lang="pt-BR" sz="2500">
                <a:solidFill>
                  <a:schemeClr val="dk1"/>
                </a:solidFill>
              </a:rPr>
              <a:t>Utilizando dois estudos de caso, analisamos períodos com evidências de coordenação e características topológicas distintas</a:t>
            </a:r>
            <a:br>
              <a:rPr lang="pt-BR" sz="2500">
                <a:solidFill>
                  <a:schemeClr val="dk1"/>
                </a:solidFill>
              </a:rPr>
            </a:b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pt-BR" sz="2500">
                <a:solidFill>
                  <a:schemeClr val="dk1"/>
                </a:solidFill>
              </a:rPr>
              <a:t>Foi possível observar a formação de comunidades estruturadas ligadas a estratégias específicas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485" name="Google Shape;485;p53"/>
          <p:cNvSpPr txBox="1"/>
          <p:nvPr>
            <p:ph type="title"/>
          </p:nvPr>
        </p:nvSpPr>
        <p:spPr>
          <a:xfrm>
            <a:off x="0" y="4825"/>
            <a:ext cx="8932500" cy="857400"/>
          </a:xfrm>
          <a:prstGeom prst="rect">
            <a:avLst/>
          </a:prstGeom>
        </p:spPr>
        <p:txBody>
          <a:bodyPr anchorCtr="0" anchor="b" bIns="1800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/>
              <a:t>Conclusões e Trabalhos Futuros</a:t>
            </a:r>
            <a:endParaRPr sz="3300"/>
          </a:p>
        </p:txBody>
      </p:sp>
      <p:sp>
        <p:nvSpPr>
          <p:cNvPr id="486" name="Google Shape;486;p53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4"/>
          <p:cNvSpPr txBox="1"/>
          <p:nvPr>
            <p:ph idx="1" type="body"/>
          </p:nvPr>
        </p:nvSpPr>
        <p:spPr>
          <a:xfrm>
            <a:off x="20650" y="709825"/>
            <a:ext cx="9099000" cy="3825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dk1"/>
                </a:solidFill>
              </a:rPr>
              <a:t>Como próximos passos, sugerimos ampliar a análise para novos cenários e eventos, focando na análise de conteúdo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pt-BR" sz="2500">
                <a:solidFill>
                  <a:schemeClr val="dk1"/>
                </a:solidFill>
              </a:rPr>
              <a:t>Investigar como narrativas, temas e formatos de mensagens contribuem para a velocidade e o volume de disseminação em cada classe de aresta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492" name="Google Shape;492;p54"/>
          <p:cNvSpPr txBox="1"/>
          <p:nvPr>
            <p:ph type="title"/>
          </p:nvPr>
        </p:nvSpPr>
        <p:spPr>
          <a:xfrm>
            <a:off x="0" y="4825"/>
            <a:ext cx="8932500" cy="857400"/>
          </a:xfrm>
          <a:prstGeom prst="rect">
            <a:avLst/>
          </a:prstGeom>
        </p:spPr>
        <p:txBody>
          <a:bodyPr anchorCtr="0" anchor="b" bIns="18000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/>
              <a:t>Conclusões e Trabalhos Futuros</a:t>
            </a:r>
            <a:endParaRPr sz="3300"/>
          </a:p>
        </p:txBody>
      </p:sp>
      <p:sp>
        <p:nvSpPr>
          <p:cNvPr id="493" name="Google Shape;493;p54"/>
          <p:cNvSpPr txBox="1"/>
          <p:nvPr>
            <p:ph idx="12" type="sldNum"/>
          </p:nvPr>
        </p:nvSpPr>
        <p:spPr>
          <a:xfrm>
            <a:off x="8480575" y="4773133"/>
            <a:ext cx="548700" cy="3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5"/>
          <p:cNvSpPr txBox="1"/>
          <p:nvPr/>
        </p:nvSpPr>
        <p:spPr>
          <a:xfrm>
            <a:off x="458825" y="1120525"/>
            <a:ext cx="55611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200">
                <a:solidFill>
                  <a:srgbClr val="B80D48"/>
                </a:solidFill>
                <a:latin typeface="Raleway"/>
                <a:ea typeface="Raleway"/>
                <a:cs typeface="Raleway"/>
                <a:sym typeface="Raleway"/>
              </a:rPr>
              <a:t>Obrigada!</a:t>
            </a:r>
            <a:endParaRPr sz="6200">
              <a:solidFill>
                <a:srgbClr val="B80D4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99" name="Google Shape;499;p55"/>
          <p:cNvSpPr txBox="1"/>
          <p:nvPr/>
        </p:nvSpPr>
        <p:spPr>
          <a:xfrm>
            <a:off x="916025" y="2338950"/>
            <a:ext cx="55611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solidFill>
                <a:srgbClr val="96333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0" name="Google Shape;500;p55"/>
          <p:cNvSpPr txBox="1"/>
          <p:nvPr/>
        </p:nvSpPr>
        <p:spPr>
          <a:xfrm>
            <a:off x="458833" y="1927200"/>
            <a:ext cx="5561100" cy="26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96333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rgbClr val="B80D48"/>
                </a:solidFill>
                <a:latin typeface="Lato"/>
                <a:ea typeface="Lato"/>
                <a:cs typeface="Lato"/>
                <a:sym typeface="Lato"/>
              </a:rPr>
              <a:t>E-mail: geovana.so@aluno.ufop.edu.br</a:t>
            </a:r>
            <a:endParaRPr b="1" sz="2500">
              <a:solidFill>
                <a:srgbClr val="B80D48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96333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96333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1" name="Google Shape;501;p55"/>
          <p:cNvSpPr txBox="1"/>
          <p:nvPr/>
        </p:nvSpPr>
        <p:spPr>
          <a:xfrm>
            <a:off x="4326125" y="-100200"/>
            <a:ext cx="2151000" cy="674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2" name="Google Shape;502;p55"/>
          <p:cNvSpPr txBox="1"/>
          <p:nvPr/>
        </p:nvSpPr>
        <p:spPr>
          <a:xfrm>
            <a:off x="6900051" y="2766475"/>
            <a:ext cx="21108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B80D48"/>
                </a:solidFill>
                <a:latin typeface="Lato"/>
                <a:ea typeface="Lato"/>
                <a:cs typeface="Lato"/>
                <a:sym typeface="Lato"/>
              </a:rPr>
              <a:t>Full paper</a:t>
            </a:r>
            <a:endParaRPr b="1" sz="2000">
              <a:solidFill>
                <a:srgbClr val="B80D48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03" name="Google Shape;50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3302" y="3206350"/>
            <a:ext cx="1694075" cy="169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Antoni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