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embeddedFontLst>
    <p:embeddedFont>
      <p:font typeface="Nunito"/>
      <p:regular r:id="rId63"/>
      <p:bold r:id="rId64"/>
      <p:italic r:id="rId65"/>
      <p:boldItalic r:id="rId66"/>
    </p:embeddedFont>
    <p:embeddedFont>
      <p:font typeface="Maven Pro"/>
      <p:regular r:id="rId67"/>
      <p:bold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Nunito-bold.fntdata"/><Relationship Id="rId63" Type="http://schemas.openxmlformats.org/officeDocument/2006/relationships/font" Target="fonts/Nunito-regular.fntdata"/><Relationship Id="rId22" Type="http://schemas.openxmlformats.org/officeDocument/2006/relationships/slide" Target="slides/slide17.xml"/><Relationship Id="rId66" Type="http://schemas.openxmlformats.org/officeDocument/2006/relationships/font" Target="fonts/Nunito-boldItalic.fntdata"/><Relationship Id="rId21" Type="http://schemas.openxmlformats.org/officeDocument/2006/relationships/slide" Target="slides/slide16.xml"/><Relationship Id="rId65" Type="http://schemas.openxmlformats.org/officeDocument/2006/relationships/font" Target="fonts/Nunito-italic.fntdata"/><Relationship Id="rId24" Type="http://schemas.openxmlformats.org/officeDocument/2006/relationships/slide" Target="slides/slide19.xml"/><Relationship Id="rId68" Type="http://schemas.openxmlformats.org/officeDocument/2006/relationships/font" Target="fonts/MavenPro-bold.fntdata"/><Relationship Id="rId23" Type="http://schemas.openxmlformats.org/officeDocument/2006/relationships/slide" Target="slides/slide18.xml"/><Relationship Id="rId67" Type="http://schemas.openxmlformats.org/officeDocument/2006/relationships/font" Target="fonts/MavenPro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368456cf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368456cf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368456cf0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368456cf0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368456cf0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368456cf0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368456cf0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368456cf0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44d670d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44d670d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368456cf0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368456cf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368456cf0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368456cf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368456cf0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368456cf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368456cf0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368456cf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368456cf0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8368456cf0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368456cf0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368456cf0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368456cf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368456cf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368456cf0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8368456cf0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368456cf0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8368456cf0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368456cf0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8368456cf0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368456cf0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8368456cf0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44d670d1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844d670d1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44d670d1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844d670d1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44d670d1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44d670d1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44d670d1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44d670d1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44d670d1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44d670d1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844d670d1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844d670d1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44d670d1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844d670d1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44d670d1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44d670d1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44d670d1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844d670d1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844d670d1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844d670d1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844d670d1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844d670d1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844d670d1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844d670d1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844d670d1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844d670d1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844d670d1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844d670d1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44d670d1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844d670d1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483679c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8483679c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844d670d1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844d670d1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8483679cc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8483679cc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844d670d1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844d670d1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8483679c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8483679c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844d670d1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844d670d1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483679cc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8483679cc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844d670d1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844d670d1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8483679cc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8483679cc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844d670d1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844d670d1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8483679cc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8483679cc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844d670d1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844d670d1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8483679cc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8483679cc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844d670d1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844d670d1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8483679cc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8483679cc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23326e8b1123f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c23326e8b1123f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23326e8b1123f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c23326e8b1123f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23326e8b1123f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c23326e8b1123f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c23326e8b1123f7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c23326e8b1123f7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8483679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8483679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8483679c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8483679c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844d670d1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844d670d1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844d670d1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844d670d1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8368456cf0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8368456cf0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8368456cf0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8368456cf0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0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Classificador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26/09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Separaç</a:t>
            </a:r>
            <a:r>
              <a:rPr lang="pt-BR"/>
              <a:t>ão dos Folds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334600"/>
            <a:ext cx="7030500" cy="3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base contém 2016 comentários, avaliados tanto em termos de misoginia quanto de toxicidade. Para treinar e validar os modelos, os dados foram divididos em 5 folds estratificados, garantindo que cada fold mantenha a mesma proporção de exemplos de cada classe em relação ao total.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b="1"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Misoginia</a:t>
            </a: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538 comentários foram classificados como misóginos (</a:t>
            </a:r>
            <a:r>
              <a:rPr b="1"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26,7%</a:t>
            </a: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e 1478 como não misóginos (</a:t>
            </a:r>
            <a:r>
              <a:rPr b="1"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73,3%</a:t>
            </a: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b="1"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Toxicidade</a:t>
            </a: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840 comentários foram classificados como tóxicos (</a:t>
            </a:r>
            <a:r>
              <a:rPr b="1"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41,7%</a:t>
            </a: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e 1176 como não tóxicos (</a:t>
            </a:r>
            <a:r>
              <a:rPr b="1"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58,3%</a:t>
            </a: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Assim, cada fold (com cerca de 403 comentários) mantém a mesma proporção de classes: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Misoginia: ~108 comentários misóginos e ~296 não misóginos.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Toxicidade: ~168 comentários tóxicos e ~235 não tóxicos.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Esse processo assegura que cada fold seja representativo do conjunto original, evitando distorções nos testes de desempenho dos modelos.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Validaç</a:t>
            </a:r>
            <a:r>
              <a:rPr lang="pt-BR"/>
              <a:t>ão Cruzada - Serufo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1246200" y="320850"/>
            <a:ext cx="3325800" cy="4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Resultados Médios da Validação Cruzada (Misoginia):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0: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0.8291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0.9120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0.8685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1478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1: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0.6692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0.4833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0.5603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538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accuracy: 0.7976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macro avg: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0.7491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0.6976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0.7144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2016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weighted avg: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0.7864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0.7976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0.7862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2016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 sz="750"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4738975" y="320850"/>
            <a:ext cx="3325800" cy="4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Resultados Médios da Validação Cruzada (Toxicidade):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0: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0.6704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0.8172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0.7365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1176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1: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0.6331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0.4381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0.5177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840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accuracy: 0.6592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macro avg: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0.6517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0.6277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0.6271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2016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weighted avg: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precision: 0.6549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recall: 0.6592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f1-score: 0.6453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support: 2016</a:t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 sz="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- 26/09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/>
          <p:nvPr>
            <p:ph type="title"/>
          </p:nvPr>
        </p:nvSpPr>
        <p:spPr>
          <a:xfrm>
            <a:off x="1303800" y="598575"/>
            <a:ext cx="7030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</a:t>
            </a:r>
            <a:endParaRPr/>
          </a:p>
        </p:txBody>
      </p:sp>
      <p:sp>
        <p:nvSpPr>
          <p:cNvPr id="311" name="Google Shape;311;p19"/>
          <p:cNvSpPr txBox="1"/>
          <p:nvPr>
            <p:ph idx="1" type="body"/>
          </p:nvPr>
        </p:nvSpPr>
        <p:spPr>
          <a:xfrm>
            <a:off x="1303800" y="1263075"/>
            <a:ext cx="7030500" cy="3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Llama é uma família de modelos de linguagem de grande porte (LLMs) de alto desempenho da Meta AI. Utilizamos o Llama 3.1:8b.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434343"/>
                </a:solidFill>
              </a:rPr>
              <a:t>Uma previsão pode ter os seguintes resultados:</a:t>
            </a:r>
            <a:endParaRPr sz="1400">
              <a:solidFill>
                <a:srgbClr val="434343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b="1"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1. Verdadeiro Positivo (VP):</a:t>
            </a:r>
            <a:r>
              <a:rPr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acerto principal.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modelo previu "SPAM" e o e-mail era realmente SPAM.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Significado: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Detecção correta.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b="1"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2. Falso Positivo (FP):</a:t>
            </a:r>
            <a:r>
              <a:rPr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"Alarme Falso".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modelo previu "SPAM", mas era um e-mail importante.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Significado: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Um erro que pode causar grandes inconvenientes.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b="1"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3. Verdadeiro Negativo (VN):</a:t>
            </a:r>
            <a:r>
              <a:rPr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outro tipo de acerto.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modelo previu "NÃO SPAM" e o e-mail era realmente importante.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Significado: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Rejeição correta.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b="1"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4. Falso Negativo (FN):</a:t>
            </a:r>
            <a:r>
              <a:rPr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"Perigo Ignorado".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 modelo previu "NÃO SPAM", mas o e-mail era SPAM.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b="1"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Significado:</a:t>
            </a:r>
            <a:r>
              <a:rPr lang="pt-BR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Um erro que deixa o problema passar despercebido.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Ponto Chave:</a:t>
            </a:r>
            <a:r>
              <a:rPr lang="pt-BR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As métricas de Precisão, Recall e F1 medem a eficiência do modelo em lidar com os erros (FP e FN) em relação aos acertos (VP).</a:t>
            </a:r>
            <a:endParaRPr sz="1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"/>
          <p:cNvSpPr txBox="1"/>
          <p:nvPr>
            <p:ph type="title"/>
          </p:nvPr>
        </p:nvSpPr>
        <p:spPr>
          <a:xfrm>
            <a:off x="1303800" y="598575"/>
            <a:ext cx="7030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</a:t>
            </a:r>
            <a:endParaRPr/>
          </a:p>
        </p:txBody>
      </p:sp>
      <p:sp>
        <p:nvSpPr>
          <p:cNvPr id="317" name="Google Shape;317;p20"/>
          <p:cNvSpPr txBox="1"/>
          <p:nvPr>
            <p:ph idx="1" type="body"/>
          </p:nvPr>
        </p:nvSpPr>
        <p:spPr>
          <a:xfrm>
            <a:off x="1303800" y="1263075"/>
            <a:ext cx="7030500" cy="3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Precision: 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Foco na qualidade das previsões positivas. De tudo que o modelo identificou como positivo, quanto ele acertou?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Verdadeiros Positivos / (Todos os Positivos Previstos)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Recall: 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Foco na quantidade de positivos encontrados. De todos os positivos que realmente existiam, quantos o modelo encontrou?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Verdadeiros Positivos / (Todos os Positivos Reais)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F1: 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média harmônica entre Precisão e Recall (representando o equilíbrio entre os dois).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1 - Zero Shot em Portugu</a:t>
            </a:r>
            <a:r>
              <a:rPr lang="pt-BR"/>
              <a:t>ês</a:t>
            </a:r>
            <a:endParaRPr/>
          </a:p>
        </p:txBody>
      </p:sp>
      <p:sp>
        <p:nvSpPr>
          <p:cNvPr id="323" name="Google Shape;323;p21"/>
          <p:cNvSpPr txBox="1"/>
          <p:nvPr>
            <p:ph idx="1" type="body"/>
          </p:nvPr>
        </p:nvSpPr>
        <p:spPr>
          <a:xfrm>
            <a:off x="392475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"toxicidade":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"Classifique o texto abaixo quanto a toxicidade.\n"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contiver toxicidade.\n"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contiver toxicidade.\n"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"Tóxico: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24" name="Google Shape;324;p21"/>
          <p:cNvSpPr txBox="1"/>
          <p:nvPr>
            <p:ph idx="1" type="body"/>
          </p:nvPr>
        </p:nvSpPr>
        <p:spPr>
          <a:xfrm>
            <a:off x="4630500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"Classifique o texto abaixo quanto a misoginia.\n"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contiver misoginia.\n"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contiver misoginia.\n"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"Misógino: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1 - Zero Shot em Português</a:t>
            </a:r>
            <a:endParaRPr/>
          </a:p>
        </p:txBody>
      </p:sp>
      <p:sp>
        <p:nvSpPr>
          <p:cNvPr id="330" name="Google Shape;330;p22"/>
          <p:cNvSpPr txBox="1"/>
          <p:nvPr>
            <p:ph idx="1" type="body"/>
          </p:nvPr>
        </p:nvSpPr>
        <p:spPr>
          <a:xfrm>
            <a:off x="1303800" y="1334475"/>
            <a:ext cx="64392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Médias dos 5 folds: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Misoginia -&gt; Precision: 0.323, Recall: 0.991, F1-Score: 0.487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Toxicidade -&gt; Precision: 0.467, Recall: 0.985, F1-Score: 0.633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2 - Zero Shot em Ingl</a:t>
            </a:r>
            <a:r>
              <a:rPr lang="pt-BR"/>
              <a:t>ês</a:t>
            </a:r>
            <a:endParaRPr/>
          </a:p>
        </p:txBody>
      </p:sp>
      <p:sp>
        <p:nvSpPr>
          <p:cNvPr id="336" name="Google Shape;336;p23"/>
          <p:cNvSpPr txBox="1"/>
          <p:nvPr>
            <p:ph idx="1" type="body"/>
          </p:nvPr>
        </p:nvSpPr>
        <p:spPr>
          <a:xfrm>
            <a:off x="392475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"toxicidade":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the text below toxic?\n"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 only with 1 if the text is toxic.\n"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 only with 0 if the text is not toxic.\n"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"Do not write anything other than 0 or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"Output format:\n"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Toxic: &lt;0 or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"Message:\n{message_text}"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37" name="Google Shape;337;p23"/>
          <p:cNvSpPr txBox="1"/>
          <p:nvPr>
            <p:ph idx="1" type="body"/>
          </p:nvPr>
        </p:nvSpPr>
        <p:spPr>
          <a:xfrm>
            <a:off x="4630500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the text below misogynistic?\n"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 only with 1 if the text is misogynistic.\n"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 only with 0 if the text is not misogynistic.\n"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"Do not write anything other than 0 or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"Output format:\n"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Mysogyny: &lt;0 or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"Message:\n{message_text}"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2 - Zero Shot em Ingl</a:t>
            </a:r>
            <a:r>
              <a:rPr lang="pt-BR"/>
              <a:t>ês</a:t>
            </a:r>
            <a:endParaRPr/>
          </a:p>
        </p:txBody>
      </p:sp>
      <p:sp>
        <p:nvSpPr>
          <p:cNvPr id="343" name="Google Shape;343;p24"/>
          <p:cNvSpPr txBox="1"/>
          <p:nvPr>
            <p:ph idx="1" type="body"/>
          </p:nvPr>
        </p:nvSpPr>
        <p:spPr>
          <a:xfrm>
            <a:off x="1303800" y="1334475"/>
            <a:ext cx="64392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Médias dos 5 folds:</a:t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  Misoginia -&gt; Precision: 0.480, Recall: 0.879, F1-Score: 0.621</a:t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  Toxicidade -&gt; Precision: 0.530, Recall: 0.948, F1-Score: 0.680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3 - Conceituaç</a:t>
            </a:r>
            <a:r>
              <a:rPr lang="pt-BR"/>
              <a:t>ão simples</a:t>
            </a:r>
            <a:endParaRPr/>
          </a:p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76575" y="1335675"/>
            <a:ext cx="40536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"toxicidade": {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moderador de conteúdo de IA. Sua tarefa é analisar o texto a 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"seguir e determinar se ele contém toxicidade. Considere toxicidade qualquer " 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"conteúdo que seja rude, desrespeitoso ou ofensivo, incluíndo discurso de ódio, 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"assédio, insultos ou ameaças contra um indivíduo ou grupo.\n"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"Responda estritamente com:\n"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'1' se o texto for tóxico.\n"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'0' se o texto não for tóxico.\n"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"Tóxico: &lt;0 ou 1&gt;\n\n"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750"/>
          </a:p>
        </p:txBody>
      </p:sp>
      <p:sp>
        <p:nvSpPr>
          <p:cNvPr id="350" name="Google Shape;350;p25"/>
          <p:cNvSpPr txBox="1"/>
          <p:nvPr>
            <p:ph idx="1" type="body"/>
          </p:nvPr>
        </p:nvSpPr>
        <p:spPr>
          <a:xfrm>
            <a:off x="4530775" y="130242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moderador de conteúdo de IA. Sua tarefa é analisar o texto a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"seguir e determinar se ele contém misoginia. Considere misoginia qualquer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"conteúdo que demonstre ódio, preconceito, discriminação ou desvalorização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"contra mulheres, incluindo estereótipos de gênero ou comentários que diminuam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"mulheres.\n"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"Responda estritamente com:\n"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'1' se o texto for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'0' se o texto não for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"Misógino: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3 - Conceituação simples</a:t>
            </a:r>
            <a:endParaRPr/>
          </a:p>
        </p:txBody>
      </p:sp>
      <p:sp>
        <p:nvSpPr>
          <p:cNvPr id="356" name="Google Shape;356;p26"/>
          <p:cNvSpPr txBox="1"/>
          <p:nvPr>
            <p:ph idx="1" type="body"/>
          </p:nvPr>
        </p:nvSpPr>
        <p:spPr>
          <a:xfrm>
            <a:off x="1303800" y="1334475"/>
            <a:ext cx="64392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Médias dos 5 folds: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Misoginia -&gt; Precision: 0.513, Recall: 0.875, F1-Score: 0.647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Toxicidade -&gt; Precision: 0.661, Recall: 0.856, F1-Score: 0.746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Conceituação em t</a:t>
            </a:r>
            <a:r>
              <a:rPr lang="pt-BR"/>
              <a:t>ópicos</a:t>
            </a:r>
            <a:endParaRPr/>
          </a:p>
        </p:txBody>
      </p:sp>
      <p:sp>
        <p:nvSpPr>
          <p:cNvPr id="362" name="Google Shape;362;p27"/>
          <p:cNvSpPr txBox="1"/>
          <p:nvPr>
            <p:ph idx="1" type="body"/>
          </p:nvPr>
        </p:nvSpPr>
        <p:spPr>
          <a:xfrm>
            <a:off x="1240750" y="778950"/>
            <a:ext cx="76599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"toxicidade": {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moderador de conteúdo de IA. Sua tarefa é analisar o texto 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assistente de IA especializado em análise de conteúdo, treinado para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"classificar textos estritamente com base no framework a seguir. Sua tarefa é analisar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fornecido e determinar se ele contém toxicidade.\n"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"Sua resposta deve ser exclusivamente o número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Se o texto se encaixa em qualquer uma das categorias de toxicidade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Se o texto não se encaixa em nenhuma das categorias de toxicidade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forneça explicações, apenas o número.\n"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"Framework de Análise de Toxicidade\n"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Ódio e Assédio:\n"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Doxing: Divulgação de informações pessoais de um alvo para o público em geral, com o objetivo de prejudicá-lo.\n"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Ataque à identidade: Consiste em ataques severos a indivíduos ou grupos com base em sua afiliação a um grupo protegido ou vulnerável.\n"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"1.3 Falsa representação de identidade: É a disseminação de declarações que comunicam deturpações pejorativas, estereótipos e outras generalizações insultuosas sobre populações protegidas ou vulneráveis.\n"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"1.4 Insulto: Ataque pessoal direcionado, como xingamentos, comentários negativos, depreciativos e inflamatórios sobre o indivíduo.\n"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"1.5 Agressão Sexual: Inclui avanços sexuais indesejados, sexualização indesejável e compartilhamento não consensual de conteúdo sexual, entre outras formas de conversas sexuais não solicitadas.\n"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"1.6 Ameaça de Violência: Refere-se a conteúdo que expressa o desejo de matar ou infligir dano físico, celebra atos violentos ou incita outros a cometerem violência.\n"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Dano autoinfligido:\n"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Promoção de transtorno alimentar: Abrange conteúdo que promove transtornos alimentares como escolhas de estilo de vida legítimas ou glorifica corpos excessivamente magros.\n"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Autolesão: Ideação de se machucar fisicamente de propósito para lidar com o sofrimento emocional, incluindo também a ideação suicida.\n"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Dano ideológico:\n"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Extremismo, terrorismo e crime organizado: Inclui conteúdo relacionado ao recrutamento, elogio ou assistência a grupos extremistas, terroristas ou de crime organizado.\n"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Desinformação: É a informação falsa ou enganosa, que pode ser disseminada com ou sem a intenção deliberada de prejudicar.\n"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Exploração:\n"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Serviços sexuais adultos: Refere-se à promoção ou solicitação de serviços sexuais ilegais que exploram participantes frequentemente vulneráveis.\n"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Material de abuso sexual infantil: É definido como conteúdo que envolve o abuso e a exploração sexual de qualquer pessoa menor de dezoito anos.\n"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"4.3 Golpes: São tentativas de enganar uma pessoa para que ela forneça fundos ou informações sensíveis usando técnicas fraudulentas ou invasivas.\n"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"Analise o texto abaixo e retorne apenas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"Tóxico: &lt;0 ou 1&gt;\n\n"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Conceituação em tópicos</a:t>
            </a:r>
            <a:endParaRPr/>
          </a:p>
        </p:txBody>
      </p:sp>
      <p:sp>
        <p:nvSpPr>
          <p:cNvPr id="368" name="Google Shape;368;p28"/>
          <p:cNvSpPr txBox="1"/>
          <p:nvPr>
            <p:ph idx="1" type="body"/>
          </p:nvPr>
        </p:nvSpPr>
        <p:spPr>
          <a:xfrm>
            <a:off x="1240750" y="778950"/>
            <a:ext cx="7659900" cy="4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"misoginia": {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assistente de IA especializado em análise de conteúdo, treinado para " 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"classificar textos estritamente com base no framework a seguir. Sua tarefa é analisar " 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fornecido e determinar se ele contém misoginia.\n"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"Sua resposta deve ser exclusivamente o número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Se o texto se encaixa em qualquer uma das categorias de misoginia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Se o texto não se encaixa em nenhuma das categorias de misoginia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forneça explicações, apenas o número.\n"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"Framework de Análise de Misoginia\n"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Ameaças, planos para prejudicar e incitamento:\n"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Ameaças de danos: Expressar desejo de prejudicar física, sexual ou emocionalmente uma mulher ou grupo de mulheres.\n"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Incitamento e incentivo ao dano: Encorajar ou justificar que outros prejudiquem uma mulher ou grupo de mulheres.\n"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Depreciação:\n"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Ataques descritivos: Fazer generalizações negativas sobre as habilidades, aparência, intelecto ou caráter das mulheres.\n"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Ataques agressivos e emotivos: Expressar ódio ou nojo contra as mulheres, usando insultos de gênero ou acusações infundadas.\n"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"2.3 Ataques desumanizantes e objetificação sexual explícita: Comparar mulheres a animais/objetos ou reduzi-las a objetos sexuais.\n"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Animosidade:\n"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Uso casual de gírias de gênero, profanidades e insultos: Usar termos pejorativos para mulheres de forma casual, não " 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"como um ataque direto.\n"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Diferenças imutáveis de gênero e estereótipos de gênero: Afirmar diferenças 'naturais' entre homens e mulheres para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"implicar inferioridade ou limitar papéis (inclui a maioria das piadas sexistas).\n"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"3.3 Elogios de gênero ambíguos: Elogiar mulheres de forma que reforce estereótipos de fragilidade, ou que reduza seu valor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"à sua atratividade.\n"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"3.4 Explicações condescendentes ou conselhos indesejados: Oferecer conselhos paternalistas a mulheres sobre assuntos que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"elas dominam ('mansplaining').\n"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Discussão Preconceituosa:\n"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Apoio ao mau tratamento de mulheres individuais: Justificar, negar ou subestimar o mau tratamento de uma mulher.\n"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Apoio à discriminação sistêmica contra mulheres como grupo: Justificar, negar ou subestimar a discriminação contra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"as mulheres como um grupo.\n"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"Analise o texto abaixo e retorne apenas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"Misógino: &lt;0 ou 1&gt;\n\n"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Conceituação em t</a:t>
            </a:r>
            <a:r>
              <a:rPr lang="pt-BR"/>
              <a:t>ópicos</a:t>
            </a:r>
            <a:endParaRPr/>
          </a:p>
        </p:txBody>
      </p:sp>
      <p:sp>
        <p:nvSpPr>
          <p:cNvPr id="374" name="Google Shape;374;p29"/>
          <p:cNvSpPr txBox="1"/>
          <p:nvPr>
            <p:ph idx="1" type="body"/>
          </p:nvPr>
        </p:nvSpPr>
        <p:spPr>
          <a:xfrm>
            <a:off x="1303800" y="1334475"/>
            <a:ext cx="64392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Médias dos 5 folds: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Misoginia -&gt; Precision: 0.552, Recall: 0.879, F1-Score: 0.678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Toxicidade -&gt; Precision: 0.700, Recall: 0.761, F1-Score: 0.729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- 03/10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1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Prompts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1 - Zero Shot em Português</a:t>
            </a:r>
            <a:endParaRPr/>
          </a:p>
        </p:txBody>
      </p:sp>
      <p:sp>
        <p:nvSpPr>
          <p:cNvPr id="390" name="Google Shape;390;p32"/>
          <p:cNvSpPr txBox="1"/>
          <p:nvPr>
            <p:ph idx="1" type="body"/>
          </p:nvPr>
        </p:nvSpPr>
        <p:spPr>
          <a:xfrm>
            <a:off x="392475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"toxicidade":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"Classifique o texto abaixo quanto a toxicidade.\n"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contiver toxicidade.\n"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contiver toxicidade.\n"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"Tóxico: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91" name="Google Shape;391;p32"/>
          <p:cNvSpPr txBox="1"/>
          <p:nvPr>
            <p:ph idx="1" type="body"/>
          </p:nvPr>
        </p:nvSpPr>
        <p:spPr>
          <a:xfrm>
            <a:off x="4630500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"Classifique o texto abaixo quanto a misoginia.\n"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contiver misoginia.\n"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contiver misoginia.\n"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"Misógino: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2 - Zero Shot em Inglês</a:t>
            </a:r>
            <a:endParaRPr/>
          </a:p>
        </p:txBody>
      </p:sp>
      <p:sp>
        <p:nvSpPr>
          <p:cNvPr id="397" name="Google Shape;397;p33"/>
          <p:cNvSpPr txBox="1"/>
          <p:nvPr>
            <p:ph idx="1" type="body"/>
          </p:nvPr>
        </p:nvSpPr>
        <p:spPr>
          <a:xfrm>
            <a:off x="392475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"toxicidade":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the text below toxic?\n"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 only with 1 if the text is toxic.\n"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 only with 0 if the text is not toxic.\n"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"Do not write anything other than 0 or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"Output format:\n"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Toxic: &lt;0 or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"Message:\n{message_text}"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98" name="Google Shape;398;p33"/>
          <p:cNvSpPr txBox="1"/>
          <p:nvPr>
            <p:ph idx="1" type="body"/>
          </p:nvPr>
        </p:nvSpPr>
        <p:spPr>
          <a:xfrm>
            <a:off x="4630500" y="125257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the text below misogynistic?\n"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 only with 1 if the text is misogynistic.\n"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 only with 0 if the text is not misogynistic.\n"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"Do not write anything other than 0 or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"Output format:\n"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Mysogyny: &lt;0 or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"Message:\n{message_text}"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3 - Conceituação simples</a:t>
            </a:r>
            <a:endParaRPr/>
          </a:p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376575" y="1335675"/>
            <a:ext cx="40536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"toxicidade": {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moderador de conteúdo de IA. Sua tarefa é analisar o texto a 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"seguir e determinar se ele contém toxicidade. Considere toxicidade qualquer " 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"conteúdo que seja rude, desrespeitoso ou ofensivo, incluíndo discurso de ódio, 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"assédio, insultos ou ameaças contra um indivíduo ou grupo.\n"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"Responda estritamente com:\n"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'1' se o texto for tóxico.\n"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'0' se o texto não for tóxico.\n"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"Tóxico: &lt;0 ou 1&gt;\n\n"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750"/>
          </a:p>
        </p:txBody>
      </p:sp>
      <p:sp>
        <p:nvSpPr>
          <p:cNvPr id="405" name="Google Shape;405;p34"/>
          <p:cNvSpPr txBox="1"/>
          <p:nvPr>
            <p:ph idx="1" type="body"/>
          </p:nvPr>
        </p:nvSpPr>
        <p:spPr>
          <a:xfrm>
            <a:off x="4530775" y="130242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moderador de conteúdo de IA. Sua tarefa é analisar o texto a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"seguir e determinar se ele contém misoginia. Considere misoginia qualquer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"conteúdo que demonstre ódio, preconceito, discriminação ou desvalorização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"contra mulheres, incluindo estereótipos de gênero ou comentários que diminuam "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"mulheres.\n"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"Responda estritamente com:\n"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'1' se o texto for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"- '0' se o texto não for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"Misógino: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Conceituação em tópicos</a:t>
            </a:r>
            <a:endParaRPr/>
          </a:p>
        </p:txBody>
      </p:sp>
      <p:sp>
        <p:nvSpPr>
          <p:cNvPr id="411" name="Google Shape;411;p35"/>
          <p:cNvSpPr txBox="1"/>
          <p:nvPr>
            <p:ph idx="1" type="body"/>
          </p:nvPr>
        </p:nvSpPr>
        <p:spPr>
          <a:xfrm>
            <a:off x="1240750" y="778950"/>
            <a:ext cx="76599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"toxicidade": {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moderador de conteúdo de IA. Sua tarefa é analisar o texto 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assistente de IA especializado em análise de conteúdo, treinado para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"classificar textos estritamente com base no framework a seguir. Sua tarefa é analisar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fornecido e determinar se ele contém toxicidade.\n"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"Sua resposta deve ser exclusivamente o número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Se o texto se encaixa em qualquer uma das categorias de toxicidade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Se o texto não se encaixa em nenhuma das categorias de toxicidade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forneça explicações, apenas o número.\n"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"Framework de Análise de Toxicidade\n"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Ódio e Assédio:\n"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Doxing: Divulgação de informações pessoais de um alvo para o público em geral, com o objetivo de prejudicá-lo.\n"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Ataque à identidade: Consiste em ataques severos a indivíduos ou grupos com base em sua afiliação a um grupo protegido ou vulnerável.\n"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"1.3 Falsa representação de identidade: É a disseminação de declarações que comunicam deturpações pejorativas, estereótipos e outras generalizações insultuosas sobre populações protegidas ou vulneráveis.\n"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"1.4 Insulto: Ataque pessoal direcionado, como xingamentos, comentários negativos, depreciativos e inflamatórios sobre o indivíduo.\n"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"1.5 Agressão Sexual: Inclui avanços sexuais indesejados, sexualização indesejável e compartilhamento não consensual de conteúdo sexual, entre outras formas de conversas sexuais não solicitadas.\n"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"1.6 Ameaça de Violência: Refere-se a conteúdo que expressa o desejo de matar ou infligir dano físico, celebra atos violentos ou incita outros a cometerem violência.\n"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Dano autoinfligido:\n"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Promoção de transtorno alimentar: Abrange conteúdo que promove transtornos alimentares como escolhas de estilo de vida legítimas ou glorifica corpos excessivamente magros.\n"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Autolesão: Ideação de se machucar fisicamente de propósito para lidar com o sofrimento emocional, incluindo também a ideação suicida.\n"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Dano ideológico:\n"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Extremismo, terrorismo e crime organizado: Inclui conteúdo relacionado ao recrutamento, elogio ou assistência a grupos extremistas, terroristas ou de crime organizado.\n"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Desinformação: É a informação falsa ou enganosa, que pode ser disseminada com ou sem a intenção deliberada de prejudicar.\n"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Exploração:\n"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Serviços sexuais adultos: Refere-se à promoção ou solicitação de serviços sexuais ilegais que exploram participantes frequentemente vulneráveis.\n"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Material de abuso sexual infantil: É definido como conteúdo que envolve o abuso e a exploração sexual de qualquer pessoa menor de dezoito anos.\n"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"4.3 Golpes: São tentativas de enganar uma pessoa para que ela forneça fundos ou informações sensíveis usando técnicas fraudulentas ou invasivas.\n"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"Analise o texto abaixo e retorne apenas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"Tóxico: &lt;0 ou 1&gt;\n\n"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Conceituação em tópicos</a:t>
            </a:r>
            <a:endParaRPr/>
          </a:p>
        </p:txBody>
      </p:sp>
      <p:sp>
        <p:nvSpPr>
          <p:cNvPr id="417" name="Google Shape;417;p36"/>
          <p:cNvSpPr txBox="1"/>
          <p:nvPr>
            <p:ph idx="1" type="body"/>
          </p:nvPr>
        </p:nvSpPr>
        <p:spPr>
          <a:xfrm>
            <a:off x="1240750" y="778950"/>
            <a:ext cx="7659900" cy="4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"misoginia": {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assistente de IA especializado em análise de conteúdo, treinado para " 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"classificar textos estritamente com base no framework a seguir. Sua tarefa é analisar " 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fornecido e determinar se ele contém misoginia.\n"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"Sua resposta deve ser exclusivamente o número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Se o texto se encaixa em qualquer uma das categorias de misoginia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Se o texto não se encaixa em nenhuma das categorias de misoginia listadas abaixo.\n"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forneça explicações, apenas o número.\n"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"Framework de Análise de Misoginia\n"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Ameaças, planos para prejudicar e incitamento:\n"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Ameaças de danos: Expressar desejo de prejudicar física, sexual ou emocionalmente uma mulher ou grupo de mulheres.\n"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Incitamento e incentivo ao dano: Encorajar ou justificar que outros prejudiquem uma mulher ou grupo de mulheres.\n"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Depreciação:\n"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Ataques descritivos: Fazer generalizações negativas sobre as habilidades, aparência, intelecto ou caráter das mulheres.\n"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Ataques agressivos e emotivos: Expressar ódio ou nojo contra as mulheres, usando insultos de gênero ou acusações infundadas.\n"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"2.3 Ataques desumanizantes e objetificação sexual explícita: Comparar mulheres a animais/objetos ou reduzi-las a objetos sexuais.\n"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Animosidade:\n"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Uso casual de gírias de gênero, profanidades e insultos: Usar termos pejorativos para mulheres de forma casual, não " 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"como um ataque direto.\n"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Diferenças imutáveis de gênero e estereótipos de gênero: Afirmar diferenças 'naturais' entre homens e mulheres para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"implicar inferioridade ou limitar papéis (inclui a maioria das piadas sexistas).\n"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"3.3 Elogios de gênero ambíguos: Elogiar mulheres de forma que reforce estereótipos de fragilidade, ou que reduza seu valor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"à sua atratividade.\n"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"3.4 Explicações condescendentes ou conselhos indesejados: Oferecer conselhos paternalistas a mulheres sobre assuntos que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"elas dominam ('mansplaining').\n"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Discussão Preconceituosa:\n"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Apoio ao mau tratamento de mulheres individuais: Justificar, negar ou subestimar o mau tratamento de uma mulher.\n"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Apoio à discriminação sistêmica contra mulheres como grupo: Justificar, negar ou subestimar a discriminação contra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"as mulheres como um grupo.\n"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"Analise o texto abaixo e retorne apenas 0 ou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"Misógino: &lt;0 ou 1&gt;\n\n"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5 - Zero Shot em Portugu</a:t>
            </a:r>
            <a:r>
              <a:rPr lang="pt-BR"/>
              <a:t>ês</a:t>
            </a:r>
            <a:endParaRPr/>
          </a:p>
        </p:txBody>
      </p:sp>
      <p:sp>
        <p:nvSpPr>
          <p:cNvPr id="423" name="Google Shape;423;p37"/>
          <p:cNvSpPr txBox="1"/>
          <p:nvPr>
            <p:ph idx="1" type="body"/>
          </p:nvPr>
        </p:nvSpPr>
        <p:spPr>
          <a:xfrm>
            <a:off x="376575" y="1335675"/>
            <a:ext cx="40536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"toxicidade": {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abaixo é tóxico?\n"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é tóxico.\n"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é tóxico.\n"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"É tóxico: &lt;0 ou 1&gt;\n\n"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750"/>
          </a:p>
        </p:txBody>
      </p:sp>
      <p:sp>
        <p:nvSpPr>
          <p:cNvPr id="424" name="Google Shape;424;p37"/>
          <p:cNvSpPr txBox="1"/>
          <p:nvPr>
            <p:ph idx="1" type="body"/>
          </p:nvPr>
        </p:nvSpPr>
        <p:spPr>
          <a:xfrm>
            <a:off x="4530775" y="130242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abaixo é misógino?\n"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é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é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"É misógino: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6 - Conceituação em ingl</a:t>
            </a:r>
            <a:r>
              <a:rPr lang="pt-BR"/>
              <a:t>ês</a:t>
            </a:r>
            <a:endParaRPr/>
          </a:p>
        </p:txBody>
      </p:sp>
      <p:sp>
        <p:nvSpPr>
          <p:cNvPr id="430" name="Google Shape;430;p38"/>
          <p:cNvSpPr txBox="1"/>
          <p:nvPr>
            <p:ph idx="1" type="body"/>
          </p:nvPr>
        </p:nvSpPr>
        <p:spPr>
          <a:xfrm>
            <a:off x="1240750" y="778950"/>
            <a:ext cx="7659900" cy="4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"toxicidade": {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"You are an AI content moderator. Your task is to analyze the text to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"You are an AI assistant specialized in content analysis, trained to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"strictly classify texts based on the following framework. Your task is to analyze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"the provided text and determine if it contains toxicity.\n"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"Your answer must be exclusively the number 0 or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If the text fits into any of the toxicity categories listed below.\n"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If the text does not fit into any of the toxicity categories listed below.\n"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"Do not provide explanations, just the number.\n"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"Toxicity Analysis Framework\n"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Hate and Harassment:\n"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Doxing: Disclosure of a target's personal information to the general public, with the aim of harming them.\n"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Identity Attack: Consists of severe attacks on individuals or groups based on their affiliation with a protected or vulnerable group.\n"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"1.3 Identity Misrepresentation: Is the dissemination of statements that communicate pejorative misrepresentations, stereotypes, and other insulting generalizations about protected or vulnerable populations.\n"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"1.4 Insult: Directed personal attack, such as name-calling, negative, derogatory, and inflammatory comments about the individual.\n"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"1.5 Sexual Aggression: Includes unwanted sexual advances, undesirable sexualization, and non-consensual sharing of sexual content, among other forms of unsolicited sexual conversations.\n"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"1.6 Threat of Violence: Refers to content that expresses a desire to kill or inflict physical harm, celebrates violent acts, or incites others to commit violence.\n"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Self-inflicted Harm:\n"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Promotion of eating disorder: Covers content that promotes eating disorders as legitimate lifestyle choices or glorifies overly thin bodies.\n"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Self-harm: Ideation of physically hurting oneself on purpose to cope with emotional distress, including also suicidal ideation.\n"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Ideological Harm:\n"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Extremism, terrorism, and organized crime: Includes content related to the recruitment, praise, or assistance of extremist, terrorist, or organized crime groups.\n"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Disinformation: Is false or misleading information, which can be disseminated with or without the deliberate intention to harm.\n"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Exploitation:\n"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Adult sexual services: Refers to the promotion or solicitation of illegal sexual services that often exploit vulnerable participants.\n"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Child sexual abuse material: Is defined as content that involves the sexual abuse and exploitation of anyone under the age of eighteen.\n"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"4.3 Scams: Are attempts to deceive a person into providing funds or sensitive information using fraudulent or invasive techniques.\n"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"Analyze the text below and return only 0 or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"Output format: 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"Is toxic: &lt;0 or 1&gt;\n\n"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"Message:\n{message_text}"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9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6 - Conceituação em inglês</a:t>
            </a:r>
            <a:endParaRPr/>
          </a:p>
        </p:txBody>
      </p:sp>
      <p:sp>
        <p:nvSpPr>
          <p:cNvPr id="436" name="Google Shape;436;p39"/>
          <p:cNvSpPr txBox="1"/>
          <p:nvPr>
            <p:ph idx="1" type="body"/>
          </p:nvPr>
        </p:nvSpPr>
        <p:spPr>
          <a:xfrm>
            <a:off x="1240750" y="778950"/>
            <a:ext cx="7659900" cy="4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"misoginia": {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"You are an AI assistant specialized in content analysis, trained to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"strictly classify texts based on the following framework. Your task is to analyze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"the provided text and determine if it contains misogyny.\n"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"Your answer must be exclusively the number 0 or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If the text fits into any of the misogyny categories listed below.\n"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If the text does not fit into any of the misogyny categories listed below.\n"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"Do not provide explanations, just the number.\n"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"Misogyny Analysis Framework\n"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Threats, plans to harm, and incitement:\n"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Threats of harm: Expressing a desire to physically, sexually, or emotionally harm a woman or group of women.\n"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Incitement and encouragement of harm: Encouraging or justifying others to harm a woman or group of women.\n"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Deprecation:\n"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Descriptive attacks: Making negative generalizations about the abilities, appearance, intellect, or character of women.\n"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Aggressive and emotional attacks: Expressing hatred or disgust against women, using gendered insults or unfounded accusations.\n"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"2.3 Dehumanizing attacks and explicit sexual objectification: Comparing women to animals/objects or reducing them to sexual objects.\n"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Animosity:\n"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Casual use of gendered slurs, profanities, and insults: Using pejorative terms for women casually, not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"as a direct attack.\n"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Immutable gender differences and gender stereotypes: Stating 'natural' differences between men and women to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"imply inferiority or limit roles (includes most sexist jokes).\n"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"3.3 Ambiguous gendered compliments: Praising women in a way that reinforces stereotypes of fragility, or that reduces their value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"to their attractiveness.\n"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"3.4 Condescending explanations or unwanted advice: Offering paternalistic advice to women on subjects they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"master ('mansplaining').\n"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Prejudiced Discussion:\n"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Support for the mistreatment of individual women: Justifying, denying, or downplaying the mistreatment of a woman.\n"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Support for systemic discrimination against women as a group: Justifying, denying, or downplaying discrimination against 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"women as a group.\n"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"Analyze the text below and return only 0 or 1.\n"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"Output format: 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"Is Mysogyny: &lt;0 or 1&gt;\n\n"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"Message:\n{message_text}"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"results_misogyny"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0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7 - Zero Shot com exemplos</a:t>
            </a:r>
            <a:endParaRPr/>
          </a:p>
        </p:txBody>
      </p:sp>
      <p:sp>
        <p:nvSpPr>
          <p:cNvPr id="442" name="Google Shape;442;p40"/>
          <p:cNvSpPr txBox="1"/>
          <p:nvPr>
            <p:ph idx="1" type="body"/>
          </p:nvPr>
        </p:nvSpPr>
        <p:spPr>
          <a:xfrm>
            <a:off x="376575" y="1335675"/>
            <a:ext cx="40536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"toxicidade": {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abaixo é tóxico?\n"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é tóxico.\n"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é tóxico.\n"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"Leve em consideração os exemplos a seguir: 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1: 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‘@ tá vendo que relato padrinho, que essas pilantras são capazes de aprontar, quem não ouvir seus conselhos vai pra sarjeta, enquanto a pilantras vai tá sentando em várias mandiocas’.\n"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tóxico. Output correto: ‘1’\n"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2: 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‘Venha logo asteroide e acaba com essa humanidade doentia e nojenta. Tudo por grana e fama!’.\n"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tóxico. Output correto: ‘1’\n"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3: 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‘UM mentiroso isso sim porque o ferimento no braço da Ana, todo mundo que assistiu o Programa apresentado pela Ana na Record viu muito bem o braço dela FERIDOA’.\n"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tóxico. Output correto: ‘1’\n"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4: 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‘Porque sera que nao me assusto com isso nos dias de hoje 😮’.\n"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tóxico. Output correto: ‘0’\n"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5: 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‘A história da chave e do cadeado’.\n"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tóxico. Output correto: ‘0’\n"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"É tóxico: &lt;0 ou 1&gt;\n\n"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750"/>
          </a:p>
        </p:txBody>
      </p:sp>
      <p:sp>
        <p:nvSpPr>
          <p:cNvPr id="443" name="Google Shape;443;p40"/>
          <p:cNvSpPr txBox="1"/>
          <p:nvPr>
            <p:ph idx="1" type="body"/>
          </p:nvPr>
        </p:nvSpPr>
        <p:spPr>
          <a:xfrm>
            <a:off x="4530775" y="1302425"/>
            <a:ext cx="38997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"misoginia": {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abaixo é misógino?\n"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é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é misógino.\n"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"Leve em consideração os exemplos a seguir: 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1: 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‘@ tá vendo que relato padrinho, que essas pilantras são capazes de aprontar, quem não ouvir seus conselhos vai pra sarjeta, enquanto a pilantras vai tá sentando em várias mandiocas’.\n"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misógino. Output correto: ‘1’\n"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2: 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‘É pior que a maioria delas se orgulham do passado delas. Ainda bem que o cara descobriu se não estaria condenado a viver em um inferno pelo resto da vida.Esse rapaz teve foi um livramento dos grandes e com certeza deve ter dado testemunho a outros. O futuro de uma pessoa ser bem sucedida na vida é ter um bom currículo e bom histórico no passado para que o futuro será excelente e próspero na vida.’.\n"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misógino. Output correto: ‘1’\n"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3: 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‘sempre é assim quando é pego começa chorar kkkkkk, e ainda culpa os homens é brincadeira absurdo’.\n"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misógino. Output correto: ‘1’\n"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4: 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‘Venha logo asteroide e acaba com essa humanidade doentia e nojenta. Tudo por grana e fama!’.\n"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misógino. Output correto: ‘0’\n"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5: 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‘UM mentiroso isso sim porque o ferimento no braço da Ana, todo mundo que assistiu o Programa apresentado pela Ana na Record viu muito bem o braço dela FERIDOA’.\n"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misógino. Output correto: ‘0’\n"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escreva nada além de 0 ou 1."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"É misógino: &lt;0 ou 1&gt;\n\n"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8 - Conceituação com exemplos</a:t>
            </a:r>
            <a:endParaRPr/>
          </a:p>
        </p:txBody>
      </p:sp>
      <p:sp>
        <p:nvSpPr>
          <p:cNvPr id="449" name="Google Shape;449;p41"/>
          <p:cNvSpPr txBox="1"/>
          <p:nvPr>
            <p:ph idx="1" type="body"/>
          </p:nvPr>
        </p:nvSpPr>
        <p:spPr>
          <a:xfrm>
            <a:off x="1240750" y="778950"/>
            <a:ext cx="7659900" cy="4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"toxicidade": {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moderador de conteúdo de IA. Sua tarefa é analisar o texto a 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assistente de IA especializado em análise de conteúdo, treinado para 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"classificar textos estritamente com base no framework a seguir. Sua tarefa é analisar 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fornecido e determinar se ele contém toxicidade.\n"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"Sua resposta deve ser exclusivamente o número 0 ou 1.\n"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Se o texto se encaixa em qualquer uma das categorias de toxicidade listadas abaixo.\n"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Se o texto não se encaixa em nenhuma das categorias de toxicidade listadas abaixo.\n"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forneça explicações, apenas o número.\n"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"Framework de Análise de Toxicidade\n"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Ódio e Assédio:\n"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Doxing: Divulgação de informações pessoais de um alvo para o público em geral, com o objetivo de prejudicá-lo.\n"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Ataque à identidade: Consiste em ataques severos a indivíduos ou grupos com base em sua afiliação a um grupo protegido ou vulnerável.\n"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"1.3 Falsa representação de identidade: É a disseminação de declarações que comunicam deturpações pejorativas, estereótipos e outras generalizações insultuosas sobre populações protegidas ou vulneráveis.\n"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"1.4 Insulto: Ataque pessoal direcionado, como xingamentos, comentários negativos, depreciativos e inflamatórios sobre o indivíduo.\n"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"1.5 Agressão Sexual: Inclui avanços sexuais indesejados, sexualização indesejável e compartilhamento não consensual de conteúdo sexual, entre outras formas de conversas sexuais não solicitadas.\n"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"1.6 Ameaça de Violência: Refere-se a conteúdo que expressa o desejo de matar ou infligir dano físico, celebra atos violentos ou incita outros a cometerem violência.\n"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Dano autoinfligido:\n"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Promoção de transtorno alimentar: Abrange conteúdo que promove transtornos alimentares como escolhas de estilo de vida legítimas ou glorifica corpos excessivamente magros.\n"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Autolesão: Ideação de se machucar fisicamente de propósito para lidar com o sofrimento emocional, incluindo também a ideação suicida.\n"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Dano ideológico:\n"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Extremismo, terrorismo e crime organizado: Inclui conteúdo relacionado ao recrutamento, elogio ou assistência a grupos extremistas, terroristas ou de crime organizado.\n"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Desinformação: É a informação falsa ou enganosa, que pode ser disseminada com ou sem a intenção deliberada de prejudicar.\n"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Exploração:\n"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Serviços sexuais adultos: Refere-se à promoção ou solicitação de serviços sexuais ilegais que exploram participantes frequentemente vulneráveis.\n"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Material de abuso sexual infantil: É definido como conteúdo que envolve o abuso e a exploração sexual de qualquer pessoa menor de dezoito anos.\n"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"4.3 Golpes: São tentativas de enganar uma pessoa para que ela forneça fundos ou informações sensíveis usando técnicas fraudulentas ou invasivas.\n"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"Leve em consideração os exemplos a seguir: 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1: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‘@ tá vendo que relato padrinho, que essas pilantras são capazes de aprontar, quem não ouvir seus conselhos vai pra sarjeta, enquanto a pilantras vai tá sentando em várias mandiocas’.\n"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tóxico. Output correto: ‘1’\n"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2: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‘Venha logo asteroide e acaba com essa humanidade doentia e nojenta. Tudo por grana e fama!’.\n"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tóxico. Output correto: ‘1’\n"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3: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‘UM mentiroso isso sim porque o ferimento no braço da Ana, todo mundo que assistiu o Programa apresentado pela Ana na Record viu muito bem o braço dela FERIDOA’.\n"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tóxico. Output correto: ‘1’\n"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4: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‘Porque sera que nao me assusto com isso nos dias de hoje 😮’.\n"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tóxico. Output correto: ‘0’\n"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5: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‘A história da chave e do cadeado’.\n"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tóxico. Output correto: ‘0’\n"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"Analise o texto abaixo e retorne apenas 0 ou 1.\n"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"Tóxico: &lt;0 ou 1&gt;\n\n"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"results_toxic"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},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2"/>
          <p:cNvSpPr txBox="1"/>
          <p:nvPr>
            <p:ph type="title"/>
          </p:nvPr>
        </p:nvSpPr>
        <p:spPr>
          <a:xfrm>
            <a:off x="1370275" y="174800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8 - Conceituação com exemplos</a:t>
            </a:r>
            <a:endParaRPr/>
          </a:p>
        </p:txBody>
      </p:sp>
      <p:sp>
        <p:nvSpPr>
          <p:cNvPr id="455" name="Google Shape;455;p42"/>
          <p:cNvSpPr txBox="1"/>
          <p:nvPr>
            <p:ph idx="1" type="body"/>
          </p:nvPr>
        </p:nvSpPr>
        <p:spPr>
          <a:xfrm>
            <a:off x="1240750" y="778950"/>
            <a:ext cx="7659900" cy="4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"misoginia": {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"system": (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"Você é um assistente de IA especializado em análise de conteúdo, treinado para " 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"classificar textos estritamente com base no framework a seguir. Sua tarefa é analisar " 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"o texto fornecido e determinar se ele contém misoginia.\n"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"Sua resposta deve ser exclusivamente o número 0 ou 1.\n"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"1: Se o texto se encaixa em qualquer uma das categorias de misoginia listadas abaixo.\n"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"0: Se o texto não se encaixa em nenhuma das categorias de misoginia listadas abaixo.\n"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"Não forneça explicações, apenas o número.\n"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"Framework de Análise de Misoginia\n"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 Ameaças, planos para prejudicar e incitamento:\n"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"1.1 Ameaças de danos: Expressar desejo de prejudicar física, sexual ou emocionalmente uma mulher ou grupo de mulheres.\n"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"1.2 Incitamento e incentivo ao dano: Encorajar ou justificar que outros prejudiquem uma mulher ou grupo de mulheres.\n"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 Depreciação:\n"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"2.1 Ataques descritivos: Fazer generalizações negativas sobre as habilidades, aparência, intelecto ou caráter das mulheres.\n"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"2.2 Ataques agressivos e emotivos: Expressar ódio ou nojo contra as mulheres, usando insultos de gênero ou acusações infundadas.\n"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"2.3 Ataques desumanizantes e objetificação sexual explícita: Comparar mulheres a animais/objetos ou reduzi-las a objetos sexuais.\n"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 Animosidade:\n"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"3.1 Uso casual de gírias de gênero, profanidades e insultos: Usar termos pejorativos para mulheres de forma casual, não " 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"como um ataque direto.\n"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"3.2 Diferenças imutáveis de gênero e estereótipos de gênero: Afirmar diferenças 'naturais' entre homens e mulheres para 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"implicar inferioridade ou limitar papéis (inclui a maioria das piadas sexistas).\n"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"3.3 Elogios de gênero ambíguos: Elogiar mulheres de forma que reforce estereótipos de fragilidade, ou que reduza seu valor 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"à sua atratividade.\n"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"3.4 Explicações condescendentes ou conselhos indesejados: Oferecer conselhos paternalistas a mulheres sobre assuntos que 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"elas dominam ('mansplaining').\n"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 Discussão Preconceituosa:\n"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"4.1 Apoio ao mau tratamento de mulheres individuais: Justificar, negar ou subestimar o mau tratamento de uma mulher.\n"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"4.2 Apoio à discriminação sistêmica contra mulheres como grupo: Justificar, negar ou subestimar a discriminação contra 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"as mulheres como um grupo.\n"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"Leve em consideração os exemplos a seguir: 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1: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‘@ tá vendo que relato padrinho, que essas pilantras são capazes de aprontar, quem não ouvir seus conselhos vai pra sarjeta, enquanto a pilantras vai tá sentando em várias mandiocas’.\n"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misógino. Output correto: ‘1’\n"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2: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‘É pior que a maioria delas se orgulham do passado delas. Ainda bem que o cara descobriu se não estaria condenado a viver em um inferno pelo resto da vida.Esse rapaz teve foi um livramento dos grandes e com certeza deve ter dado testemunho a outros. O futuro de uma pessoa ser bem sucedida na vida é ter um bom currículo e bom histórico no passado para que o futuro será excelente e próspero na vida.’.\n"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misógino. Output correto: ‘1’\n"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3: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‘sempre é assim quando é pego começa chorar kkkkkk, e ainda culpa os homens é brincadeira absurdo’.\n"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é misógino. Output correto: ‘1’\n"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4: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‘Venha logo asteroide e acaba com essa humanidade doentia e nojenta. Tudo por grana e fama!’.\n"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misógino. Output correto: ‘0’\n"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"Exemplo 5: 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"Texto de entrada: ‘UM mentiroso isso sim porque o ferimento no braço da Ana, todo mundo que assistiu o Programa apresentado pela Ana na Record viu muito bem o braço dela FERIDOA’.\n"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"O texto não é misógino. Output correto: ‘0’\n"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"Analise o texto abaixo e retorne apenas 0 ou 1.\n"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"user": (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"Formato do output: 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"Misógino: &lt;0 ou 1&gt;\n\n"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"Mensagem:\n{message_text}"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),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"output_prefix": "results_mysogyny"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1 - Zero Shot (classifique)</a:t>
            </a:r>
            <a:endParaRPr/>
          </a:p>
        </p:txBody>
      </p:sp>
      <p:pic>
        <p:nvPicPr>
          <p:cNvPr id="466" name="Google Shape;46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9598" y="1336185"/>
            <a:ext cx="4623664" cy="35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1 - Matriz de Confusão</a:t>
            </a:r>
            <a:endParaRPr/>
          </a:p>
        </p:txBody>
      </p:sp>
      <p:pic>
        <p:nvPicPr>
          <p:cNvPr id="472" name="Google Shape;472;p4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50" y="1671625"/>
            <a:ext cx="47449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5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700" y="1750275"/>
            <a:ext cx="3941900" cy="2735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6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2 - Zero Shot (</a:t>
            </a:r>
            <a:r>
              <a:rPr lang="pt-BR"/>
              <a:t>é?</a:t>
            </a:r>
            <a:r>
              <a:rPr lang="pt-BR"/>
              <a:t>) em Inglês</a:t>
            </a:r>
            <a:endParaRPr/>
          </a:p>
        </p:txBody>
      </p:sp>
      <p:pic>
        <p:nvPicPr>
          <p:cNvPr id="479" name="Google Shape;4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2075" y="1323384"/>
            <a:ext cx="4659857" cy="35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2 - Matriz de Confusão</a:t>
            </a:r>
            <a:endParaRPr/>
          </a:p>
        </p:txBody>
      </p:sp>
      <p:pic>
        <p:nvPicPr>
          <p:cNvPr id="485" name="Google Shape;485;p4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4670112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4912" y="1750275"/>
            <a:ext cx="4016688" cy="278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8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3 - Conceituação simples</a:t>
            </a:r>
            <a:endParaRPr/>
          </a:p>
        </p:txBody>
      </p:sp>
      <p:pic>
        <p:nvPicPr>
          <p:cNvPr id="492" name="Google Shape;49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263" y="1368759"/>
            <a:ext cx="4529477" cy="35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3 - Matriz de Confusão</a:t>
            </a:r>
            <a:endParaRPr/>
          </a:p>
        </p:txBody>
      </p:sp>
      <p:pic>
        <p:nvPicPr>
          <p:cNvPr id="498" name="Google Shape;498;p4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47449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9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700" y="1750275"/>
            <a:ext cx="3941900" cy="2735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0"/>
          <p:cNvSpPr txBox="1"/>
          <p:nvPr>
            <p:ph type="title"/>
          </p:nvPr>
        </p:nvSpPr>
        <p:spPr>
          <a:xfrm>
            <a:off x="1295475" y="7647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Conceituação em tópicos</a:t>
            </a:r>
            <a:endParaRPr/>
          </a:p>
        </p:txBody>
      </p:sp>
      <p:pic>
        <p:nvPicPr>
          <p:cNvPr id="505" name="Google Shape;5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266" y="1418775"/>
            <a:ext cx="4384689" cy="34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Matriz de Confusão</a:t>
            </a:r>
            <a:endParaRPr/>
          </a:p>
        </p:txBody>
      </p:sp>
      <p:pic>
        <p:nvPicPr>
          <p:cNvPr id="511" name="Google Shape;511;p5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47449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1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700" y="1750275"/>
            <a:ext cx="3941900" cy="2735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 txBox="1"/>
          <p:nvPr>
            <p:ph type="title"/>
          </p:nvPr>
        </p:nvSpPr>
        <p:spPr>
          <a:xfrm>
            <a:off x="1295475" y="7647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5 - Zero Shot (</a:t>
            </a:r>
            <a:r>
              <a:rPr lang="pt-BR"/>
              <a:t>é?</a:t>
            </a:r>
            <a:r>
              <a:rPr lang="pt-BR"/>
              <a:t>)</a:t>
            </a:r>
            <a:endParaRPr/>
          </a:p>
        </p:txBody>
      </p:sp>
      <p:pic>
        <p:nvPicPr>
          <p:cNvPr id="518" name="Google Shape;51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063" y="1498002"/>
            <a:ext cx="4379332" cy="34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5 - Matriz de Confusão</a:t>
            </a:r>
            <a:endParaRPr/>
          </a:p>
        </p:txBody>
      </p:sp>
      <p:pic>
        <p:nvPicPr>
          <p:cNvPr id="524" name="Google Shape;524;p5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47449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3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700" y="1750275"/>
            <a:ext cx="3941900" cy="2692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4"/>
          <p:cNvSpPr txBox="1"/>
          <p:nvPr>
            <p:ph type="title"/>
          </p:nvPr>
        </p:nvSpPr>
        <p:spPr>
          <a:xfrm>
            <a:off x="1295475" y="7647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6 - Conceituação em tópicos em ingl</a:t>
            </a:r>
            <a:r>
              <a:rPr lang="pt-BR"/>
              <a:t>ês</a:t>
            </a:r>
            <a:endParaRPr/>
          </a:p>
        </p:txBody>
      </p:sp>
      <p:pic>
        <p:nvPicPr>
          <p:cNvPr id="531" name="Google Shape;5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025" y="1418775"/>
            <a:ext cx="4463406" cy="34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6 - Matriz de Confusão</a:t>
            </a:r>
            <a:endParaRPr/>
          </a:p>
        </p:txBody>
      </p:sp>
      <p:pic>
        <p:nvPicPr>
          <p:cNvPr id="537" name="Google Shape;537;p5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47449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55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700" y="1750275"/>
            <a:ext cx="3941900" cy="2735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6"/>
          <p:cNvSpPr txBox="1"/>
          <p:nvPr>
            <p:ph type="title"/>
          </p:nvPr>
        </p:nvSpPr>
        <p:spPr>
          <a:xfrm>
            <a:off x="1295475" y="7647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7 - Zero Shot (é?) com exemplos</a:t>
            </a:r>
            <a:endParaRPr/>
          </a:p>
        </p:txBody>
      </p:sp>
      <p:pic>
        <p:nvPicPr>
          <p:cNvPr id="544" name="Google Shape;54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325" y="1481371"/>
            <a:ext cx="4248800" cy="34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7 - Matriz de Confusão</a:t>
            </a:r>
            <a:endParaRPr/>
          </a:p>
        </p:txBody>
      </p:sp>
      <p:pic>
        <p:nvPicPr>
          <p:cNvPr id="550" name="Google Shape;550;p5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47449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700" y="1750275"/>
            <a:ext cx="3941900" cy="2692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1295475" y="764775"/>
            <a:ext cx="70305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8 - Conceituação em tópicos com exemplos</a:t>
            </a:r>
            <a:endParaRPr/>
          </a:p>
        </p:txBody>
      </p:sp>
      <p:pic>
        <p:nvPicPr>
          <p:cNvPr id="557" name="Google Shape;55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700" y="1792841"/>
            <a:ext cx="3896040" cy="31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8 - Matriz de Confusão</a:t>
            </a:r>
            <a:endParaRPr/>
          </a:p>
        </p:txBody>
      </p:sp>
      <p:pic>
        <p:nvPicPr>
          <p:cNvPr id="563" name="Google Shape;563;p5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47449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9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700" y="1750275"/>
            <a:ext cx="3941900" cy="2735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0"/>
          <p:cNvSpPr txBox="1"/>
          <p:nvPr>
            <p:ph type="title"/>
          </p:nvPr>
        </p:nvSpPr>
        <p:spPr>
          <a:xfrm>
            <a:off x="1307170" y="573327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de todos os testes</a:t>
            </a:r>
            <a:endParaRPr/>
          </a:p>
        </p:txBody>
      </p:sp>
      <p:pic>
        <p:nvPicPr>
          <p:cNvPr id="570" name="Google Shape;57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5027"/>
            <a:ext cx="8839200" cy="259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 txBox="1"/>
          <p:nvPr>
            <p:ph type="title"/>
          </p:nvPr>
        </p:nvSpPr>
        <p:spPr>
          <a:xfrm>
            <a:off x="1307170" y="573327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por classe - F1</a:t>
            </a:r>
            <a:endParaRPr/>
          </a:p>
        </p:txBody>
      </p:sp>
      <p:pic>
        <p:nvPicPr>
          <p:cNvPr id="576" name="Google Shape;57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5027"/>
            <a:ext cx="8839199" cy="296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"/>
          <p:cNvSpPr txBox="1"/>
          <p:nvPr>
            <p:ph type="title"/>
          </p:nvPr>
        </p:nvSpPr>
        <p:spPr>
          <a:xfrm>
            <a:off x="1307170" y="573327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por classe - Precision</a:t>
            </a:r>
            <a:endParaRPr/>
          </a:p>
        </p:txBody>
      </p:sp>
      <p:pic>
        <p:nvPicPr>
          <p:cNvPr id="582" name="Google Shape;58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5027"/>
            <a:ext cx="8839204" cy="2263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3"/>
          <p:cNvSpPr txBox="1"/>
          <p:nvPr>
            <p:ph type="title"/>
          </p:nvPr>
        </p:nvSpPr>
        <p:spPr>
          <a:xfrm>
            <a:off x="1307170" y="573327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por classe - Recall</a:t>
            </a:r>
            <a:endParaRPr/>
          </a:p>
        </p:txBody>
      </p:sp>
      <p:pic>
        <p:nvPicPr>
          <p:cNvPr id="588" name="Google Shape;58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5027"/>
            <a:ext cx="8839202" cy="2545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por classe - Misoginia</a:t>
            </a:r>
            <a:endParaRPr/>
          </a:p>
        </p:txBody>
      </p:sp>
      <p:pic>
        <p:nvPicPr>
          <p:cNvPr id="594" name="Google Shape;594;p64"/>
          <p:cNvPicPr preferRelativeResize="0"/>
          <p:nvPr/>
        </p:nvPicPr>
        <p:blipFill rotWithShape="1">
          <a:blip r:embed="rId3">
            <a:alphaModFix/>
          </a:blip>
          <a:srcRect b="0" l="5508" r="0" t="0"/>
          <a:stretch/>
        </p:blipFill>
        <p:spPr>
          <a:xfrm>
            <a:off x="395950" y="1907550"/>
            <a:ext cx="8352099" cy="19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por classe - Toxicidade</a:t>
            </a:r>
            <a:endParaRPr/>
          </a:p>
        </p:txBody>
      </p:sp>
      <p:pic>
        <p:nvPicPr>
          <p:cNvPr id="600" name="Google Shape;600;p65"/>
          <p:cNvPicPr preferRelativeResize="0"/>
          <p:nvPr/>
        </p:nvPicPr>
        <p:blipFill rotWithShape="1">
          <a:blip r:embed="rId3">
            <a:alphaModFix/>
          </a:blip>
          <a:srcRect b="0" l="5042" r="0" t="0"/>
          <a:stretch/>
        </p:blipFill>
        <p:spPr>
          <a:xfrm>
            <a:off x="375063" y="1860375"/>
            <a:ext cx="8393875" cy="18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6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Sugest</a:t>
            </a:r>
            <a:r>
              <a:rPr lang="pt-BR"/>
              <a:t>ões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7"/>
          <p:cNvSpPr txBox="1"/>
          <p:nvPr>
            <p:ph type="title"/>
          </p:nvPr>
        </p:nvSpPr>
        <p:spPr>
          <a:xfrm>
            <a:off x="1378575" y="73152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Nota</a:t>
            </a:r>
            <a:endParaRPr/>
          </a:p>
        </p:txBody>
      </p:sp>
      <p:sp>
        <p:nvSpPr>
          <p:cNvPr id="611" name="Google Shape;611;p67"/>
          <p:cNvSpPr txBox="1"/>
          <p:nvPr>
            <p:ph idx="1" type="body"/>
          </p:nvPr>
        </p:nvSpPr>
        <p:spPr>
          <a:xfrm>
            <a:off x="1240750" y="1880725"/>
            <a:ext cx="7659900" cy="31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Prompts mais interessantes em ordem que faz sentido: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5 - Zero Shot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2 - Zero Shot em Inglês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7 - Zero Shot com exemplos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4 - Conceituação em tópicos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6 - Conceituação em tópicos em inglês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8 - Conceituação em tópicos com exemplos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RoBERTa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9"/>
          <p:cNvSpPr txBox="1"/>
          <p:nvPr>
            <p:ph type="title"/>
          </p:nvPr>
        </p:nvSpPr>
        <p:spPr>
          <a:xfrm>
            <a:off x="1303800" y="598575"/>
            <a:ext cx="70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Atualizaç</a:t>
            </a:r>
            <a:r>
              <a:rPr lang="pt-BR"/>
              <a:t>ões</a:t>
            </a:r>
            <a:endParaRPr/>
          </a:p>
        </p:txBody>
      </p:sp>
      <p:sp>
        <p:nvSpPr>
          <p:cNvPr id="622" name="Google Shape;622;p69"/>
          <p:cNvSpPr txBox="1"/>
          <p:nvPr>
            <p:ph idx="1" type="body"/>
          </p:nvPr>
        </p:nvSpPr>
        <p:spPr>
          <a:xfrm>
            <a:off x="1303800" y="1334475"/>
            <a:ext cx="6439200" cy="32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Estudando sobre embeddings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